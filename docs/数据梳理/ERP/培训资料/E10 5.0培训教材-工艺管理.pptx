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g"/>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Masters/slideMaster2.xml" ContentType="application/vnd.openxmlformats-officedocument.presentationml.slideMaster+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Masters/slideMaster3.xml" ContentType="application/vnd.openxmlformats-officedocument.presentationml.slideMaster+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Masters/slideMaster4.xml" ContentType="application/vnd.openxmlformats-officedocument.presentationml.slideMaster+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Masters/slideMaster5.xml" ContentType="application/vnd.openxmlformats-officedocument.presentationml.slideMaster+xml"/>
  <Override PartName="/ppt/theme/theme6.xml" ContentType="application/vnd.openxmlformats-officedocument.theme+xml"/>
  <Override PartName="/ppt/notesMasters/notesMaster1.xml" ContentType="application/vnd.openxmlformats-officedocument.presentationml.notesMaster+xml"/>
  <Override PartName="/ppt/theme/theme7.xml" ContentType="application/vnd.openxmlformats-officedocument.theme+xml"/>
  <Override PartName="/ppt/handoutMasters/handoutMaster1.xml" ContentType="application/vnd.openxmlformats-officedocument.presentationml.handout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49.xml" ContentType="application/vnd.openxmlformats-officedocument.presentationml.notes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notesSlides/notesSlide56.xml" ContentType="application/vnd.openxmlformats-officedocument.presentationml.notesSlide+xml"/>
  <Override PartName="/ppt/slides/slide56.xml" ContentType="application/vnd.openxmlformats-officedocument.presentationml.slide+xml"/>
  <Override PartName="/ppt/notesSlides/notesSlide57.xml" ContentType="application/vnd.openxmlformats-officedocument.presentationml.notesSlide+xml"/>
  <Override PartName="/ppt/slides/slide57.xml" ContentType="application/vnd.openxmlformats-officedocument.presentationml.slide+xml"/>
  <Override PartName="/ppt/notesSlides/notesSlide58.xml" ContentType="application/vnd.openxmlformats-officedocument.presentationml.notes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notesSlides/notesSlide60.xml" ContentType="application/vnd.openxmlformats-officedocument.presentationml.notesSlide+xml"/>
  <Override PartName="/ppt/slides/slide60.xml" ContentType="application/vnd.openxmlformats-officedocument.presentationml.slide+xml"/>
  <Override PartName="/ppt/notesSlides/notesSlide61.xml" ContentType="application/vnd.openxmlformats-officedocument.presentationml.notesSlide+xml"/>
  <Override PartName="/ppt/slides/slide61.xml" ContentType="application/vnd.openxmlformats-officedocument.presentationml.slide+xml"/>
  <Override PartName="/ppt/notesSlides/notesSlide62.xml" ContentType="application/vnd.openxmlformats-officedocument.presentationml.notesSlide+xml"/>
  <Override PartName="/ppt/slides/slide62.xml" ContentType="application/vnd.openxmlformats-officedocument.presentationml.slide+xml"/>
  <Override PartName="/ppt/notesSlides/notesSlide63.xml" ContentType="application/vnd.openxmlformats-officedocument.presentationml.notesSlide+xml"/>
  <Override PartName="/ppt/slides/slide63.xml" ContentType="application/vnd.openxmlformats-officedocument.presentationml.slide+xml"/>
  <Override PartName="/ppt/notesSlides/notesSlide64.xml" ContentType="application/vnd.openxmlformats-officedocument.presentationml.notesSlide+xml"/>
  <Override PartName="/ppt/slides/slide64.xml" ContentType="application/vnd.openxmlformats-officedocument.presentationml.slide+xml"/>
  <Override PartName="/ppt/notesSlides/notesSlide65.xml" ContentType="application/vnd.openxmlformats-officedocument.presentationml.notesSlide+xml"/>
  <Override PartName="/ppt/slides/slide65.xml" ContentType="application/vnd.openxmlformats-officedocument.presentationml.slide+xml"/>
  <Override PartName="/ppt/notesSlides/notesSlide66.xml" ContentType="application/vnd.openxmlformats-officedocument.presentationml.notesSlide+xml"/>
  <Override PartName="/ppt/slides/slide66.xml" ContentType="application/vnd.openxmlformats-officedocument.presentationml.slide+xml"/>
  <Override PartName="/ppt/notesSlides/notesSlide67.xml" ContentType="application/vnd.openxmlformats-officedocument.presentationml.notesSlide+xml"/>
  <Override PartName="/ppt/slides/slide67.xml" ContentType="application/vnd.openxmlformats-officedocument.presentationml.slide+xml"/>
  <Override PartName="/ppt/notesSlides/notesSlide68.xml" ContentType="application/vnd.openxmlformats-officedocument.presentationml.notesSlide+xml"/>
  <Override PartName="/ppt/slides/slide68.xml" ContentType="application/vnd.openxmlformats-officedocument.presentationml.slide+xml"/>
  <Override PartName="/ppt/notesSlides/notesSlide69.xml" ContentType="application/vnd.openxmlformats-officedocument.presentationml.notesSlide+xml"/>
  <Override PartName="/ppt/slides/slide69.xml" ContentType="application/vnd.openxmlformats-officedocument.presentationml.slide+xml"/>
  <Override PartName="/ppt/notesSlides/notesSlide70.xml" ContentType="application/vnd.openxmlformats-officedocument.presentationml.notesSlide+xml"/>
  <Override PartName="/ppt/slides/slide70.xml" ContentType="application/vnd.openxmlformats-officedocument.presentationml.slide+xml"/>
  <Override PartName="/ppt/notesSlides/notesSlide71.xml" ContentType="application/vnd.openxmlformats-officedocument.presentationml.notesSlide+xml"/>
  <Override PartName="/ppt/slides/slide71.xml" ContentType="application/vnd.openxmlformats-officedocument.presentationml.slide+xml"/>
  <Override PartName="/ppt/notesSlides/notesSlide72.xml" ContentType="application/vnd.openxmlformats-officedocument.presentationml.notesSlide+xml"/>
  <Override PartName="/ppt/slides/slide72.xml" ContentType="application/vnd.openxmlformats-officedocument.presentationml.slide+xml"/>
  <Override PartName="/ppt/notesSlides/notesSlide73.xml" ContentType="application/vnd.openxmlformats-officedocument.presentationml.notesSlide+xml"/>
  <Override PartName="/ppt/slides/slide73.xml" ContentType="application/vnd.openxmlformats-officedocument.presentationml.slide+xml"/>
  <Override PartName="/ppt/notesSlides/notesSlide74.xml" ContentType="application/vnd.openxmlformats-officedocument.presentationml.notesSlide+xml"/>
  <Override PartName="/ppt/slides/slide74.xml" ContentType="application/vnd.openxmlformats-officedocument.presentationml.slide+xml"/>
  <Override PartName="/ppt/notesSlides/notesSlide75.xml" ContentType="application/vnd.openxmlformats-officedocument.presentationml.notesSlide+xml"/>
  <Override PartName="/ppt/slides/slide75.xml" ContentType="application/vnd.openxmlformats-officedocument.presentationml.slide+xml"/>
  <Override PartName="/ppt/notesSlides/notesSlide76.xml" ContentType="application/vnd.openxmlformats-officedocument.presentationml.notesSlide+xml"/>
  <Override PartName="/ppt/slides/slide76.xml" ContentType="application/vnd.openxmlformats-officedocument.presentationml.slide+xml"/>
  <Override PartName="/ppt/notesSlides/notesSlide77.xml" ContentType="application/vnd.openxmlformats-officedocument.presentationml.notesSlide+xml"/>
  <Override PartName="/ppt/slides/slide77.xml" ContentType="application/vnd.openxmlformats-officedocument.presentationml.slide+xml"/>
  <Override PartName="/ppt/notesSlides/notesSlide78.xml" ContentType="application/vnd.openxmlformats-officedocument.presentationml.notesSlide+xml"/>
  <Override PartName="/ppt/slides/slide78.xml" ContentType="application/vnd.openxmlformats-officedocument.presentationml.slide+xml"/>
  <Override PartName="/ppt/notesSlides/notesSlide79.xml" ContentType="application/vnd.openxmlformats-officedocument.presentationml.notesSlide+xml"/>
  <Override PartName="/ppt/slides/slide79.xml" ContentType="application/vnd.openxmlformats-officedocument.presentationml.slide+xml"/>
  <Override PartName="/ppt/notesSlides/notesSlide80.xml" ContentType="application/vnd.openxmlformats-officedocument.presentationml.notesSlide+xml"/>
  <Override PartName="/ppt/slides/slide80.xml" ContentType="application/vnd.openxmlformats-officedocument.presentationml.slide+xml"/>
  <Override PartName="/ppt/notesSlides/notesSlide81.xml" ContentType="application/vnd.openxmlformats-officedocument.presentationml.notesSlide+xml"/>
  <Override PartName="/ppt/slides/slide81.xml" ContentType="application/vnd.openxmlformats-officedocument.presentationml.slide+xml"/>
  <Override PartName="/ppt/notesSlides/notesSlide82.xml" ContentType="application/vnd.openxmlformats-officedocument.presentationml.notesSlide+xml"/>
  <Override PartName="/ppt/slides/slide82.xml" ContentType="application/vnd.openxmlformats-officedocument.presentationml.slide+xml"/>
  <Override PartName="/ppt/notesSlides/notesSlide83.xml" ContentType="application/vnd.openxmlformats-officedocument.presentationml.notesSlide+xml"/>
  <Override PartName="/ppt/slides/slide83.xml" ContentType="application/vnd.openxmlformats-officedocument.presentationml.slide+xml"/>
  <Override PartName="/ppt/notesSlides/notesSlide84.xml" ContentType="application/vnd.openxmlformats-officedocument.presentationml.notesSlide+xml"/>
  <Override PartName="/ppt/slides/slide84.xml" ContentType="application/vnd.openxmlformats-officedocument.presentationml.slide+xml"/>
  <Override PartName="/ppt/notesSlides/notesSlide85.xml" ContentType="application/vnd.openxmlformats-officedocument.presentationml.notesSlide+xml"/>
  <Override PartName="/ppt/slides/slide85.xml" ContentType="application/vnd.openxmlformats-officedocument.presentationml.slide+xml"/>
  <Override PartName="/ppt/notesSlides/notesSlide86.xml" ContentType="application/vnd.openxmlformats-officedocument.presentationml.notesSlide+xml"/>
  <Override PartName="/ppt/slides/slide86.xml" ContentType="application/vnd.openxmlformats-officedocument.presentationml.slide+xml"/>
  <Override PartName="/ppt/notesSlides/notesSlide87.xml" ContentType="application/vnd.openxmlformats-officedocument.presentationml.notesSlide+xml"/>
  <Override PartName="/ppt/slides/slide87.xml" ContentType="application/vnd.openxmlformats-officedocument.presentationml.slide+xml"/>
  <Override PartName="/ppt/notesSlides/notesSlide88.xml" ContentType="application/vnd.openxmlformats-officedocument.presentationml.notesSlide+xml"/>
  <Override PartName="/ppt/slides/slide88.xml" ContentType="application/vnd.openxmlformats-officedocument.presentationml.slide+xml"/>
  <Override PartName="/ppt/notesSlides/notesSlide89.xml" ContentType="application/vnd.openxmlformats-officedocument.presentationml.notesSlide+xml"/>
  <Override PartName="/ppt/slides/slide89.xml" ContentType="application/vnd.openxmlformats-officedocument.presentationml.slide+xml"/>
  <Override PartName="/ppt/notesSlides/notesSlide90.xml" ContentType="application/vnd.openxmlformats-officedocument.presentationml.notesSlide+xml"/>
  <Override PartName="/ppt/slides/slide90.xml" ContentType="application/vnd.openxmlformats-officedocument.presentationml.slide+xml"/>
  <Override PartName="/ppt/notesSlides/notesSlide91.xml" ContentType="application/vnd.openxmlformats-officedocument.presentationml.notesSlide+xml"/>
  <Override PartName="/ppt/slides/slide91.xml" ContentType="application/vnd.openxmlformats-officedocument.presentationml.slide+xml"/>
  <Override PartName="/ppt/notesSlides/notesSlide92.xml" ContentType="application/vnd.openxmlformats-officedocument.presentationml.notesSlide+xml"/>
  <Override PartName="/ppt/slides/slide92.xml" ContentType="application/vnd.openxmlformats-officedocument.presentationml.slide+xml"/>
  <Override PartName="/ppt/notesSlides/notesSlide93.xml" ContentType="application/vnd.openxmlformats-officedocument.presentationml.notesSlide+xml"/>
  <Override PartName="/ppt/slides/slide93.xml" ContentType="application/vnd.openxmlformats-officedocument.presentationml.slide+xml"/>
  <Override PartName="/ppt/notesSlides/notesSlide94.xml" ContentType="application/vnd.openxmlformats-officedocument.presentationml.notesSlide+xml"/>
  <Override PartName="/ppt/slides/slide94.xml" ContentType="application/vnd.openxmlformats-officedocument.presentationml.slide+xml"/>
  <Override PartName="/ppt/notesSlides/notesSlide95.xml" ContentType="application/vnd.openxmlformats-officedocument.presentationml.notesSlide+xml"/>
  <Override PartName="/ppt/slides/slide95.xml" ContentType="application/vnd.openxmlformats-officedocument.presentationml.slide+xml"/>
  <Override PartName="/ppt/notesSlides/notesSlide96.xml" ContentType="application/vnd.openxmlformats-officedocument.presentationml.notesSlide+xml"/>
  <Override PartName="/ppt/slides/slide96.xml" ContentType="application/vnd.openxmlformats-officedocument.presentationml.slide+xml"/>
  <Override PartName="/ppt/notesSlides/notesSlide97.xml" ContentType="application/vnd.openxmlformats-officedocument.presentationml.notesSlide+xml"/>
  <Override PartName="/ppt/slides/slide97.xml" ContentType="application/vnd.openxmlformats-officedocument.presentationml.slide+xml"/>
  <Override PartName="/ppt/notesSlides/notesSlide98.xml" ContentType="application/vnd.openxmlformats-officedocument.presentationml.notesSlide+xml"/>
  <Override PartName="/ppt/slides/slide98.xml" ContentType="application/vnd.openxmlformats-officedocument.presentationml.slide+xml"/>
  <Override PartName="/ppt/notesSlides/notesSlide99.xml" ContentType="application/vnd.openxmlformats-officedocument.presentationml.notesSlide+xml"/>
  <Override PartName="/ppt/slides/slide99.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59" r:id="rId1"/>
    <p:sldMasterId id="2147483671" r:id="rId2"/>
    <p:sldMasterId id="2147483683" r:id="rId3"/>
    <p:sldMasterId id="2147483695" r:id="rId4"/>
    <p:sldMasterId id="2147483707" r:id="rId5"/>
  </p:sldMasterIdLst>
  <p:notesMasterIdLst>
    <p:notesMasterId r:id="rId6"/>
  </p:notesMasterIdLst>
  <p:handoutMasterIdLst>
    <p:handoutMasterId r:id="rId7"/>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Lst>
  <p:sldSz cx="9144000" cy="6858000"/>
  <p:notesSz cx="6857895" cy="9143861"/>
  <p:custShowLst>
    <p:custShow name="概述+主流程" id="0">
      <p:sldLst/>
    </p:custShow>
    <p:custShow name="工艺路线" id="1">
      <p:sldLst/>
    </p:custShow>
  </p:custShowLst>
  <p:kinsoku lang="zh-CN" invalStChars="!%),.:;?]}¨·ˇˉ་―‖’”…‰∶、。〃々〉》」』】〕〗！＂＇％），．：；？］｀｜｝～￠" invalEndChars="([{·‘“〈《「『【〔〖（．［｛￡￥"/>
  <p:defaultTextStyle>
    <a:defPPr>
      <a:defRPr lang="zh-CN"/>
    </a:defPPr>
    <a:lvl1pPr marL="0" indent="0" algn="l" defTabSz="914400" rtl="0" eaLnBrk="1" fontAlgn="base" latinLnBrk="0" hangingPunct="1">
      <a:lnSpc>
        <a:spcPct val="100000"/>
      </a:lnSpc>
      <a:spcBef>
        <a:spcPts val="0"/>
      </a:spcBef>
      <a:spcAft>
        <a:spcPts val="0"/>
      </a:spcAft>
      <a:buNone/>
      <a:defRPr sz="1800" b="0" i="0" u="none" baseline="0">
        <a:solidFill>
          <a:schemeClr val="tx1"/>
        </a:solidFill>
        <a:latin typeface="Arial" pitchFamily="34" charset="0"/>
        <a:ea typeface="PMingLiU" pitchFamily="18" charset="-120"/>
        <a:cs typeface="Times New Roman" pitchFamily="0" charset="0"/>
      </a:defRPr>
    </a:lvl1pPr>
    <a:lvl2pPr marL="457200" indent="0" algn="l" defTabSz="914400" rtl="0" eaLnBrk="1" fontAlgn="base" latinLnBrk="0" hangingPunct="1">
      <a:lnSpc>
        <a:spcPct val="100000"/>
      </a:lnSpc>
      <a:spcBef>
        <a:spcPts val="0"/>
      </a:spcBef>
      <a:spcAft>
        <a:spcPts val="0"/>
      </a:spcAft>
      <a:buNone/>
      <a:defRPr sz="1800" b="0" i="0" u="none" baseline="0">
        <a:solidFill>
          <a:schemeClr val="tx1"/>
        </a:solidFill>
        <a:latin typeface="Arial" pitchFamily="34" charset="0"/>
        <a:ea typeface="PMingLiU" pitchFamily="18" charset="-120"/>
        <a:cs typeface="Times New Roman" pitchFamily="0" charset="0"/>
      </a:defRPr>
    </a:lvl2pPr>
    <a:lvl3pPr marL="914400" indent="0" algn="l" defTabSz="914400" rtl="0" eaLnBrk="1" fontAlgn="base" latinLnBrk="0" hangingPunct="1">
      <a:lnSpc>
        <a:spcPct val="100000"/>
      </a:lnSpc>
      <a:spcBef>
        <a:spcPts val="0"/>
      </a:spcBef>
      <a:spcAft>
        <a:spcPts val="0"/>
      </a:spcAft>
      <a:buNone/>
      <a:defRPr sz="1800" b="0" i="0" u="none" baseline="0">
        <a:solidFill>
          <a:schemeClr val="tx1"/>
        </a:solidFill>
        <a:latin typeface="Arial" pitchFamily="34" charset="0"/>
        <a:ea typeface="PMingLiU" pitchFamily="18" charset="-120"/>
        <a:cs typeface="Times New Roman" pitchFamily="0" charset="0"/>
      </a:defRPr>
    </a:lvl3pPr>
    <a:lvl4pPr marL="1371600" indent="0" algn="l" defTabSz="914400" rtl="0" eaLnBrk="1" fontAlgn="base" latinLnBrk="0" hangingPunct="1">
      <a:lnSpc>
        <a:spcPct val="100000"/>
      </a:lnSpc>
      <a:spcBef>
        <a:spcPts val="0"/>
      </a:spcBef>
      <a:spcAft>
        <a:spcPts val="0"/>
      </a:spcAft>
      <a:buNone/>
      <a:defRPr sz="1800" b="0" i="0" u="none" baseline="0">
        <a:solidFill>
          <a:schemeClr val="tx1"/>
        </a:solidFill>
        <a:latin typeface="Arial" pitchFamily="34" charset="0"/>
        <a:ea typeface="PMingLiU" pitchFamily="18" charset="-120"/>
        <a:cs typeface="Times New Roman" pitchFamily="0" charset="0"/>
      </a:defRPr>
    </a:lvl4pPr>
    <a:lvl5pPr marL="1828800" indent="0" algn="l" defTabSz="914400" rtl="0" eaLnBrk="1" fontAlgn="base" latinLnBrk="0" hangingPunct="1">
      <a:lnSpc>
        <a:spcPct val="100000"/>
      </a:lnSpc>
      <a:spcBef>
        <a:spcPts val="0"/>
      </a:spcBef>
      <a:spcAft>
        <a:spcPts val="0"/>
      </a:spcAft>
      <a:buNone/>
      <a:defRPr sz="1800" b="0" i="0" u="none" baseline="0">
        <a:solidFill>
          <a:schemeClr val="tx1"/>
        </a:solidFill>
        <a:latin typeface="Arial" pitchFamily="34" charset="0"/>
        <a:ea typeface="PMingLiU" pitchFamily="18" charset="-120"/>
        <a:cs typeface="Times New Roman" pitchFamily="0" charset="0"/>
      </a:defRPr>
    </a:lvl5pPr>
    <a:lvl6pPr marL="1828800" indent="0" algn="l" defTabSz="914400" rtl="0" eaLnBrk="1" fontAlgn="base" latinLnBrk="0" hangingPunct="1">
      <a:lnSpc>
        <a:spcPct val="100000"/>
      </a:lnSpc>
      <a:spcBef>
        <a:spcPts val="0"/>
      </a:spcBef>
      <a:spcAft>
        <a:spcPts val="0"/>
      </a:spcAft>
      <a:buNone/>
      <a:defRPr sz="1800" b="0" i="0" u="none" baseline="0">
        <a:solidFill>
          <a:schemeClr val="tx1"/>
        </a:solidFill>
        <a:latin typeface="Arial" pitchFamily="34" charset="0"/>
        <a:ea typeface="PMingLiU" pitchFamily="18" charset="-120"/>
        <a:cs typeface="Times New Roman" pitchFamily="0" charset="0"/>
      </a:defRPr>
    </a:lvl6pPr>
    <a:lvl7pPr marL="1828800" indent="0" algn="l" defTabSz="914400" rtl="0" eaLnBrk="1" fontAlgn="base" latinLnBrk="0" hangingPunct="1">
      <a:lnSpc>
        <a:spcPct val="100000"/>
      </a:lnSpc>
      <a:spcBef>
        <a:spcPts val="0"/>
      </a:spcBef>
      <a:spcAft>
        <a:spcPts val="0"/>
      </a:spcAft>
      <a:buNone/>
      <a:defRPr sz="1800" b="0" i="0" u="none" baseline="0">
        <a:solidFill>
          <a:schemeClr val="tx1"/>
        </a:solidFill>
        <a:latin typeface="Arial" pitchFamily="34" charset="0"/>
        <a:ea typeface="PMingLiU" pitchFamily="18" charset="-120"/>
        <a:cs typeface="Times New Roman" pitchFamily="0" charset="0"/>
      </a:defRPr>
    </a:lvl7pPr>
    <a:lvl8pPr marL="1828800" indent="0" algn="l" defTabSz="914400" rtl="0" eaLnBrk="1" fontAlgn="base" latinLnBrk="0" hangingPunct="1">
      <a:lnSpc>
        <a:spcPct val="100000"/>
      </a:lnSpc>
      <a:spcBef>
        <a:spcPts val="0"/>
      </a:spcBef>
      <a:spcAft>
        <a:spcPts val="0"/>
      </a:spcAft>
      <a:buNone/>
      <a:defRPr sz="1800" b="0" i="0" u="none" baseline="0">
        <a:solidFill>
          <a:schemeClr val="tx1"/>
        </a:solidFill>
        <a:latin typeface="Arial" pitchFamily="34" charset="0"/>
        <a:ea typeface="PMingLiU" pitchFamily="18" charset="-120"/>
        <a:cs typeface="Times New Roman" pitchFamily="0" charset="0"/>
      </a:defRPr>
    </a:lvl8pPr>
    <a:lvl9pPr marL="1828800" indent="0" algn="l" defTabSz="914400" rtl="0" eaLnBrk="1" fontAlgn="base" latinLnBrk="0" hangingPunct="1">
      <a:lnSpc>
        <a:spcPct val="100000"/>
      </a:lnSpc>
      <a:spcBef>
        <a:spcPts val="0"/>
      </a:spcBef>
      <a:spcAft>
        <a:spcPts val="0"/>
      </a:spcAft>
      <a:buNone/>
      <a:defRPr sz="1800" b="0" i="0" u="none" baseline="0">
        <a:solidFill>
          <a:schemeClr val="tx1"/>
        </a:solidFill>
        <a:latin typeface="Arial" pitchFamily="34" charset="0"/>
        <a:ea typeface="PMingLiU" pitchFamily="18" charset="-120"/>
        <a:cs typeface="Times New Roman"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354" autoAdjust="0"/>
    <p:restoredTop sz="91909" autoAdjust="0"/>
  </p:normalViewPr>
  <p:slideViewPr>
    <p:cSldViewPr>
      <p:cViewPr varScale="1">
        <p:scale>
          <a:sx n="63" d="100"/>
          <a:sy n="63" d="100"/>
        </p:scale>
        <p:origin x="0" y="0"/>
      </p:cViewPr>
      <p:guideLst>
        <p:guide orient="horz" pos="2160"/>
        <p:guide pos="2880"/>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0" y="0"/>
      </p:cViewPr>
      <p:guideLst>
        <p:guide orient="horz" pos="2880"/>
        <p:guide pos="2160"/>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theme" Target="theme/theme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presProps" Target="presProps.xml"/><Relationship Id="rId109" Type="http://schemas.openxmlformats.org/officeDocument/2006/relationships/viewProps" Target="viewProps.xml"/><Relationship Id="rId11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46" name="文本框"/>
          <p:cNvSpPr>
            <a:spLocks noGrp="1"/>
          </p:cNvSpPr>
          <p:nvPr>
            <p:ph type="hdr"/>
          </p:nvPr>
        </p:nvSpPr>
        <p:spPr>
          <a:xfrm rot="0">
            <a:off x="0" y="0"/>
            <a:ext cx="2971800" cy="457200"/>
          </a:xfrm>
          <a:prstGeom prst="rect"/>
          <a:noFill/>
          <a:ln w="9525" cmpd="sng" cap="flat">
            <a:noFill/>
            <a:prstDash val="solid"/>
            <a:miter/>
          </a:ln>
        </p:spPr>
        <p:txBody>
          <a:bodyPr vert="horz" wrap="square" lIns="91440" tIns="45720" rIns="91440" bIns="45720" anchor="t" anchorCtr="0">
            <a:prstTxWarp prst="textNoShape"/>
          </a:bodyPr>
          <a:lstStyle/>
          <a:p>
            <a:pPr marL="0" indent="0">
              <a:buNone/>
            </a:pPr>
            <a:endParaRPr lang="zh-CN" altLang="en-US" sz="1200">
              <a:latin typeface="Arial" pitchFamily="34" charset="0"/>
              <a:ea typeface="PMingLiU" pitchFamily="18" charset="-120"/>
              <a:cs typeface="新細明體" pitchFamily="18" charset="-120"/>
            </a:endParaRPr>
          </a:p>
        </p:txBody>
      </p:sp>
      <p:sp>
        <p:nvSpPr>
          <p:cNvPr id="547" name="文本框"/>
          <p:cNvSpPr>
            <a:spLocks noGrp="1"/>
          </p:cNvSpPr>
          <p:nvPr>
            <p:ph type="dt"/>
          </p:nvPr>
        </p:nvSpPr>
        <p:spPr>
          <a:xfrm rot="0">
            <a:off x="3884612" y="0"/>
            <a:ext cx="2971799" cy="457200"/>
          </a:xfrm>
          <a:prstGeom prst="rect"/>
          <a:noFill/>
          <a:ln w="9525" cmpd="sng" cap="flat">
            <a:noFill/>
            <a:prstDash val="solid"/>
            <a:miter/>
          </a:ln>
        </p:spPr>
        <p:txBody>
          <a:bodyPr vert="horz" wrap="square" lIns="91440" tIns="45720" rIns="91440" bIns="45720" anchor="t" anchorCtr="0">
            <a:prstTxWarp prst="textNoShape"/>
          </a:bodyPr>
          <a:lstStyle/>
          <a:p>
            <a:pPr marL="0" indent="0" algn="r">
              <a:buNone/>
            </a:pPr>
            <a:fld id="{CAD2D6BD-DE1B-4B5F-8B41-2702339687B9}" type="datetime5">
              <a:rPr lang="zh-CN" altLang="en-US" sz="1200">
                <a:latin typeface="Arial" pitchFamily="34" charset="0"/>
                <a:ea typeface="PMingLiU" pitchFamily="18" charset="-120"/>
                <a:cs typeface="新細明體" pitchFamily="18" charset="-120"/>
              </a:rPr>
              <a:t>2018/2/7</a:t>
            </a:fld>
            <a:endParaRPr lang="zh-CN" altLang="en-US" sz="1200">
              <a:latin typeface="Arial" pitchFamily="34" charset="0"/>
              <a:ea typeface="PMingLiU" pitchFamily="18" charset="-120"/>
              <a:cs typeface="新細明體" pitchFamily="18" charset="-120"/>
            </a:endParaRPr>
          </a:p>
        </p:txBody>
      </p:sp>
      <p:sp>
        <p:nvSpPr>
          <p:cNvPr id="548" name="文本框"/>
          <p:cNvSpPr>
            <a:spLocks noGrp="1"/>
          </p:cNvSpPr>
          <p:nvPr>
            <p:ph type="ftr"/>
          </p:nvPr>
        </p:nvSpPr>
        <p:spPr>
          <a:xfrm rot="0">
            <a:off x="0" y="8685213"/>
            <a:ext cx="2971800" cy="457200"/>
          </a:xfrm>
          <a:prstGeom prst="rect"/>
          <a:noFill/>
          <a:ln w="9525" cmpd="sng" cap="flat">
            <a:noFill/>
            <a:prstDash val="solid"/>
            <a:miter/>
          </a:ln>
        </p:spPr>
        <p:txBody>
          <a:bodyPr vert="horz" wrap="square" lIns="91440" tIns="45720" rIns="91440" bIns="45720" anchor="b" anchorCtr="0">
            <a:prstTxWarp prst="textNoShape"/>
          </a:bodyPr>
          <a:lstStyle/>
          <a:p>
            <a:pPr marL="0" indent="0">
              <a:buNone/>
            </a:pPr>
            <a:endParaRPr lang="zh-CN" altLang="en-US" sz="1200">
              <a:latin typeface="Arial" pitchFamily="34" charset="0"/>
              <a:ea typeface="PMingLiU" pitchFamily="18" charset="-120"/>
              <a:cs typeface="新細明體" pitchFamily="18" charset="-120"/>
            </a:endParaRPr>
          </a:p>
        </p:txBody>
      </p:sp>
      <p:sp>
        <p:nvSpPr>
          <p:cNvPr id="549"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r>
              <a:rPr lang="zh-CN" altLang="en-US" sz="1200">
                <a:latin typeface="Arial" pitchFamily="34" charset="0"/>
                <a:ea typeface="PMingLiU" pitchFamily="18" charset="-120"/>
                <a:cs typeface="新細明體" pitchFamily="18" charset="-120"/>
              </a:rPr>
              <a:t>&lt;#&gt;</a:t>
            </a:r>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6751989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40" name="文本框"/>
          <p:cNvSpPr>
            <a:spLocks noGrp="1"/>
          </p:cNvSpPr>
          <p:nvPr>
            <p:ph type="hdr"/>
          </p:nvPr>
        </p:nvSpPr>
        <p:spPr>
          <a:xfrm rot="0">
            <a:off x="0" y="0"/>
            <a:ext cx="2971800" cy="457200"/>
          </a:xfrm>
          <a:prstGeom prst="rect"/>
          <a:noFill/>
          <a:ln w="9525" cmpd="sng" cap="flat">
            <a:noFill/>
            <a:prstDash val="solid"/>
            <a:miter/>
          </a:ln>
        </p:spPr>
        <p:txBody>
          <a:bodyPr vert="horz" wrap="square" lIns="91440" tIns="45720" rIns="91440" bIns="45720" anchor="t" anchorCtr="0">
            <a:prstTxWarp prst="textNoShape"/>
          </a:bodyPr>
          <a:lstStyle/>
          <a:p>
            <a:pPr marL="0" indent="0">
              <a:buNone/>
            </a:pPr>
            <a:endParaRPr lang="zh-CN" altLang="en-US" sz="1200">
              <a:latin typeface="Arial" pitchFamily="34" charset="0"/>
              <a:ea typeface="PMingLiU" pitchFamily="18" charset="-120"/>
              <a:cs typeface="新細明體" pitchFamily="18" charset="-120"/>
            </a:endParaRPr>
          </a:p>
        </p:txBody>
      </p:sp>
      <p:sp>
        <p:nvSpPr>
          <p:cNvPr id="541" name="文本框"/>
          <p:cNvSpPr>
            <a:spLocks noGrp="1"/>
          </p:cNvSpPr>
          <p:nvPr>
            <p:ph type="dt"/>
          </p:nvPr>
        </p:nvSpPr>
        <p:spPr>
          <a:xfrm rot="0">
            <a:off x="3884612" y="0"/>
            <a:ext cx="2971799" cy="457200"/>
          </a:xfrm>
          <a:prstGeom prst="rect"/>
          <a:noFill/>
          <a:ln w="9525" cmpd="sng" cap="flat">
            <a:noFill/>
            <a:prstDash val="solid"/>
            <a:miter/>
          </a:ln>
        </p:spPr>
        <p:txBody>
          <a:bodyPr vert="horz" wrap="square" lIns="91440" tIns="45720" rIns="91440" bIns="45720" anchor="t" anchorCtr="0">
            <a:prstTxWarp prst="textNoShape"/>
          </a:bodyPr>
          <a:lstStyle/>
          <a:p>
            <a:pPr marL="0" indent="0" algn="r">
              <a:buNone/>
            </a:pPr>
            <a:fld id="{CAD2D6BD-DE1B-4B5F-8B41-2702339687B9}" type="datetime5">
              <a:rPr lang="zh-CN" altLang="en-US" sz="1200">
                <a:latin typeface="Arial" pitchFamily="34" charset="0"/>
                <a:ea typeface="PMingLiU" pitchFamily="18" charset="-120"/>
                <a:cs typeface="新細明體" pitchFamily="18" charset="-120"/>
              </a:rPr>
              <a:t>2018/2/7</a:t>
            </a:fld>
            <a:endParaRPr lang="zh-CN" altLang="en-US" sz="1200">
              <a:latin typeface="Arial" pitchFamily="34" charset="0"/>
              <a:ea typeface="PMingLiU" pitchFamily="18" charset="-120"/>
              <a:cs typeface="新細明體" pitchFamily="18" charset="-120"/>
            </a:endParaRPr>
          </a:p>
        </p:txBody>
      </p:sp>
      <p:sp>
        <p:nvSpPr>
          <p:cNvPr id="542" name="对象"/>
          <p:cNvSpPr>
            <a:spLocks noGrp="1" noChangeAspect="1"/>
          </p:cNvSpPr>
          <p:nvPr>
            <p:ph type="sldImg" idx="2"/>
          </p:nvPr>
        </p:nvSpPr>
        <p:spPr>
          <a:xfrm rot="0">
            <a:off x="1143000" y="685800"/>
            <a:ext cx="4572000" cy="3429000"/>
          </a:xfrm>
          <a:prstGeom prst="rect"/>
          <a:solidFill>
            <a:srgbClr val="FFFFFF"/>
          </a:solidFill>
          <a:ln w="12700" cmpd="sng" cap="flat">
            <a:solidFill>
              <a:srgbClr val="000000"/>
            </a:solidFill>
            <a:prstDash val="solid"/>
            <a:miter/>
          </a:ln>
        </p:spPr>
      </p:sp>
      <p:sp>
        <p:nvSpPr>
          <p:cNvPr id="543" name="文本框"/>
          <p:cNvSpPr>
            <a:spLocks noGrp="1"/>
          </p:cNvSpPr>
          <p:nvPr>
            <p:ph type="body" idx="3"/>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r>
              <a:rPr lang="zh-CN" altLang="en-US"/>
              <a:t>按一下以編輯母片文字樣式</a:t>
            </a:r>
            <a:endParaRPr lang="zh-CN" altLang="en-US"/>
          </a:p>
          <a:p>
            <a:pPr lvl="1"/>
            <a:r>
              <a:rPr lang="zh-CN" altLang="en-US"/>
              <a:t>第二層</a:t>
            </a:r>
            <a:endParaRPr lang="zh-CN" altLang="en-US"/>
          </a:p>
          <a:p>
            <a:pPr lvl="2"/>
            <a:r>
              <a:rPr lang="zh-CN" altLang="en-US"/>
              <a:t>第三層</a:t>
            </a:r>
            <a:endParaRPr lang="zh-CN" altLang="en-US"/>
          </a:p>
          <a:p>
            <a:pPr lvl="3"/>
            <a:r>
              <a:rPr lang="zh-CN" altLang="en-US"/>
              <a:t>第四層</a:t>
            </a:r>
            <a:endParaRPr lang="zh-CN" altLang="en-US"/>
          </a:p>
          <a:p>
            <a:pPr lvl="4"/>
            <a:r>
              <a:rPr lang="zh-CN" altLang="en-US"/>
              <a:t>第五層</a:t>
            </a:r>
            <a:endParaRPr lang="zh-CN" altLang="en-US"/>
          </a:p>
        </p:txBody>
      </p:sp>
      <p:sp>
        <p:nvSpPr>
          <p:cNvPr id="544" name="文本框"/>
          <p:cNvSpPr>
            <a:spLocks noGrp="1"/>
          </p:cNvSpPr>
          <p:nvPr>
            <p:ph type="ftr"/>
          </p:nvPr>
        </p:nvSpPr>
        <p:spPr>
          <a:xfrm rot="0">
            <a:off x="0" y="8685213"/>
            <a:ext cx="2971800" cy="457200"/>
          </a:xfrm>
          <a:prstGeom prst="rect"/>
          <a:noFill/>
          <a:ln w="9525" cmpd="sng" cap="flat">
            <a:noFill/>
            <a:prstDash val="solid"/>
            <a:miter/>
          </a:ln>
        </p:spPr>
        <p:txBody>
          <a:bodyPr vert="horz" wrap="square" lIns="91440" tIns="45720" rIns="91440" bIns="45720" anchor="b" anchorCtr="0">
            <a:prstTxWarp prst="textNoShape"/>
          </a:bodyPr>
          <a:lstStyle/>
          <a:p>
            <a:pPr marL="0" indent="0">
              <a:buNone/>
            </a:pPr>
            <a:endParaRPr lang="zh-CN" altLang="en-US" sz="1200">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&lt;#&gt;</a:t>
            </a:fld>
            <a:endParaRPr lang="zh-CN" altLang="en-US" sz="1200">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&lt;#&gt;</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50786612"/>
      </p:ext>
    </p:extLst>
  </p:cSld>
  <p:clrMap bg1="lt1" tx1="dk1" bg2="lt2" tx2="dk2" accent1="accent1" accent2="accent2" accent3="accent3" accent4="accent4" accent5="accent5" accent6="accent6" hlink="hlink" folHlink="folHlink"/>
  <p:notesStyle>
    <a:lvl1pPr marL="0" indent="0" algn="l" defTabSz="914400" rtl="0" eaLnBrk="0" fontAlgn="base" latinLnBrk="0" hangingPunct="0">
      <a:lnSpc>
        <a:spcPct val="100000"/>
      </a:lnSpc>
      <a:spcBef>
        <a:spcPct val="30000"/>
      </a:spcBef>
      <a:spcAft>
        <a:spcPts val="0"/>
      </a:spcAft>
      <a:buNone/>
      <a:defRPr sz="1200" b="0" i="0" u="none" baseline="0">
        <a:solidFill>
          <a:schemeClr val="tx1"/>
        </a:solidFill>
        <a:latin typeface="Calibri" pitchFamily="0" charset="0"/>
        <a:ea typeface="PMingLiU" pitchFamily="18" charset="-120"/>
        <a:cs typeface="新細明體" pitchFamily="18" charset="-120"/>
      </a:defRPr>
    </a:lvl1pPr>
    <a:lvl2pPr marL="457200" indent="0" algn="l" defTabSz="914400" rtl="0" eaLnBrk="0" fontAlgn="base" latinLnBrk="0" hangingPunct="0">
      <a:lnSpc>
        <a:spcPct val="100000"/>
      </a:lnSpc>
      <a:spcBef>
        <a:spcPct val="30000"/>
      </a:spcBef>
      <a:spcAft>
        <a:spcPts val="0"/>
      </a:spcAft>
      <a:buNone/>
      <a:defRPr sz="1200" b="0" i="0" u="none" baseline="0">
        <a:solidFill>
          <a:schemeClr val="tx1"/>
        </a:solidFill>
        <a:latin typeface="Calibri" pitchFamily="0" charset="0"/>
        <a:ea typeface="PMingLiU" pitchFamily="18" charset="-120"/>
        <a:cs typeface="新細明體" pitchFamily="18" charset="-120"/>
      </a:defRPr>
    </a:lvl2pPr>
    <a:lvl3pPr marL="914400" indent="0" algn="l" defTabSz="914400" rtl="0" eaLnBrk="0" fontAlgn="base" latinLnBrk="0" hangingPunct="0">
      <a:lnSpc>
        <a:spcPct val="100000"/>
      </a:lnSpc>
      <a:spcBef>
        <a:spcPct val="30000"/>
      </a:spcBef>
      <a:spcAft>
        <a:spcPts val="0"/>
      </a:spcAft>
      <a:buNone/>
      <a:defRPr sz="1200" b="0" i="0" u="none" baseline="0">
        <a:solidFill>
          <a:schemeClr val="tx1"/>
        </a:solidFill>
        <a:latin typeface="Calibri" pitchFamily="0" charset="0"/>
        <a:ea typeface="PMingLiU" pitchFamily="18" charset="-120"/>
        <a:cs typeface="新細明體" pitchFamily="18" charset="-120"/>
      </a:defRPr>
    </a:lvl3pPr>
    <a:lvl4pPr marL="1371600" indent="0" algn="l" defTabSz="914400" rtl="0" eaLnBrk="0" fontAlgn="base" latinLnBrk="0" hangingPunct="0">
      <a:lnSpc>
        <a:spcPct val="100000"/>
      </a:lnSpc>
      <a:spcBef>
        <a:spcPct val="30000"/>
      </a:spcBef>
      <a:spcAft>
        <a:spcPts val="0"/>
      </a:spcAft>
      <a:buNone/>
      <a:defRPr sz="1200" b="0" i="0" u="none" baseline="0">
        <a:solidFill>
          <a:schemeClr val="tx1"/>
        </a:solidFill>
        <a:latin typeface="Calibri" pitchFamily="0" charset="0"/>
        <a:ea typeface="PMingLiU" pitchFamily="18" charset="-120"/>
        <a:cs typeface="新細明體" pitchFamily="18" charset="-120"/>
      </a:defRPr>
    </a:lvl4pPr>
    <a:lvl5pPr marL="1828800" indent="0" algn="l" defTabSz="914400" rtl="0" eaLnBrk="0" fontAlgn="base" latinLnBrk="0" hangingPunct="0">
      <a:lnSpc>
        <a:spcPct val="100000"/>
      </a:lnSpc>
      <a:spcBef>
        <a:spcPct val="30000"/>
      </a:spcBef>
      <a:spcAft>
        <a:spcPts val="0"/>
      </a:spcAft>
      <a:buNone/>
      <a:defRPr sz="1200" b="0" i="0" u="none" baseline="0">
        <a:solidFill>
          <a:schemeClr val="tx1"/>
        </a:solidFill>
        <a:latin typeface="Calibri" pitchFamily="0" charset="0"/>
        <a:ea typeface="PMingLiU" pitchFamily="18" charset="-120"/>
        <a:cs typeface="新細明體" pitchFamily="18" charset="-120"/>
      </a:defRPr>
    </a:lvl5pPr>
    <a:lvl6pPr marL="1828800" indent="0" algn="l" defTabSz="914400" rtl="0" eaLnBrk="0" fontAlgn="base" latinLnBrk="0" hangingPunct="0">
      <a:lnSpc>
        <a:spcPct val="100000"/>
      </a:lnSpc>
      <a:spcBef>
        <a:spcPct val="30000"/>
      </a:spcBef>
      <a:spcAft>
        <a:spcPts val="0"/>
      </a:spcAft>
      <a:buNone/>
      <a:defRPr sz="1200" b="0" i="0" u="none" baseline="0">
        <a:solidFill>
          <a:schemeClr val="tx1"/>
        </a:solidFill>
        <a:latin typeface="Calibri" pitchFamily="0" charset="0"/>
        <a:ea typeface="PMingLiU" pitchFamily="18" charset="-120"/>
        <a:cs typeface="新細明體" pitchFamily="18" charset="-120"/>
      </a:defRPr>
    </a:lvl6pPr>
    <a:lvl7pPr marL="1828800" indent="0" algn="l" defTabSz="914400" rtl="0" eaLnBrk="0" fontAlgn="base" latinLnBrk="0" hangingPunct="0">
      <a:lnSpc>
        <a:spcPct val="100000"/>
      </a:lnSpc>
      <a:spcBef>
        <a:spcPct val="30000"/>
      </a:spcBef>
      <a:spcAft>
        <a:spcPts val="0"/>
      </a:spcAft>
      <a:buNone/>
      <a:defRPr sz="1200" b="0" i="0" u="none" baseline="0">
        <a:solidFill>
          <a:schemeClr val="tx1"/>
        </a:solidFill>
        <a:latin typeface="Calibri" pitchFamily="0" charset="0"/>
        <a:ea typeface="PMingLiU" pitchFamily="18" charset="-120"/>
        <a:cs typeface="新細明體" pitchFamily="18" charset="-120"/>
      </a:defRPr>
    </a:lvl7pPr>
    <a:lvl8pPr marL="1828800" indent="0" algn="l" defTabSz="914400" rtl="0" eaLnBrk="0" fontAlgn="base" latinLnBrk="0" hangingPunct="0">
      <a:lnSpc>
        <a:spcPct val="100000"/>
      </a:lnSpc>
      <a:spcBef>
        <a:spcPct val="30000"/>
      </a:spcBef>
      <a:spcAft>
        <a:spcPts val="0"/>
      </a:spcAft>
      <a:buNone/>
      <a:defRPr sz="1200" b="0" i="0" u="none" baseline="0">
        <a:solidFill>
          <a:schemeClr val="tx1"/>
        </a:solidFill>
        <a:latin typeface="Calibri" pitchFamily="0" charset="0"/>
        <a:ea typeface="PMingLiU" pitchFamily="18" charset="-120"/>
        <a:cs typeface="新細明體" pitchFamily="18" charset="-120"/>
      </a:defRPr>
    </a:lvl8pPr>
    <a:lvl9pPr marL="1828800" indent="0" algn="l" defTabSz="914400" rtl="0" eaLnBrk="0" fontAlgn="base" latinLnBrk="0" hangingPunct="0">
      <a:lnSpc>
        <a:spcPct val="100000"/>
      </a:lnSpc>
      <a:spcBef>
        <a:spcPct val="30000"/>
      </a:spcBef>
      <a:spcAft>
        <a:spcPts val="0"/>
      </a:spcAft>
      <a:buNone/>
      <a:defRPr sz="1200" b="0" i="0" u="none" baseline="0">
        <a:solidFill>
          <a:schemeClr val="tx1"/>
        </a:solidFill>
        <a:latin typeface="Calibri" pitchFamily="0" charset="0"/>
        <a:ea typeface="PMingLiU" pitchFamily="18" charset="-120"/>
        <a:cs typeface="新細明體" pitchFamily="18" charset="-12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50"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51"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52"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928191471"/>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53"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54"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55"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2</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759028318"/>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56"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57"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58"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3</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831644048"/>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59"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60"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61"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4</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428109735"/>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62"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63"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64"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5</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683495134"/>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65"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66"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67"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6</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473498551"/>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68"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69"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70"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7</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740864801"/>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71"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572"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73"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46427879"/>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74"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75"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76"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671866629"/>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77"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78"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79"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10</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10</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978781985"/>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80"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81"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82"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11</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11</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649731077"/>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83"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84"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85"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12</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12</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008396337"/>
      </p:ext>
    </p:extLst>
  </p:cSld>
  <p:clrMapOvr>
    <a:masterClrMapping/>
  </p:clrMapOvr>
</p:notes>
</file>

<file path=ppt/notesSlides/notesSlide1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86"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87"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88"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13</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13</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096815917"/>
      </p:ext>
    </p:extLst>
  </p:cSld>
  <p:clrMapOvr>
    <a:masterClrMapping/>
  </p:clrMapOvr>
</p:notes>
</file>

<file path=ppt/notesSlides/notesSlide1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89"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590"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91"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14</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14</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510711150"/>
      </p:ext>
    </p:extLst>
  </p:cSld>
  <p:clrMapOvr>
    <a:masterClrMapping/>
  </p:clrMapOvr>
</p:notes>
</file>

<file path=ppt/notesSlides/notesSlide1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92"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593"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94"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15</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15</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373980376"/>
      </p:ext>
    </p:extLst>
  </p:cSld>
  <p:clrMapOvr>
    <a:masterClrMapping/>
  </p:clrMapOvr>
</p:notes>
</file>

<file path=ppt/notesSlides/notesSlide1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95"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596"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597"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16</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16</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987352200"/>
      </p:ext>
    </p:extLst>
  </p:cSld>
  <p:clrMapOvr>
    <a:masterClrMapping/>
  </p:clrMapOvr>
</p:notes>
</file>

<file path=ppt/notesSlides/notesSlide1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98"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599"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00"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17</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17</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507114906"/>
      </p:ext>
    </p:extLst>
  </p:cSld>
  <p:clrMapOvr>
    <a:masterClrMapping/>
  </p:clrMapOvr>
</p:notes>
</file>

<file path=ppt/notesSlides/notesSlide1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01"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02"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03"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18</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18</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539376592"/>
      </p:ext>
    </p:extLst>
  </p:cSld>
  <p:clrMapOvr>
    <a:masterClrMapping/>
  </p:clrMapOvr>
</p:notes>
</file>

<file path=ppt/notesSlides/notesSlide1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04"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05"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06"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19</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19</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585972913"/>
      </p:ext>
    </p:extLst>
  </p:cSld>
  <p:clrMapOvr>
    <a:masterClrMapping/>
  </p:clrMapOvr>
</p:notes>
</file>

<file path=ppt/notesSlides/notesSlide2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07"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08"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09"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20</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20</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110414254"/>
      </p:ext>
    </p:extLst>
  </p:cSld>
  <p:clrMapOvr>
    <a:masterClrMapping/>
  </p:clrMapOvr>
</p:notes>
</file>

<file path=ppt/notesSlides/notesSlide2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10"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11"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12"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21</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21</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37529434"/>
      </p:ext>
    </p:extLst>
  </p:cSld>
  <p:clrMapOvr>
    <a:masterClrMapping/>
  </p:clrMapOvr>
</p:notes>
</file>

<file path=ppt/notesSlides/notesSlide2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13"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14"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15"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22</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22</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826075289"/>
      </p:ext>
    </p:extLst>
  </p:cSld>
  <p:clrMapOvr>
    <a:masterClrMapping/>
  </p:clrMapOvr>
</p:notes>
</file>

<file path=ppt/notesSlides/notesSlide2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16"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17"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18"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23</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23</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996099507"/>
      </p:ext>
    </p:extLst>
  </p:cSld>
  <p:clrMapOvr>
    <a:masterClrMapping/>
  </p:clrMapOvr>
</p:notes>
</file>

<file path=ppt/notesSlides/notesSlide2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19"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20"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21"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24</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24</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99567224"/>
      </p:ext>
    </p:extLst>
  </p:cSld>
  <p:clrMapOvr>
    <a:masterClrMapping/>
  </p:clrMapOvr>
</p:notes>
</file>

<file path=ppt/notesSlides/notesSlide2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25</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653017267"/>
      </p:ext>
    </p:extLst>
  </p:cSld>
  <p:clrMapOvr>
    <a:masterClrMapping/>
  </p:clrMapOvr>
</p:notes>
</file>

<file path=ppt/notesSlides/notesSlide2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22"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23"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24"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26</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26</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404788520"/>
      </p:ext>
    </p:extLst>
  </p:cSld>
  <p:clrMapOvr>
    <a:masterClrMapping/>
  </p:clrMapOvr>
</p:notes>
</file>

<file path=ppt/notesSlides/notesSlide2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25"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26"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27"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27</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27</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629562426"/>
      </p:ext>
    </p:extLst>
  </p:cSld>
  <p:clrMapOvr>
    <a:masterClrMapping/>
  </p:clrMapOvr>
</p:notes>
</file>

<file path=ppt/notesSlides/notesSlide2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28"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29"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30"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28</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28</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57120259"/>
      </p:ext>
    </p:extLst>
  </p:cSld>
  <p:clrMapOvr>
    <a:masterClrMapping/>
  </p:clrMapOvr>
</p:notes>
</file>

<file path=ppt/notesSlides/notesSlide2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31"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32"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33"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29</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29</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873838509"/>
      </p:ext>
    </p:extLst>
  </p:cSld>
  <p:clrMapOvr>
    <a:masterClrMapping/>
  </p:clrMapOvr>
</p:notes>
</file>

<file path=ppt/notesSlides/notesSlide3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30</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883269640"/>
      </p:ext>
    </p:extLst>
  </p:cSld>
  <p:clrMapOvr>
    <a:masterClrMapping/>
  </p:clrMapOvr>
</p:notes>
</file>

<file path=ppt/notesSlides/notesSlide3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34"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35"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36"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31</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31</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706258011"/>
      </p:ext>
    </p:extLst>
  </p:cSld>
  <p:clrMapOvr>
    <a:masterClrMapping/>
  </p:clrMapOvr>
</p:notes>
</file>

<file path=ppt/notesSlides/notesSlide3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37"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38"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39"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32</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32</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873205614"/>
      </p:ext>
    </p:extLst>
  </p:cSld>
  <p:clrMapOvr>
    <a:masterClrMapping/>
  </p:clrMapOvr>
</p:notes>
</file>

<file path=ppt/notesSlides/notesSlide3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33</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358217007"/>
      </p:ext>
    </p:extLst>
  </p:cSld>
  <p:clrMapOvr>
    <a:masterClrMapping/>
  </p:clrMapOvr>
</p:notes>
</file>

<file path=ppt/notesSlides/notesSlide3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40"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41"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42"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34</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34</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686412275"/>
      </p:ext>
    </p:extLst>
  </p:cSld>
  <p:clrMapOvr>
    <a:masterClrMapping/>
  </p:clrMapOvr>
</p:notes>
</file>

<file path=ppt/notesSlides/notesSlide3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43"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44"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45"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35</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35</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046826787"/>
      </p:ext>
    </p:extLst>
  </p:cSld>
  <p:clrMapOvr>
    <a:masterClrMapping/>
  </p:clrMapOvr>
</p:notes>
</file>

<file path=ppt/notesSlides/notesSlide3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46"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647"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48"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36</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36</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952613998"/>
      </p:ext>
    </p:extLst>
  </p:cSld>
  <p:clrMapOvr>
    <a:masterClrMapping/>
  </p:clrMapOvr>
</p:notes>
</file>

<file path=ppt/notesSlides/notesSlide3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37</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440371701"/>
      </p:ext>
    </p:extLst>
  </p:cSld>
  <p:clrMapOvr>
    <a:masterClrMapping/>
  </p:clrMapOvr>
</p:notes>
</file>

<file path=ppt/notesSlides/notesSlide3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38</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055274419"/>
      </p:ext>
    </p:extLst>
  </p:cSld>
  <p:clrMapOvr>
    <a:masterClrMapping/>
  </p:clrMapOvr>
</p:notes>
</file>

<file path=ppt/notesSlides/notesSlide3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39</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898609070"/>
      </p:ext>
    </p:extLst>
  </p:cSld>
  <p:clrMapOvr>
    <a:masterClrMapping/>
  </p:clrMapOvr>
</p:notes>
</file>

<file path=ppt/notesSlides/notesSlide4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40</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83130074"/>
      </p:ext>
    </p:extLst>
  </p:cSld>
  <p:clrMapOvr>
    <a:masterClrMapping/>
  </p:clrMapOvr>
</p:notes>
</file>

<file path=ppt/notesSlides/notesSlide4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41</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017012936"/>
      </p:ext>
    </p:extLst>
  </p:cSld>
  <p:clrMapOvr>
    <a:masterClrMapping/>
  </p:clrMapOvr>
</p:notes>
</file>

<file path=ppt/notesSlides/notesSlide4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42</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95750861"/>
      </p:ext>
    </p:extLst>
  </p:cSld>
  <p:clrMapOvr>
    <a:masterClrMapping/>
  </p:clrMapOvr>
</p:notes>
</file>

<file path=ppt/notesSlides/notesSlide4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43</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325742740"/>
      </p:ext>
    </p:extLst>
  </p:cSld>
  <p:clrMapOvr>
    <a:masterClrMapping/>
  </p:clrMapOvr>
</p:notes>
</file>

<file path=ppt/notesSlides/notesSlide4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44</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06179430"/>
      </p:ext>
    </p:extLst>
  </p:cSld>
  <p:clrMapOvr>
    <a:masterClrMapping/>
  </p:clrMapOvr>
</p:notes>
</file>

<file path=ppt/notesSlides/notesSlide4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45</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924030821"/>
      </p:ext>
    </p:extLst>
  </p:cSld>
  <p:clrMapOvr>
    <a:masterClrMapping/>
  </p:clrMapOvr>
</p:notes>
</file>

<file path=ppt/notesSlides/notesSlide4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46</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57645855"/>
      </p:ext>
    </p:extLst>
  </p:cSld>
  <p:clrMapOvr>
    <a:masterClrMapping/>
  </p:clrMapOvr>
</p:notes>
</file>

<file path=ppt/notesSlides/notesSlide4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47</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411194139"/>
      </p:ext>
    </p:extLst>
  </p:cSld>
  <p:clrMapOvr>
    <a:masterClrMapping/>
  </p:clrMapOvr>
</p:notes>
</file>

<file path=ppt/notesSlides/notesSlide4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48</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01348571"/>
      </p:ext>
    </p:extLst>
  </p:cSld>
  <p:clrMapOvr>
    <a:masterClrMapping/>
  </p:clrMapOvr>
</p:notes>
</file>

<file path=ppt/notesSlides/notesSlide4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49</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80053539"/>
      </p:ext>
    </p:extLst>
  </p:cSld>
  <p:clrMapOvr>
    <a:masterClrMapping/>
  </p:clrMapOvr>
</p:notes>
</file>

<file path=ppt/notesSlides/notesSlide5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50</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770679233"/>
      </p:ext>
    </p:extLst>
  </p:cSld>
  <p:clrMapOvr>
    <a:masterClrMapping/>
  </p:clrMapOvr>
</p:notes>
</file>

<file path=ppt/notesSlides/notesSlide5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51</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374291511"/>
      </p:ext>
    </p:extLst>
  </p:cSld>
  <p:clrMapOvr>
    <a:masterClrMapping/>
  </p:clrMapOvr>
</p:notes>
</file>

<file path=ppt/notesSlides/notesSlide5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52</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560222893"/>
      </p:ext>
    </p:extLst>
  </p:cSld>
  <p:clrMapOvr>
    <a:masterClrMapping/>
  </p:clrMapOvr>
</p:notes>
</file>

<file path=ppt/notesSlides/notesSlide5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49"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50"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51"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53</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53</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259836867"/>
      </p:ext>
    </p:extLst>
  </p:cSld>
  <p:clrMapOvr>
    <a:masterClrMapping/>
  </p:clrMapOvr>
</p:notes>
</file>

<file path=ppt/notesSlides/notesSlide5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52"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53"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54"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54</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54</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655248262"/>
      </p:ext>
    </p:extLst>
  </p:cSld>
  <p:clrMapOvr>
    <a:masterClrMapping/>
  </p:clrMapOvr>
</p:notes>
</file>

<file path=ppt/notesSlides/notesSlide5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55"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56"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57"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55</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55</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742758788"/>
      </p:ext>
    </p:extLst>
  </p:cSld>
  <p:clrMapOvr>
    <a:masterClrMapping/>
  </p:clrMapOvr>
</p:notes>
</file>

<file path=ppt/notesSlides/notesSlide5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58"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59"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60"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56</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56</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702087570"/>
      </p:ext>
    </p:extLst>
  </p:cSld>
  <p:clrMapOvr>
    <a:masterClrMapping/>
  </p:clrMapOvr>
</p:notes>
</file>

<file path=ppt/notesSlides/notesSlide5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61"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62"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63"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57</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57</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444980333"/>
      </p:ext>
    </p:extLst>
  </p:cSld>
  <p:clrMapOvr>
    <a:masterClrMapping/>
  </p:clrMapOvr>
</p:notes>
</file>

<file path=ppt/notesSlides/notesSlide5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64"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65"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66"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58</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58</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116395303"/>
      </p:ext>
    </p:extLst>
  </p:cSld>
  <p:clrMapOvr>
    <a:masterClrMapping/>
  </p:clrMapOvr>
</p:notes>
</file>

<file path=ppt/notesSlides/notesSlide5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67"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68"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69"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59</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59</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940097751"/>
      </p:ext>
    </p:extLst>
  </p:cSld>
  <p:clrMapOvr>
    <a:masterClrMapping/>
  </p:clrMapOvr>
</p:notes>
</file>

<file path=ppt/notesSlides/notesSlide6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70"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71"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72"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60</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60</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821913750"/>
      </p:ext>
    </p:extLst>
  </p:cSld>
  <p:clrMapOvr>
    <a:masterClrMapping/>
  </p:clrMapOvr>
</p:notes>
</file>

<file path=ppt/notesSlides/notesSlide6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73"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74"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75"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61</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61</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530429903"/>
      </p:ext>
    </p:extLst>
  </p:cSld>
  <p:clrMapOvr>
    <a:masterClrMapping/>
  </p:clrMapOvr>
</p:notes>
</file>

<file path=ppt/notesSlides/notesSlide6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76"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77"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78"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62</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62</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6967073"/>
      </p:ext>
    </p:extLst>
  </p:cSld>
  <p:clrMapOvr>
    <a:masterClrMapping/>
  </p:clrMapOvr>
</p:notes>
</file>

<file path=ppt/notesSlides/notesSlide6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79"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80"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81"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63</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63</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373615501"/>
      </p:ext>
    </p:extLst>
  </p:cSld>
  <p:clrMapOvr>
    <a:masterClrMapping/>
  </p:clrMapOvr>
</p:notes>
</file>

<file path=ppt/notesSlides/notesSlide6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64</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584031812"/>
      </p:ext>
    </p:extLst>
  </p:cSld>
  <p:clrMapOvr>
    <a:masterClrMapping/>
  </p:clrMapOvr>
</p:notes>
</file>

<file path=ppt/notesSlides/notesSlide6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82"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83"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84"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65</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65</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876783387"/>
      </p:ext>
    </p:extLst>
  </p:cSld>
  <p:clrMapOvr>
    <a:masterClrMapping/>
  </p:clrMapOvr>
</p:notes>
</file>

<file path=ppt/notesSlides/notesSlide6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85"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86"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87"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66</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66</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127181438"/>
      </p:ext>
    </p:extLst>
  </p:cSld>
  <p:clrMapOvr>
    <a:masterClrMapping/>
  </p:clrMapOvr>
</p:notes>
</file>

<file path=ppt/notesSlides/notesSlide6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67</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877314790"/>
      </p:ext>
    </p:extLst>
  </p:cSld>
  <p:clrMapOvr>
    <a:masterClrMapping/>
  </p:clrMapOvr>
</p:notes>
</file>

<file path=ppt/notesSlides/notesSlide6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88"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89"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pPr marL="0" indent="0">
              <a:buNone/>
            </a:pPr>
            <a:r>
              <a:rPr lang="zh-CN" altLang="en-US"/>
              <a:t>1</a:t>
            </a:r>
            <a:r>
              <a:rPr lang="zh-CN" altLang="en-US"/>
              <a:t>、</a:t>
            </a:r>
            <a:r>
              <a:rPr lang="zh-CN" altLang="en-US"/>
              <a:t>BOM</a:t>
            </a:r>
            <a:r>
              <a:rPr lang="zh-CN" altLang="en-US"/>
              <a:t>版次</a:t>
            </a:r>
            <a:endParaRPr lang="zh-CN" altLang="en-US"/>
          </a:p>
          <a:p>
            <a:pPr marL="0" indent="0">
              <a:buNone/>
            </a:pPr>
            <a:r>
              <a:rPr lang="zh-CN" altLang="en-US"/>
              <a:t>2</a:t>
            </a:r>
            <a:r>
              <a:rPr lang="zh-CN" altLang="en-US"/>
              <a:t>、母工单</a:t>
            </a:r>
            <a:r>
              <a:rPr lang="zh-CN" altLang="en-US">
                <a:sym typeface="Wingdings" pitchFamily="2" charset="2"/>
              </a:rPr>
              <a:t></a:t>
            </a:r>
            <a:r>
              <a:rPr lang="zh-CN" altLang="en-US">
                <a:sym typeface="Wingdings" pitchFamily="2" charset="2"/>
              </a:rPr>
              <a:t>易飞源工单</a:t>
            </a:r>
            <a:endParaRPr lang="zh-CN" altLang="en-US">
              <a:sym typeface="Wingdings" pitchFamily="2" charset="2"/>
            </a:endParaRPr>
          </a:p>
          <a:p>
            <a:pPr marL="0" indent="0">
              <a:buNone/>
            </a:pPr>
            <a:r>
              <a:rPr lang="zh-CN" altLang="en-US">
                <a:sym typeface="Wingdings" pitchFamily="2" charset="2"/>
              </a:rPr>
              <a:t>3</a:t>
            </a:r>
            <a:r>
              <a:rPr lang="zh-CN" altLang="en-US">
                <a:sym typeface="Wingdings" pitchFamily="2" charset="2"/>
              </a:rPr>
              <a:t>、联副产品</a:t>
            </a:r>
            <a:r>
              <a:rPr lang="zh-CN" altLang="en-US">
                <a:sym typeface="Wingdings" pitchFamily="2" charset="2"/>
              </a:rPr>
              <a:t></a:t>
            </a:r>
            <a:r>
              <a:rPr lang="zh-CN" altLang="en-US">
                <a:sym typeface="Wingdings" pitchFamily="2" charset="2"/>
              </a:rPr>
              <a:t>联产品、副产品、边角料</a:t>
            </a:r>
            <a:endParaRPr lang="zh-CN" altLang="en-US">
              <a:sym typeface="Wingdings" pitchFamily="2" charset="2"/>
            </a:endParaRPr>
          </a:p>
          <a:p>
            <a:pPr marL="0" indent="0">
              <a:buNone/>
            </a:pPr>
            <a:r>
              <a:rPr lang="zh-CN" altLang="en-US">
                <a:sym typeface="Wingdings" pitchFamily="2" charset="2"/>
              </a:rPr>
              <a:t>4</a:t>
            </a:r>
            <a:r>
              <a:rPr lang="zh-CN" altLang="en-US">
                <a:sym typeface="Wingdings" pitchFamily="2" charset="2"/>
              </a:rPr>
              <a:t>、工单与订单的关系多对多</a:t>
            </a:r>
            <a:r>
              <a:rPr lang="zh-CN" altLang="en-US">
                <a:sym typeface="Wingdings" pitchFamily="2" charset="2"/>
              </a:rPr>
              <a:t>  </a:t>
            </a:r>
            <a:endParaRPr lang="zh-CN" altLang="en-US"/>
          </a:p>
          <a:p>
            <a:pPr marL="0" indent="0">
              <a:buNone/>
            </a:pPr>
            <a:endParaRPr lang="zh-CN" altLang="en-US"/>
          </a:p>
        </p:txBody>
      </p:sp>
      <p:sp>
        <p:nvSpPr>
          <p:cNvPr id="690"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68</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68</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958446660"/>
      </p:ext>
    </p:extLst>
  </p:cSld>
  <p:clrMapOvr>
    <a:masterClrMapping/>
  </p:clrMapOvr>
</p:notes>
</file>

<file path=ppt/notesSlides/notesSlide6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91"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92"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93"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69</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69</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444591099"/>
      </p:ext>
    </p:extLst>
  </p:cSld>
  <p:clrMapOvr>
    <a:masterClrMapping/>
  </p:clrMapOvr>
</p:notes>
</file>

<file path=ppt/notesSlides/notesSlide7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70</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589483782"/>
      </p:ext>
    </p:extLst>
  </p:cSld>
  <p:clrMapOvr>
    <a:masterClrMapping/>
  </p:clrMapOvr>
</p:notes>
</file>

<file path=ppt/notesSlides/notesSlide7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94"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95"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pPr marL="0" indent="0">
              <a:buNone/>
            </a:pPr>
            <a:r>
              <a:rPr lang="zh-CN" altLang="en-US"/>
              <a:t>1</a:t>
            </a:r>
            <a:r>
              <a:rPr lang="zh-CN" altLang="en-US"/>
              <a:t>、</a:t>
            </a:r>
            <a:r>
              <a:rPr lang="zh-CN" altLang="en-US"/>
              <a:t>BOM</a:t>
            </a:r>
            <a:r>
              <a:rPr lang="zh-CN" altLang="en-US"/>
              <a:t>版次</a:t>
            </a:r>
            <a:endParaRPr lang="zh-CN" altLang="en-US"/>
          </a:p>
          <a:p>
            <a:pPr marL="0" indent="0">
              <a:buNone/>
            </a:pPr>
            <a:r>
              <a:rPr lang="zh-CN" altLang="en-US"/>
              <a:t>2</a:t>
            </a:r>
            <a:r>
              <a:rPr lang="zh-CN" altLang="en-US"/>
              <a:t>、母工单</a:t>
            </a:r>
            <a:r>
              <a:rPr lang="zh-CN" altLang="en-US">
                <a:sym typeface="Wingdings" pitchFamily="2" charset="2"/>
              </a:rPr>
              <a:t></a:t>
            </a:r>
            <a:r>
              <a:rPr lang="zh-CN" altLang="en-US">
                <a:sym typeface="Wingdings" pitchFamily="2" charset="2"/>
              </a:rPr>
              <a:t>易飞源工单</a:t>
            </a:r>
            <a:endParaRPr lang="zh-CN" altLang="en-US">
              <a:sym typeface="Wingdings" pitchFamily="2" charset="2"/>
            </a:endParaRPr>
          </a:p>
          <a:p>
            <a:pPr marL="0" indent="0">
              <a:buNone/>
            </a:pPr>
            <a:r>
              <a:rPr lang="zh-CN" altLang="en-US">
                <a:sym typeface="Wingdings" pitchFamily="2" charset="2"/>
              </a:rPr>
              <a:t>3</a:t>
            </a:r>
            <a:r>
              <a:rPr lang="zh-CN" altLang="en-US">
                <a:sym typeface="Wingdings" pitchFamily="2" charset="2"/>
              </a:rPr>
              <a:t>、联副产品</a:t>
            </a:r>
            <a:r>
              <a:rPr lang="zh-CN" altLang="en-US">
                <a:sym typeface="Wingdings" pitchFamily="2" charset="2"/>
              </a:rPr>
              <a:t></a:t>
            </a:r>
            <a:r>
              <a:rPr lang="zh-CN" altLang="en-US">
                <a:sym typeface="Wingdings" pitchFamily="2" charset="2"/>
              </a:rPr>
              <a:t>联产品、副产品、边角料</a:t>
            </a:r>
            <a:endParaRPr lang="zh-CN" altLang="en-US">
              <a:sym typeface="Wingdings" pitchFamily="2" charset="2"/>
            </a:endParaRPr>
          </a:p>
          <a:p>
            <a:pPr marL="0" indent="0">
              <a:buNone/>
            </a:pPr>
            <a:r>
              <a:rPr lang="zh-CN" altLang="en-US">
                <a:sym typeface="Wingdings" pitchFamily="2" charset="2"/>
              </a:rPr>
              <a:t>4</a:t>
            </a:r>
            <a:r>
              <a:rPr lang="zh-CN" altLang="en-US">
                <a:sym typeface="Wingdings" pitchFamily="2" charset="2"/>
              </a:rPr>
              <a:t>、工单与订单的关系多对多</a:t>
            </a:r>
            <a:r>
              <a:rPr lang="zh-CN" altLang="en-US">
                <a:sym typeface="Wingdings" pitchFamily="2" charset="2"/>
              </a:rPr>
              <a:t>  </a:t>
            </a:r>
            <a:endParaRPr lang="zh-CN" altLang="en-US"/>
          </a:p>
          <a:p>
            <a:pPr marL="0" indent="0">
              <a:buNone/>
            </a:pPr>
            <a:endParaRPr lang="zh-CN" altLang="en-US"/>
          </a:p>
        </p:txBody>
      </p:sp>
      <p:sp>
        <p:nvSpPr>
          <p:cNvPr id="696"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71</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71</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075835926"/>
      </p:ext>
    </p:extLst>
  </p:cSld>
  <p:clrMapOvr>
    <a:masterClrMapping/>
  </p:clrMapOvr>
</p:notes>
</file>

<file path=ppt/notesSlides/notesSlide7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72</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633949310"/>
      </p:ext>
    </p:extLst>
  </p:cSld>
  <p:clrMapOvr>
    <a:masterClrMapping/>
  </p:clrMapOvr>
</p:notes>
</file>

<file path=ppt/notesSlides/notesSlide7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73</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329534182"/>
      </p:ext>
    </p:extLst>
  </p:cSld>
  <p:clrMapOvr>
    <a:masterClrMapping/>
  </p:clrMapOvr>
</p:notes>
</file>

<file path=ppt/notesSlides/notesSlide7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97"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698"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699"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74</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74</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689243336"/>
      </p:ext>
    </p:extLst>
  </p:cSld>
  <p:clrMapOvr>
    <a:masterClrMapping/>
  </p:clrMapOvr>
</p:notes>
</file>

<file path=ppt/notesSlides/notesSlide7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00"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701"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02"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75</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75</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330954387"/>
      </p:ext>
    </p:extLst>
  </p:cSld>
  <p:clrMapOvr>
    <a:masterClrMapping/>
  </p:clrMapOvr>
</p:notes>
</file>

<file path=ppt/notesSlides/notesSlide7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03"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704"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05"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76</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76</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137732839"/>
      </p:ext>
    </p:extLst>
  </p:cSld>
  <p:clrMapOvr>
    <a:masterClrMapping/>
  </p:clrMapOvr>
</p:notes>
</file>

<file path=ppt/notesSlides/notesSlide7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06"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707"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08"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77</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77</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270115924"/>
      </p:ext>
    </p:extLst>
  </p:cSld>
  <p:clrMapOvr>
    <a:masterClrMapping/>
  </p:clrMapOvr>
</p:notes>
</file>

<file path=ppt/notesSlides/notesSlide7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78</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87979472"/>
      </p:ext>
    </p:extLst>
  </p:cSld>
  <p:clrMapOvr>
    <a:masterClrMapping/>
  </p:clrMapOvr>
</p:notes>
</file>

<file path=ppt/notesSlides/notesSlide7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79</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739686183"/>
      </p:ext>
    </p:extLst>
  </p:cSld>
  <p:clrMapOvr>
    <a:masterClrMapping/>
  </p:clrMapOvr>
</p:notes>
</file>

<file path=ppt/notesSlides/notesSlide8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Img"/>
          </p:nvPr>
        </p:nvSpPr>
        <p:spPr/>
      </p:sp>
      <p:sp>
        <p:nvSpPr>
          <p:cNvPr id="3" name="文本框"/>
          <p:cNvSpPr>
            <a:spLocks noGrp="1"/>
          </p:cNvSpPr>
          <p:nvPr>
            <p:ph type="body" idx="1"/>
          </p:nvPr>
        </p:nvSpPr>
        <p:spPr/>
        <p:txBody>
          <a:bodyPr/>
          <a:lstStyle/>
          <a:p>
            <a:r>
              <a:rPr lang="zh-CN" altLang="en-US"/>
              <a:t>单击此处添加备注</a:t>
            </a:r>
            <a:endParaRPr lang="zh-CN" altLang="en-US"/>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80</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562522135"/>
      </p:ext>
    </p:extLst>
  </p:cSld>
  <p:clrMapOvr>
    <a:masterClrMapping/>
  </p:clrMapOvr>
</p:notes>
</file>

<file path=ppt/notesSlides/notesSlide8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09"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710"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11"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81</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81</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582744516"/>
      </p:ext>
    </p:extLst>
  </p:cSld>
  <p:clrMapOvr>
    <a:masterClrMapping/>
  </p:clrMapOvr>
</p:notes>
</file>

<file path=ppt/notesSlides/notesSlide8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12"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713"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14"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82</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82</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3109431"/>
      </p:ext>
    </p:extLst>
  </p:cSld>
  <p:clrMapOvr>
    <a:masterClrMapping/>
  </p:clrMapOvr>
</p:notes>
</file>

<file path=ppt/notesSlides/notesSlide8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15"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716"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17"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83</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83</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603292933"/>
      </p:ext>
    </p:extLst>
  </p:cSld>
  <p:clrMapOvr>
    <a:masterClrMapping/>
  </p:clrMapOvr>
</p:notes>
</file>

<file path=ppt/notesSlides/notesSlide8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18"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719"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20"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84</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84</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583866245"/>
      </p:ext>
    </p:extLst>
  </p:cSld>
  <p:clrMapOvr>
    <a:masterClrMapping/>
  </p:clrMapOvr>
</p:notes>
</file>

<file path=ppt/notesSlides/notesSlide8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21"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22"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23"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85</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85</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794180042"/>
      </p:ext>
    </p:extLst>
  </p:cSld>
  <p:clrMapOvr>
    <a:masterClrMapping/>
  </p:clrMapOvr>
</p:notes>
</file>

<file path=ppt/notesSlides/notesSlide8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24"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25"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26"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86</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86</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947921122"/>
      </p:ext>
    </p:extLst>
  </p:cSld>
  <p:clrMapOvr>
    <a:masterClrMapping/>
  </p:clrMapOvr>
</p:notes>
</file>

<file path=ppt/notesSlides/notesSlide8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27"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28"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29"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87</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87</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556375735"/>
      </p:ext>
    </p:extLst>
  </p:cSld>
  <p:clrMapOvr>
    <a:masterClrMapping/>
  </p:clrMapOvr>
</p:notes>
</file>

<file path=ppt/notesSlides/notesSlide8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30"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31"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32"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88</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88</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500808224"/>
      </p:ext>
    </p:extLst>
  </p:cSld>
  <p:clrMapOvr>
    <a:masterClrMapping/>
  </p:clrMapOvr>
</p:notes>
</file>

<file path=ppt/notesSlides/notesSlide8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33"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34"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35"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89</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89</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050426391"/>
      </p:ext>
    </p:extLst>
  </p:cSld>
  <p:clrMapOvr>
    <a:masterClrMapping/>
  </p:clrMapOvr>
</p:notes>
</file>

<file path=ppt/notesSlides/notesSlide9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36"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37"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38"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90</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90</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359508049"/>
      </p:ext>
    </p:extLst>
  </p:cSld>
  <p:clrMapOvr>
    <a:masterClrMapping/>
  </p:clrMapOvr>
</p:notes>
</file>

<file path=ppt/notesSlides/notesSlide9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39"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40"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41"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91</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91</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308100643"/>
      </p:ext>
    </p:extLst>
  </p:cSld>
  <p:clrMapOvr>
    <a:masterClrMapping/>
  </p:clrMapOvr>
</p:notes>
</file>

<file path=ppt/notesSlides/notesSlide9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42"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43"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44"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92</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92</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062198762"/>
      </p:ext>
    </p:extLst>
  </p:cSld>
  <p:clrMapOvr>
    <a:masterClrMapping/>
  </p:clrMapOvr>
</p:notes>
</file>

<file path=ppt/notesSlides/notesSlide9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45"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46"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47"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93</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93</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046749939"/>
      </p:ext>
    </p:extLst>
  </p:cSld>
  <p:clrMapOvr>
    <a:masterClrMapping/>
  </p:clrMapOvr>
</p:notes>
</file>

<file path=ppt/notesSlides/notesSlide9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48"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49"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50"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94</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94</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981347408"/>
      </p:ext>
    </p:extLst>
  </p:cSld>
  <p:clrMapOvr>
    <a:masterClrMapping/>
  </p:clrMapOvr>
</p:notes>
</file>

<file path=ppt/notesSlides/notesSlide9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51"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52"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53"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95</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95</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498645677"/>
      </p:ext>
    </p:extLst>
  </p:cSld>
  <p:clrMapOvr>
    <a:masterClrMapping/>
  </p:clrMapOvr>
</p:notes>
</file>

<file path=ppt/notesSlides/notesSlide9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54"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55"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56"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96</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96</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870787157"/>
      </p:ext>
    </p:extLst>
  </p:cSld>
  <p:clrMapOvr>
    <a:masterClrMapping/>
  </p:clrMapOvr>
</p:notes>
</file>

<file path=ppt/notesSlides/notesSlide9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57"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58"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59"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97</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97</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897617889"/>
      </p:ext>
    </p:extLst>
  </p:cSld>
  <p:clrMapOvr>
    <a:masterClrMapping/>
  </p:clrMapOvr>
</p:notes>
</file>

<file path=ppt/notesSlides/notesSlide9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60" name="对象"/>
          <p:cNvSpPr>
            <a:spLocks noGrp="1" noChangeAspect="1"/>
          </p:cNvSpPr>
          <p:nvPr>
            <p:ph type="sldImg"/>
          </p:nvPr>
        </p:nvSpPr>
        <p:spPr>
          <a:xfrm rot="0">
            <a:off x="1143000" y="685800"/>
            <a:ext cx="4572000" cy="3429000"/>
          </a:xfrm>
          <a:prstGeom prst="rect"/>
          <a:noFill/>
          <a:ln w="12700" cmpd="sng" cap="flat">
            <a:solidFill>
              <a:srgbClr val="000000"/>
            </a:solidFill>
            <a:prstDash val="solid"/>
            <a:miter/>
          </a:ln>
        </p:spPr>
      </p:sp>
      <p:sp>
        <p:nvSpPr>
          <p:cNvPr id="761"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62"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98</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98</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820621277"/>
      </p:ext>
    </p:extLst>
  </p:cSld>
  <p:clrMapOvr>
    <a:masterClrMapping/>
  </p:clrMapOvr>
</p:notes>
</file>

<file path=ppt/notesSlides/notesSlide9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63" name="对象"/>
          <p:cNvSpPr>
            <a:spLocks noGrp="1" noChangeAspect="1"/>
          </p:cNvSpPr>
          <p:nvPr>
            <p:ph type="sldImg"/>
          </p:nvPr>
        </p:nvSpPr>
        <p:spPr>
          <a:xfrm rot="0">
            <a:off x="1143000" y="685800"/>
            <a:ext cx="4572000" cy="3429000"/>
          </a:xfrm>
          <a:prstGeom prst="rect"/>
          <a:noFill/>
          <a:ln w="12700" cmpd="sng" cap="flat">
            <a:noFill/>
            <a:prstDash val="solid"/>
            <a:miter/>
          </a:ln>
        </p:spPr>
      </p:sp>
      <p:sp>
        <p:nvSpPr>
          <p:cNvPr id="764" name="文本框"/>
          <p:cNvSpPr>
            <a:spLocks noGrp="1"/>
          </p:cNvSpPr>
          <p:nvPr>
            <p:ph type="body" idx="1"/>
          </p:nvPr>
        </p:nvSpPr>
        <p:spPr>
          <a:xfrm rot="0">
            <a:off x="685800" y="4343400"/>
            <a:ext cx="5486400" cy="4114800"/>
          </a:xfrm>
          <a:prstGeom prst="rect"/>
          <a:noFill/>
          <a:ln w="9525" cmpd="sng" cap="flat">
            <a:noFill/>
            <a:prstDash val="solid"/>
            <a:miter/>
          </a:ln>
        </p:spPr>
        <p:txBody>
          <a:bodyPr vert="horz" wrap="square" lIns="91440" tIns="45720" rIns="91440" bIns="45720" anchor="t" anchorCtr="0">
            <a:prstTxWarp prst="textNoShape"/>
          </a:bodyPr>
          <a:lstStyle/>
          <a:p>
            <a:endParaRPr lang="zh-CN" altLang="en-US"/>
          </a:p>
        </p:txBody>
      </p:sp>
      <p:sp>
        <p:nvSpPr>
          <p:cNvPr id="765" name="矩形"/>
          <p:cNvSpPr>
            <a:spLocks/>
          </p:cNvSpPr>
          <p:nvPr/>
        </p:nvSpPr>
        <p:spPr>
          <a:xfrm rot="0">
            <a:off x="0" y="0"/>
            <a:ext cx="0" cy="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99</a:t>
            </a:r>
            <a:endParaRPr lang="zh-CN" altLang="en-US" sz="1800">
              <a:solidFill>
                <a:schemeClr val="tx1"/>
              </a:solidFill>
              <a:latin typeface="Arial" pitchFamily="34" charset="0"/>
              <a:ea typeface="PMingLiU" pitchFamily="18" charset="-120"/>
              <a:cs typeface="新細明體" pitchFamily="18" charset="-120"/>
            </a:endParaRPr>
          </a:p>
        </p:txBody>
      </p:sp>
      <p:sp>
        <p:nvSpPr>
          <p:cNvPr id="545" name="文本框"/>
          <p:cNvSpPr>
            <a:spLocks noGrp="1"/>
          </p:cNvSpPr>
          <p:nvPr>
            <p:ph type="sldNum"/>
          </p:nvPr>
        </p:nvSpPr>
        <p:spPr>
          <a:xfrm rot="0">
            <a:off x="3884612" y="8685213"/>
            <a:ext cx="2971799" cy="457200"/>
          </a:xfrm>
          <a:prstGeom prst="rect"/>
          <a:noFill/>
          <a:ln w="9525" cmpd="sng" cap="flat">
            <a:noFill/>
            <a:prstDash val="solid"/>
            <a:miter/>
          </a:ln>
        </p:spPr>
        <p:txBody>
          <a:bodyPr vert="horz" wrap="square" lIns="91440" tIns="45720" rIns="91440" bIns="45720" anchor="b" anchorCtr="0">
            <a:prstTxWarp prst="textNoShape"/>
          </a:bodyPr>
          <a:lstStyle/>
          <a:p>
            <a:pPr marL="0" indent="0" algn="r">
              <a:buNone/>
            </a:pPr>
            <a:fld id="{CAD2D6BD-DE1B-4B5F-8B41-2702339687B9}" type="slidenum">
              <a:rPr lang="zh-CN" altLang="en-US" sz="1200">
                <a:solidFill>
                  <a:schemeClr val="tx1"/>
                </a:solidFill>
                <a:latin typeface="Arial" pitchFamily="34" charset="0"/>
                <a:ea typeface="PMingLiU" pitchFamily="18" charset="-120"/>
                <a:cs typeface="新細明體" pitchFamily="18" charset="-120"/>
              </a:rPr>
              <a:t>99</a:t>
            </a:fld>
            <a:endParaRPr lang="zh-CN" altLang="en-US" sz="1200">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532430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371600" y="3886199"/>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58392922"/>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33530110"/>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14989209"/>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360640999"/>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00095420"/>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01997115"/>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3009274"/>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93808221"/>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935044910"/>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960316126"/>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116700669"/>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371600" y="3886199"/>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582843890"/>
      </p:ext>
    </p:extLst>
  </p:cSld>
  <p:clrMapOvr>
    <a:masterClrMapping/>
  </p:clrMapOvr>
</p:sldLayout>
</file>

<file path=ppt/slideLayouts/slideLayout13.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479654826"/>
      </p:ext>
    </p:extLst>
  </p:cSld>
  <p:clrMapOvr>
    <a:masterClrMapping/>
  </p:clrMapOvr>
</p:sldLayout>
</file>

<file path=ppt/slideLayouts/slideLayout14.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12633449"/>
      </p:ext>
    </p:extLst>
  </p:cSld>
  <p:clrMapOvr>
    <a:masterClrMapping/>
  </p:clrMapOvr>
</p:sldLayout>
</file>

<file path=ppt/slideLayouts/slideLayout15.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41640583"/>
      </p:ext>
    </p:extLst>
  </p:cSld>
  <p:clrMapOvr>
    <a:masterClrMapping/>
  </p:clrMapOvr>
</p:sldLayout>
</file>

<file path=ppt/slideLayouts/slideLayout16.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55362767"/>
      </p:ext>
    </p:extLst>
  </p:cSld>
  <p:clrMapOvr>
    <a:masterClrMapping/>
  </p:clrMapOvr>
</p:sldLayout>
</file>

<file path=ppt/slideLayouts/slideLayout17.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319347099"/>
      </p:ext>
    </p:extLst>
  </p:cSld>
  <p:clrMapOvr>
    <a:masterClrMapping/>
  </p:clrMapOvr>
</p:sldLayout>
</file>

<file path=ppt/slideLayouts/slideLayout18.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534353273"/>
      </p:ext>
    </p:extLst>
  </p:cSld>
  <p:clrMapOvr>
    <a:masterClrMapping/>
  </p:clrMapOvr>
</p:sldLayout>
</file>

<file path=ppt/slideLayouts/slideLayout19.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113410077"/>
      </p:ext>
    </p:extLst>
  </p:cSld>
  <p:clrMapOvr>
    <a:masterClrMapping/>
  </p:clrMapOvr>
</p:sldLayout>
</file>

<file path=ppt/slideLayouts/slideLayout20.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36840773"/>
      </p:ext>
    </p:extLst>
  </p:cSld>
  <p:clrMapOvr>
    <a:masterClrMapping/>
  </p:clrMapOvr>
</p:sldLayout>
</file>

<file path=ppt/slideLayouts/slideLayout21.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648124681"/>
      </p:ext>
    </p:extLst>
  </p:cSld>
  <p:clrMapOvr>
    <a:masterClrMapping/>
  </p:clrMapOvr>
</p:sldLayout>
</file>

<file path=ppt/slideLayouts/slideLayout22.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48115328"/>
      </p:ext>
    </p:extLst>
  </p:cSld>
  <p:clrMapOvr>
    <a:masterClrMapping/>
  </p:clrMapOvr>
</p:sldLayout>
</file>

<file path=ppt/slideLayouts/slideLayout23.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371600" y="3886199"/>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635208867"/>
      </p:ext>
    </p:extLst>
  </p:cSld>
  <p:clrMapOvr>
    <a:masterClrMapping/>
  </p:clrMapOvr>
</p:sldLayout>
</file>

<file path=ppt/slideLayouts/slideLayout24.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090728139"/>
      </p:ext>
    </p:extLst>
  </p:cSld>
  <p:clrMapOvr>
    <a:masterClrMapping/>
  </p:clrMapOvr>
</p:sldLayout>
</file>

<file path=ppt/slideLayouts/slideLayout25.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34846428"/>
      </p:ext>
    </p:extLst>
  </p:cSld>
  <p:clrMapOvr>
    <a:masterClrMapping/>
  </p:clrMapOvr>
</p:sldLayout>
</file>

<file path=ppt/slideLayouts/slideLayout26.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48635768"/>
      </p:ext>
    </p:extLst>
  </p:cSld>
  <p:clrMapOvr>
    <a:masterClrMapping/>
  </p:clrMapOvr>
</p:sldLayout>
</file>

<file path=ppt/slideLayouts/slideLayout27.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29125877"/>
      </p:ext>
    </p:extLst>
  </p:cSld>
  <p:clrMapOvr>
    <a:masterClrMapping/>
  </p:clrMapOvr>
</p:sldLayout>
</file>

<file path=ppt/slideLayouts/slideLayout28.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450300580"/>
      </p:ext>
    </p:extLst>
  </p:cSld>
  <p:clrMapOvr>
    <a:masterClrMapping/>
  </p:clrMapOvr>
</p:sldLayout>
</file>

<file path=ppt/slideLayouts/slideLayout29.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30156594"/>
      </p:ext>
    </p:extLst>
  </p:cSld>
  <p:clrMapOvr>
    <a:masterClrMapping/>
  </p:clrMapOvr>
</p:sldLayout>
</file>

<file path=ppt/slideLayouts/slideLayout30.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459399301"/>
      </p:ext>
    </p:extLst>
  </p:cSld>
  <p:clrMapOvr>
    <a:masterClrMapping/>
  </p:clrMapOvr>
</p:sldLayout>
</file>

<file path=ppt/slideLayouts/slideLayout31.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057369134"/>
      </p:ext>
    </p:extLst>
  </p:cSld>
  <p:clrMapOvr>
    <a:masterClrMapping/>
  </p:clrMapOvr>
</p:sldLayout>
</file>

<file path=ppt/slideLayouts/slideLayout32.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494382850"/>
      </p:ext>
    </p:extLst>
  </p:cSld>
  <p:clrMapOvr>
    <a:masterClrMapping/>
  </p:clrMapOvr>
</p:sldLayout>
</file>

<file path=ppt/slideLayouts/slideLayout33.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155187562"/>
      </p:ext>
    </p:extLst>
  </p:cSld>
  <p:clrMapOvr>
    <a:masterClrMapping/>
  </p:clrMapOvr>
</p:sldLayout>
</file>

<file path=ppt/slideLayouts/slideLayout34.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371600" y="3886199"/>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54289589"/>
      </p:ext>
    </p:extLst>
  </p:cSld>
  <p:clrMapOvr>
    <a:masterClrMapping/>
  </p:clrMapOvr>
</p:sldLayout>
</file>

<file path=ppt/slideLayouts/slideLayout35.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018622594"/>
      </p:ext>
    </p:extLst>
  </p:cSld>
  <p:clrMapOvr>
    <a:masterClrMapping/>
  </p:clrMapOvr>
</p:sldLayout>
</file>

<file path=ppt/slideLayouts/slideLayout36.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02579700"/>
      </p:ext>
    </p:extLst>
  </p:cSld>
  <p:clrMapOvr>
    <a:masterClrMapping/>
  </p:clrMapOvr>
</p:sldLayout>
</file>

<file path=ppt/slideLayouts/slideLayout37.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75054971"/>
      </p:ext>
    </p:extLst>
  </p:cSld>
  <p:clrMapOvr>
    <a:masterClrMapping/>
  </p:clrMapOvr>
</p:sldLayout>
</file>

<file path=ppt/slideLayouts/slideLayout38.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64090711"/>
      </p:ext>
    </p:extLst>
  </p:cSld>
  <p:clrMapOvr>
    <a:masterClrMapping/>
  </p:clrMapOvr>
</p:sldLayout>
</file>

<file path=ppt/slideLayouts/slideLayout39.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29707299"/>
      </p:ext>
    </p:extLst>
  </p:cSld>
  <p:clrMapOvr>
    <a:masterClrMapping/>
  </p:clrMapOvr>
</p:sldLayout>
</file>

<file path=ppt/slideLayouts/slideLayout40.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738664998"/>
      </p:ext>
    </p:extLst>
  </p:cSld>
  <p:clrMapOvr>
    <a:masterClrMapping/>
  </p:clrMapOvr>
</p:sldLayout>
</file>

<file path=ppt/slideLayouts/slideLayout41.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00042767"/>
      </p:ext>
    </p:extLst>
  </p:cSld>
  <p:clrMapOvr>
    <a:masterClrMapping/>
  </p:clrMapOvr>
</p:sldLayout>
</file>

<file path=ppt/slideLayouts/slideLayout42.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69171172"/>
      </p:ext>
    </p:extLst>
  </p:cSld>
  <p:clrMapOvr>
    <a:masterClrMapping/>
  </p:clrMapOvr>
</p:sldLayout>
</file>

<file path=ppt/slideLayouts/slideLayout43.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684355332"/>
      </p:ext>
    </p:extLst>
  </p:cSld>
  <p:clrMapOvr>
    <a:masterClrMapping/>
  </p:clrMapOvr>
</p:sldLayout>
</file>

<file path=ppt/slideLayouts/slideLayout44.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81334485"/>
      </p:ext>
    </p:extLst>
  </p:cSld>
  <p:clrMapOvr>
    <a:masterClrMapping/>
  </p:clrMapOvr>
</p:sldLayout>
</file>

<file path=ppt/slideLayouts/slideLayout45.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371600" y="3886199"/>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863017933"/>
      </p:ext>
    </p:extLst>
  </p:cSld>
  <p:clrMapOvr>
    <a:masterClrMapping/>
  </p:clrMapOvr>
</p:sldLayout>
</file>

<file path=ppt/slideLayouts/slideLayout46.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130964716"/>
      </p:ext>
    </p:extLst>
  </p:cSld>
  <p:clrMapOvr>
    <a:masterClrMapping/>
  </p:clrMapOvr>
</p:sldLayout>
</file>

<file path=ppt/slideLayouts/slideLayout47.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482109766"/>
      </p:ext>
    </p:extLst>
  </p:cSld>
  <p:clrMapOvr>
    <a:masterClrMapping/>
  </p:clrMapOvr>
</p:sldLayout>
</file>

<file path=ppt/slideLayouts/slideLayout48.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59323134"/>
      </p:ext>
    </p:extLst>
  </p:cSld>
  <p:clrMapOvr>
    <a:masterClrMapping/>
  </p:clrMapOvr>
</p:sldLayout>
</file>

<file path=ppt/slideLayouts/slideLayout49.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66604080"/>
      </p:ext>
    </p:extLst>
  </p:cSld>
  <p:clrMapOvr>
    <a:masterClrMapping/>
  </p:clrMapOvr>
</p:sldLayout>
</file>

<file path=ppt/slideLayouts/slideLayout50.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691698827"/>
      </p:ext>
    </p:extLst>
  </p:cSld>
  <p:clrMapOvr>
    <a:masterClrMapping/>
  </p:clrMapOvr>
</p:sldLayout>
</file>

<file path=ppt/slideLayouts/slideLayout51.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79087364"/>
      </p:ext>
    </p:extLst>
  </p:cSld>
  <p:clrMapOvr>
    <a:masterClrMapping/>
  </p:clrMapOvr>
</p:sldLayout>
</file>

<file path=ppt/slideLayouts/slideLayout52.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472078715"/>
      </p:ext>
    </p:extLst>
  </p:cSld>
  <p:clrMapOvr>
    <a:masterClrMapping/>
  </p:clrMapOvr>
</p:sldLayout>
</file>

<file path=ppt/slideLayouts/slideLayout53.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31403095"/>
      </p:ext>
    </p:extLst>
  </p:cSld>
  <p:clrMapOvr>
    <a:masterClrMapping/>
  </p:clrMapOvr>
</p:sldLayout>
</file>

<file path=ppt/slideLayouts/slideLayout54.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89913109"/>
      </p:ext>
    </p:extLst>
  </p:cSld>
  <p:clrMapOvr>
    <a:masterClrMapping/>
  </p:clrMapOvr>
</p:sldLayout>
</file>

<file path=ppt/slideLayouts/slideLayout55.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3420631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2.jpg"/><Relationship Id="rId2" Type="http://schemas.openxmlformats.org/officeDocument/2006/relationships/image" Target="../media/3.jpg"/><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4.jpg"/><Relationship Id="rId2" Type="http://schemas.openxmlformats.org/officeDocument/2006/relationships/image" Target="../media/5.jpg"/><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slideLayout" Target="../slideLayouts/slideLayout31.xml"/><Relationship Id="rId12" Type="http://schemas.openxmlformats.org/officeDocument/2006/relationships/slideLayout" Target="../slideLayouts/slideLayout32.xml"/><Relationship Id="rId13"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6.jpg"/><Relationship Id="rId2" Type="http://schemas.openxmlformats.org/officeDocument/2006/relationships/image" Target="../media/7.jpg"/><Relationship Id="rId3" Type="http://schemas.openxmlformats.org/officeDocument/2006/relationships/slideLayout" Target="../slideLayouts/slideLayout34.xml"/><Relationship Id="rId4" Type="http://schemas.openxmlformats.org/officeDocument/2006/relationships/slideLayout" Target="../slideLayouts/slideLayout35.xml"/><Relationship Id="rId5" Type="http://schemas.openxmlformats.org/officeDocument/2006/relationships/slideLayout" Target="../slideLayouts/slideLayout36.xml"/><Relationship Id="rId6" Type="http://schemas.openxmlformats.org/officeDocument/2006/relationships/slideLayout" Target="../slideLayouts/slideLayout37.xml"/><Relationship Id="rId7" Type="http://schemas.openxmlformats.org/officeDocument/2006/relationships/slideLayout" Target="../slideLayouts/slideLayout38.xml"/><Relationship Id="rId8" Type="http://schemas.openxmlformats.org/officeDocument/2006/relationships/slideLayout" Target="../slideLayouts/slideLayout39.xml"/><Relationship Id="rId9" Type="http://schemas.openxmlformats.org/officeDocument/2006/relationships/slideLayout" Target="../slideLayouts/slideLayout40.xml"/><Relationship Id="rId10" Type="http://schemas.openxmlformats.org/officeDocument/2006/relationships/slideLayout" Target="../slideLayouts/slideLayout41.xml"/><Relationship Id="rId11" Type="http://schemas.openxmlformats.org/officeDocument/2006/relationships/slideLayout" Target="../slideLayouts/slideLayout42.xml"/><Relationship Id="rId12" Type="http://schemas.openxmlformats.org/officeDocument/2006/relationships/slideLayout" Target="../slideLayouts/slideLayout43.xml"/><Relationship Id="rId13" Type="http://schemas.openxmlformats.org/officeDocument/2006/relationships/slideLayout" Target="../slideLayouts/slideLayout44.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8.jpg"/><Relationship Id="rId2" Type="http://schemas.openxmlformats.org/officeDocument/2006/relationships/image" Target="../media/9.jpg"/><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 Id="rId9" Type="http://schemas.openxmlformats.org/officeDocument/2006/relationships/slideLayout" Target="../slideLayouts/slideLayout51.xml"/><Relationship Id="rId10" Type="http://schemas.openxmlformats.org/officeDocument/2006/relationships/slideLayout" Target="../slideLayouts/slideLayout52.xml"/><Relationship Id="rId11" Type="http://schemas.openxmlformats.org/officeDocument/2006/relationships/slideLayout" Target="../slideLayouts/slideLayout53.xml"/><Relationship Id="rId12" Type="http://schemas.openxmlformats.org/officeDocument/2006/relationships/slideLayout" Target="../slideLayouts/slideLayout54.xml"/><Relationship Id="rId13" Type="http://schemas.openxmlformats.org/officeDocument/2006/relationships/slideLayout" Target="../slideLayouts/slideLayout55.xml"/><Relationship Id="rId14" Type="http://schemas.openxmlformats.org/officeDocument/2006/relationships/theme" Target="../theme/theme5.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 name="图片" descr="1007簡報內頁.jpg"/>
          <p:cNvPicPr>
            <a:picLocks noChangeAspect="1"/>
          </p:cNvPicPr>
          <p:nvPr/>
        </p:nvPicPr>
        <p:blipFill>
          <a:blip r:embed="rId1" cstate="print"/>
          <a:stretch>
            <a:fillRect/>
          </a:stretch>
        </p:blipFill>
        <p:spPr>
          <a:xfrm rot="0">
            <a:off x="4762" y="0"/>
            <a:ext cx="9134475" cy="6858000"/>
          </a:xfrm>
          <a:prstGeom prst="rect"/>
          <a:noFill/>
          <a:ln w="9525" cmpd="sng" cap="flat">
            <a:noFill/>
            <a:prstDash val="solid"/>
            <a:miter/>
          </a:ln>
        </p:spPr>
      </p:pic>
    </p:spTree>
    <p:extLst>
      <p:ext uri="{BB962C8B-B14F-4D97-AF65-F5344CB8AC3E}">
        <p14:creationId xmlns:p14="http://schemas.microsoft.com/office/powerpoint/2010/main" val="1756258700"/>
      </p:ext>
    </p:extLst>
  </p:cSld>
  <p:clrMap bg1="lt1" tx1="dk1" bg2="lt2" tx2="dk2" accent1="accent1" accent2="accent2" accent3="accent3" accent4="accent4" accent5="accent5" accent6="accent6" hlink="hlink" folHlink="fol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xStyles>
    <p:titleStyle>
      <a:lvl1pPr marL="0" indent="0" algn="ctr" defTabSz="914400" rtl="0" eaLnBrk="0" fontAlgn="base" latinLnBrk="0" hangingPunct="0">
        <a:lnSpc>
          <a:spcPct val="100000"/>
        </a:lnSpc>
        <a:spcBef>
          <a:spcPts val="0"/>
        </a:spcBef>
        <a:spcAft>
          <a:spcPts val="0"/>
        </a:spcAft>
        <a:buNone/>
        <a:defRPr sz="4400" b="0" i="0" u="none" baseline="0">
          <a:solidFill>
            <a:schemeClr val="tx1"/>
          </a:solidFill>
          <a:latin typeface="Calibri" pitchFamily="0" charset="0"/>
          <a:ea typeface="PMingLiU" pitchFamily="18" charset="-120"/>
          <a:cs typeface="新細明體" pitchFamily="18" charset="-120"/>
        </a:defRPr>
      </a:lvl1pPr>
    </p:titleStyle>
    <p:bodyStyle>
      <a:lvl1pPr marL="342900" indent="-342900" algn="l" defTabSz="914400" rtl="0" eaLnBrk="0" fontAlgn="base" latinLnBrk="0" hangingPunct="0">
        <a:lnSpc>
          <a:spcPct val="100000"/>
        </a:lnSpc>
        <a:spcBef>
          <a:spcPct val="20000"/>
        </a:spcBef>
        <a:spcAft>
          <a:spcPts val="0"/>
        </a:spcAft>
        <a:buSzPct val="100000"/>
        <a:buFont typeface="Arial" pitchFamily="34" charset="0"/>
        <a:buChar char="•"/>
        <a:defRPr sz="3200" b="0" i="0" u="none" baseline="0">
          <a:solidFill>
            <a:schemeClr val="tx1"/>
          </a:solidFill>
          <a:latin typeface="Calibri" pitchFamily="0" charset="0"/>
          <a:ea typeface="PMingLiU" pitchFamily="18" charset="-120"/>
          <a:cs typeface="新細明體" pitchFamily="18" charset="-120"/>
        </a:defRPr>
      </a:lvl1pPr>
      <a:lvl2pPr marL="742950" indent="-285750" algn="l" defTabSz="914400" rtl="0" eaLnBrk="0" fontAlgn="base" latinLnBrk="0" hangingPunct="0">
        <a:lnSpc>
          <a:spcPct val="100000"/>
        </a:lnSpc>
        <a:spcBef>
          <a:spcPct val="20000"/>
        </a:spcBef>
        <a:spcAft>
          <a:spcPts val="0"/>
        </a:spcAft>
        <a:buSzPct val="100000"/>
        <a:buFont typeface="Arial" pitchFamily="34" charset="0"/>
        <a:buChar char="–"/>
        <a:defRPr sz="2800" b="0" i="0" u="none" baseline="0">
          <a:solidFill>
            <a:schemeClr val="tx1"/>
          </a:solidFill>
          <a:latin typeface="Calibri" pitchFamily="0" charset="0"/>
          <a:ea typeface="PMingLiU" pitchFamily="18" charset="-120"/>
          <a:cs typeface="新細明體" pitchFamily="18" charset="-120"/>
        </a:defRPr>
      </a:lvl2pPr>
      <a:lvl3pPr marL="1143000" indent="-228600" algn="l" defTabSz="914400" rtl="0" eaLnBrk="0" fontAlgn="base" latinLnBrk="0" hangingPunct="0">
        <a:lnSpc>
          <a:spcPct val="100000"/>
        </a:lnSpc>
        <a:spcBef>
          <a:spcPct val="20000"/>
        </a:spcBef>
        <a:spcAft>
          <a:spcPts val="0"/>
        </a:spcAft>
        <a:buSzPct val="100000"/>
        <a:buFont typeface="Arial" pitchFamily="34" charset="0"/>
        <a:buChar char="•"/>
        <a:defRPr sz="2400" b="0" i="0" u="none" baseline="0">
          <a:solidFill>
            <a:schemeClr val="tx1"/>
          </a:solidFill>
          <a:latin typeface="Calibri" pitchFamily="0" charset="0"/>
          <a:ea typeface="PMingLiU" pitchFamily="18" charset="-120"/>
          <a:cs typeface="新細明體" pitchFamily="18" charset="-120"/>
        </a:defRPr>
      </a:lvl3pPr>
      <a:lvl4pPr marL="16002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4pPr>
      <a:lvl5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5pPr>
      <a:lvl6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6pPr>
      <a:lvl7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7pPr>
      <a:lvl8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8pPr>
      <a:lvl9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9pPr>
    </p:bodyStyle>
  </p:txStyles>
</p:sldMaster>
</file>

<file path=ppt/slideMasters/slideMaster2.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3" name="图片" descr="1007簡報內頁.jpg"/>
          <p:cNvPicPr>
            <a:picLocks noChangeAspect="1"/>
          </p:cNvPicPr>
          <p:nvPr/>
        </p:nvPicPr>
        <p:blipFill>
          <a:blip r:embed="rId1" cstate="print"/>
          <a:stretch>
            <a:fillRect/>
          </a:stretch>
        </p:blipFill>
        <p:spPr>
          <a:xfrm rot="0">
            <a:off x="4762" y="0"/>
            <a:ext cx="9134475" cy="6858000"/>
          </a:xfrm>
          <a:prstGeom prst="rect"/>
          <a:noFill/>
          <a:ln w="9525" cmpd="sng" cap="flat">
            <a:noFill/>
            <a:prstDash val="solid"/>
            <a:miter/>
          </a:ln>
        </p:spPr>
      </p:pic>
      <p:pic>
        <p:nvPicPr>
          <p:cNvPr id="4" name="图片" descr="20110301簡報首頁_集團繁B.jpg"/>
          <p:cNvPicPr>
            <a:picLocks noChangeAspect="1"/>
          </p:cNvPicPr>
          <p:nvPr/>
        </p:nvPicPr>
        <p:blipFill>
          <a:blip r:embed="rId2" cstate="print"/>
          <a:stretch>
            <a:fillRect/>
          </a:stretch>
        </p:blipFill>
        <p:spPr>
          <a:xfrm rot="0">
            <a:off x="0" y="0"/>
            <a:ext cx="9144000" cy="6858000"/>
          </a:xfrm>
          <a:prstGeom prst="rect"/>
          <a:noFill/>
          <a:ln w="9525" cmpd="sng" cap="flat">
            <a:noFill/>
            <a:prstDash val="solid"/>
            <a:miter/>
          </a:ln>
        </p:spPr>
      </p:pic>
    </p:spTree>
    <p:extLst>
      <p:ext uri="{BB962C8B-B14F-4D97-AF65-F5344CB8AC3E}">
        <p14:creationId xmlns:p14="http://schemas.microsoft.com/office/powerpoint/2010/main" val="642979650"/>
      </p:ext>
    </p:extLst>
  </p:cSld>
  <p:clrMap bg1="lt1" tx1="dk1" bg2="lt2" tx2="dk2" accent1="accent1" accent2="accent2" accent3="accent3" accent4="accent4" accent5="accent5" accent6="accent6" hlink="hlink" folHlink="folHlink"/>
  <p:sldLayoutIdLst>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marL="0" indent="0" algn="ctr" defTabSz="914400" rtl="0" eaLnBrk="0" fontAlgn="base" latinLnBrk="0" hangingPunct="0">
        <a:lnSpc>
          <a:spcPct val="100000"/>
        </a:lnSpc>
        <a:spcBef>
          <a:spcPts val="0"/>
        </a:spcBef>
        <a:spcAft>
          <a:spcPts val="0"/>
        </a:spcAft>
        <a:buNone/>
        <a:defRPr sz="4400" b="0" i="0" u="none" baseline="0">
          <a:solidFill>
            <a:schemeClr val="tx1"/>
          </a:solidFill>
          <a:latin typeface="Calibri" pitchFamily="0" charset="0"/>
          <a:ea typeface="PMingLiU" pitchFamily="18" charset="-120"/>
          <a:cs typeface="新細明體" pitchFamily="18" charset="-120"/>
        </a:defRPr>
      </a:lvl1pPr>
    </p:titleStyle>
    <p:bodyStyle>
      <a:lvl1pPr marL="342900" indent="-342900" algn="l" defTabSz="914400" rtl="0" eaLnBrk="0" fontAlgn="base" latinLnBrk="0" hangingPunct="0">
        <a:lnSpc>
          <a:spcPct val="100000"/>
        </a:lnSpc>
        <a:spcBef>
          <a:spcPct val="20000"/>
        </a:spcBef>
        <a:spcAft>
          <a:spcPts val="0"/>
        </a:spcAft>
        <a:buSzPct val="100000"/>
        <a:buFont typeface="Arial" pitchFamily="34" charset="0"/>
        <a:buChar char="•"/>
        <a:defRPr sz="3200" b="0" i="0" u="none" baseline="0">
          <a:solidFill>
            <a:schemeClr val="tx1"/>
          </a:solidFill>
          <a:latin typeface="Calibri" pitchFamily="0" charset="0"/>
          <a:ea typeface="PMingLiU" pitchFamily="18" charset="-120"/>
          <a:cs typeface="新細明體" pitchFamily="18" charset="-120"/>
        </a:defRPr>
      </a:lvl1pPr>
      <a:lvl2pPr marL="742950" indent="-285750" algn="l" defTabSz="914400" rtl="0" eaLnBrk="0" fontAlgn="base" latinLnBrk="0" hangingPunct="0">
        <a:lnSpc>
          <a:spcPct val="100000"/>
        </a:lnSpc>
        <a:spcBef>
          <a:spcPct val="20000"/>
        </a:spcBef>
        <a:spcAft>
          <a:spcPts val="0"/>
        </a:spcAft>
        <a:buSzPct val="100000"/>
        <a:buFont typeface="Arial" pitchFamily="34" charset="0"/>
        <a:buChar char="–"/>
        <a:defRPr sz="2800" b="0" i="0" u="none" baseline="0">
          <a:solidFill>
            <a:schemeClr val="tx1"/>
          </a:solidFill>
          <a:latin typeface="Calibri" pitchFamily="0" charset="0"/>
          <a:ea typeface="PMingLiU" pitchFamily="18" charset="-120"/>
          <a:cs typeface="新細明體" pitchFamily="18" charset="-120"/>
        </a:defRPr>
      </a:lvl2pPr>
      <a:lvl3pPr marL="1143000" indent="-228600" algn="l" defTabSz="914400" rtl="0" eaLnBrk="0" fontAlgn="base" latinLnBrk="0" hangingPunct="0">
        <a:lnSpc>
          <a:spcPct val="100000"/>
        </a:lnSpc>
        <a:spcBef>
          <a:spcPct val="20000"/>
        </a:spcBef>
        <a:spcAft>
          <a:spcPts val="0"/>
        </a:spcAft>
        <a:buSzPct val="100000"/>
        <a:buFont typeface="Arial" pitchFamily="34" charset="0"/>
        <a:buChar char="•"/>
        <a:defRPr sz="2400" b="0" i="0" u="none" baseline="0">
          <a:solidFill>
            <a:schemeClr val="tx1"/>
          </a:solidFill>
          <a:latin typeface="Calibri" pitchFamily="0" charset="0"/>
          <a:ea typeface="PMingLiU" pitchFamily="18" charset="-120"/>
          <a:cs typeface="新細明體" pitchFamily="18" charset="-120"/>
        </a:defRPr>
      </a:lvl3pPr>
      <a:lvl4pPr marL="16002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4pPr>
      <a:lvl5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5pPr>
      <a:lvl6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6pPr>
      <a:lvl7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7pPr>
      <a:lvl8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8pPr>
      <a:lvl9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9pPr>
    </p:bodyStyle>
  </p:txStyles>
</p:sldMaster>
</file>

<file path=ppt/slideMasters/slideMaster3.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5" name="图片" descr="1007簡報內頁.jpg"/>
          <p:cNvPicPr>
            <a:picLocks noChangeAspect="1"/>
          </p:cNvPicPr>
          <p:nvPr/>
        </p:nvPicPr>
        <p:blipFill>
          <a:blip r:embed="rId1" cstate="print"/>
          <a:stretch>
            <a:fillRect/>
          </a:stretch>
        </p:blipFill>
        <p:spPr>
          <a:xfrm rot="0">
            <a:off x="4762" y="0"/>
            <a:ext cx="9134475" cy="6858000"/>
          </a:xfrm>
          <a:prstGeom prst="rect"/>
          <a:noFill/>
          <a:ln w="9525" cmpd="sng" cap="flat">
            <a:noFill/>
            <a:prstDash val="solid"/>
            <a:miter/>
          </a:ln>
        </p:spPr>
      </p:pic>
      <p:pic>
        <p:nvPicPr>
          <p:cNvPr id="6" name="图片" descr="簡報內頁1_鼎捷軟件B.jpg"/>
          <p:cNvPicPr>
            <a:picLocks noChangeAspect="1"/>
          </p:cNvPicPr>
          <p:nvPr/>
        </p:nvPicPr>
        <p:blipFill>
          <a:blip r:embed="rId2" cstate="print"/>
          <a:stretch>
            <a:fillRect/>
          </a:stretch>
        </p:blipFill>
        <p:spPr>
          <a:xfrm rot="0">
            <a:off x="0" y="0"/>
            <a:ext cx="9144000" cy="1584325"/>
          </a:xfrm>
          <a:prstGeom prst="rect"/>
          <a:noFill/>
          <a:ln w="9525" cmpd="sng" cap="flat">
            <a:noFill/>
            <a:prstDash val="solid"/>
            <a:miter/>
          </a:ln>
        </p:spPr>
      </p:pic>
    </p:spTree>
    <p:extLst>
      <p:ext uri="{BB962C8B-B14F-4D97-AF65-F5344CB8AC3E}">
        <p14:creationId xmlns:p14="http://schemas.microsoft.com/office/powerpoint/2010/main" val="523801195"/>
      </p:ext>
    </p:extLst>
  </p:cSld>
  <p:clrMap bg1="lt1" tx1="dk1" bg2="lt2" tx2="dk2" accent1="accent1" accent2="accent2" accent3="accent3" accent4="accent4" accent5="accent5" accent6="accent6" hlink="hlink" folHlink="folHlink"/>
  <p:sldLayoutIdLst>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Lst>
  <p:txStyles>
    <p:titleStyle>
      <a:lvl1pPr marL="0" indent="0" algn="ctr" defTabSz="914400" rtl="0" eaLnBrk="0" fontAlgn="base" latinLnBrk="0" hangingPunct="0">
        <a:lnSpc>
          <a:spcPct val="100000"/>
        </a:lnSpc>
        <a:spcBef>
          <a:spcPts val="0"/>
        </a:spcBef>
        <a:spcAft>
          <a:spcPts val="0"/>
        </a:spcAft>
        <a:buNone/>
        <a:defRPr sz="4400" b="0" i="0" u="none" baseline="0">
          <a:solidFill>
            <a:schemeClr val="tx1"/>
          </a:solidFill>
          <a:latin typeface="Calibri" pitchFamily="0" charset="0"/>
          <a:ea typeface="PMingLiU" pitchFamily="18" charset="-120"/>
          <a:cs typeface="新細明體" pitchFamily="18" charset="-120"/>
        </a:defRPr>
      </a:lvl1pPr>
    </p:titleStyle>
    <p:bodyStyle>
      <a:lvl1pPr marL="342900" indent="-342900" algn="l" defTabSz="914400" rtl="0" eaLnBrk="0" fontAlgn="base" latinLnBrk="0" hangingPunct="0">
        <a:lnSpc>
          <a:spcPct val="100000"/>
        </a:lnSpc>
        <a:spcBef>
          <a:spcPct val="20000"/>
        </a:spcBef>
        <a:spcAft>
          <a:spcPts val="0"/>
        </a:spcAft>
        <a:buSzPct val="100000"/>
        <a:buFont typeface="Arial" pitchFamily="34" charset="0"/>
        <a:buChar char="•"/>
        <a:defRPr sz="3200" b="0" i="0" u="none" baseline="0">
          <a:solidFill>
            <a:schemeClr val="tx1"/>
          </a:solidFill>
          <a:latin typeface="Calibri" pitchFamily="0" charset="0"/>
          <a:ea typeface="PMingLiU" pitchFamily="18" charset="-120"/>
          <a:cs typeface="新細明體" pitchFamily="18" charset="-120"/>
        </a:defRPr>
      </a:lvl1pPr>
      <a:lvl2pPr marL="742950" indent="-285750" algn="l" defTabSz="914400" rtl="0" eaLnBrk="0" fontAlgn="base" latinLnBrk="0" hangingPunct="0">
        <a:lnSpc>
          <a:spcPct val="100000"/>
        </a:lnSpc>
        <a:spcBef>
          <a:spcPct val="20000"/>
        </a:spcBef>
        <a:spcAft>
          <a:spcPts val="0"/>
        </a:spcAft>
        <a:buSzPct val="100000"/>
        <a:buFont typeface="Arial" pitchFamily="34" charset="0"/>
        <a:buChar char="–"/>
        <a:defRPr sz="2800" b="0" i="0" u="none" baseline="0">
          <a:solidFill>
            <a:schemeClr val="tx1"/>
          </a:solidFill>
          <a:latin typeface="Calibri" pitchFamily="0" charset="0"/>
          <a:ea typeface="PMingLiU" pitchFamily="18" charset="-120"/>
          <a:cs typeface="新細明體" pitchFamily="18" charset="-120"/>
        </a:defRPr>
      </a:lvl2pPr>
      <a:lvl3pPr marL="1143000" indent="-228600" algn="l" defTabSz="914400" rtl="0" eaLnBrk="0" fontAlgn="base" latinLnBrk="0" hangingPunct="0">
        <a:lnSpc>
          <a:spcPct val="100000"/>
        </a:lnSpc>
        <a:spcBef>
          <a:spcPct val="20000"/>
        </a:spcBef>
        <a:spcAft>
          <a:spcPts val="0"/>
        </a:spcAft>
        <a:buSzPct val="100000"/>
        <a:buFont typeface="Arial" pitchFamily="34" charset="0"/>
        <a:buChar char="•"/>
        <a:defRPr sz="2400" b="0" i="0" u="none" baseline="0">
          <a:solidFill>
            <a:schemeClr val="tx1"/>
          </a:solidFill>
          <a:latin typeface="Calibri" pitchFamily="0" charset="0"/>
          <a:ea typeface="PMingLiU" pitchFamily="18" charset="-120"/>
          <a:cs typeface="新細明體" pitchFamily="18" charset="-120"/>
        </a:defRPr>
      </a:lvl3pPr>
      <a:lvl4pPr marL="16002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4pPr>
      <a:lvl5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5pPr>
      <a:lvl6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6pPr>
      <a:lvl7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7pPr>
      <a:lvl8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8pPr>
      <a:lvl9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9pPr>
    </p:bodyStyle>
  </p:txStyles>
</p:sldMaster>
</file>

<file path=ppt/slideMasters/slideMaster4.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7" name="图片" descr="1007簡報內頁.jpg"/>
          <p:cNvPicPr>
            <a:picLocks noChangeAspect="1"/>
          </p:cNvPicPr>
          <p:nvPr/>
        </p:nvPicPr>
        <p:blipFill>
          <a:blip r:embed="rId1" cstate="print"/>
          <a:stretch>
            <a:fillRect/>
          </a:stretch>
        </p:blipFill>
        <p:spPr>
          <a:xfrm rot="0">
            <a:off x="4762" y="0"/>
            <a:ext cx="9134475" cy="6858000"/>
          </a:xfrm>
          <a:prstGeom prst="rect"/>
          <a:noFill/>
          <a:ln w="9525" cmpd="sng" cap="flat">
            <a:noFill/>
            <a:prstDash val="solid"/>
            <a:miter/>
          </a:ln>
        </p:spPr>
      </p:pic>
      <p:pic>
        <p:nvPicPr>
          <p:cNvPr id="8" name="图片" descr="簡報內頁2_鼎捷軟件B.jpg"/>
          <p:cNvPicPr>
            <a:picLocks noChangeAspect="1"/>
          </p:cNvPicPr>
          <p:nvPr/>
        </p:nvPicPr>
        <p:blipFill>
          <a:blip r:embed="rId2" cstate="print"/>
          <a:stretch>
            <a:fillRect/>
          </a:stretch>
        </p:blipFill>
        <p:spPr>
          <a:xfrm rot="0">
            <a:off x="0" y="0"/>
            <a:ext cx="9144000" cy="517525"/>
          </a:xfrm>
          <a:prstGeom prst="rect"/>
          <a:noFill/>
          <a:ln w="9525" cmpd="sng" cap="flat">
            <a:noFill/>
            <a:prstDash val="solid"/>
            <a:miter/>
          </a:ln>
        </p:spPr>
      </p:pic>
    </p:spTree>
    <p:extLst>
      <p:ext uri="{BB962C8B-B14F-4D97-AF65-F5344CB8AC3E}">
        <p14:creationId xmlns:p14="http://schemas.microsoft.com/office/powerpoint/2010/main" val="428106925"/>
      </p:ext>
    </p:extLst>
  </p:cSld>
  <p:clrMap bg1="lt1" tx1="dk1" bg2="lt2" tx2="dk2" accent1="accent1" accent2="accent2" accent3="accent3" accent4="accent4" accent5="accent5" accent6="accent6" hlink="hlink" folHlink="folHlink"/>
  <p:sldLayoutIdLst>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Lst>
  <p:txStyles>
    <p:titleStyle>
      <a:lvl1pPr marL="0" indent="0" algn="ctr" defTabSz="914400" rtl="0" eaLnBrk="0" fontAlgn="base" latinLnBrk="0" hangingPunct="0">
        <a:lnSpc>
          <a:spcPct val="100000"/>
        </a:lnSpc>
        <a:spcBef>
          <a:spcPts val="0"/>
        </a:spcBef>
        <a:spcAft>
          <a:spcPts val="0"/>
        </a:spcAft>
        <a:buNone/>
        <a:defRPr sz="4400" b="0" i="0" u="none" baseline="0">
          <a:solidFill>
            <a:schemeClr val="tx1"/>
          </a:solidFill>
          <a:latin typeface="Calibri" pitchFamily="0" charset="0"/>
          <a:ea typeface="PMingLiU" pitchFamily="18" charset="-120"/>
          <a:cs typeface="新細明體" pitchFamily="18" charset="-120"/>
        </a:defRPr>
      </a:lvl1pPr>
    </p:titleStyle>
    <p:bodyStyle>
      <a:lvl1pPr marL="342900" indent="-342900" algn="l" defTabSz="914400" rtl="0" eaLnBrk="0" fontAlgn="base" latinLnBrk="0" hangingPunct="0">
        <a:lnSpc>
          <a:spcPct val="100000"/>
        </a:lnSpc>
        <a:spcBef>
          <a:spcPct val="20000"/>
        </a:spcBef>
        <a:spcAft>
          <a:spcPts val="0"/>
        </a:spcAft>
        <a:buSzPct val="100000"/>
        <a:buFont typeface="Arial" pitchFamily="34" charset="0"/>
        <a:buChar char="•"/>
        <a:defRPr sz="3200" b="0" i="0" u="none" baseline="0">
          <a:solidFill>
            <a:schemeClr val="tx1"/>
          </a:solidFill>
          <a:latin typeface="Calibri" pitchFamily="0" charset="0"/>
          <a:ea typeface="PMingLiU" pitchFamily="18" charset="-120"/>
          <a:cs typeface="新細明體" pitchFamily="18" charset="-120"/>
        </a:defRPr>
      </a:lvl1pPr>
      <a:lvl2pPr marL="742950" indent="-285750" algn="l" defTabSz="914400" rtl="0" eaLnBrk="0" fontAlgn="base" latinLnBrk="0" hangingPunct="0">
        <a:lnSpc>
          <a:spcPct val="100000"/>
        </a:lnSpc>
        <a:spcBef>
          <a:spcPct val="20000"/>
        </a:spcBef>
        <a:spcAft>
          <a:spcPts val="0"/>
        </a:spcAft>
        <a:buSzPct val="100000"/>
        <a:buFont typeface="Arial" pitchFamily="34" charset="0"/>
        <a:buChar char="–"/>
        <a:defRPr sz="2800" b="0" i="0" u="none" baseline="0">
          <a:solidFill>
            <a:schemeClr val="tx1"/>
          </a:solidFill>
          <a:latin typeface="Calibri" pitchFamily="0" charset="0"/>
          <a:ea typeface="PMingLiU" pitchFamily="18" charset="-120"/>
          <a:cs typeface="新細明體" pitchFamily="18" charset="-120"/>
        </a:defRPr>
      </a:lvl2pPr>
      <a:lvl3pPr marL="1143000" indent="-228600" algn="l" defTabSz="914400" rtl="0" eaLnBrk="0" fontAlgn="base" latinLnBrk="0" hangingPunct="0">
        <a:lnSpc>
          <a:spcPct val="100000"/>
        </a:lnSpc>
        <a:spcBef>
          <a:spcPct val="20000"/>
        </a:spcBef>
        <a:spcAft>
          <a:spcPts val="0"/>
        </a:spcAft>
        <a:buSzPct val="100000"/>
        <a:buFont typeface="Arial" pitchFamily="34" charset="0"/>
        <a:buChar char="•"/>
        <a:defRPr sz="2400" b="0" i="0" u="none" baseline="0">
          <a:solidFill>
            <a:schemeClr val="tx1"/>
          </a:solidFill>
          <a:latin typeface="Calibri" pitchFamily="0" charset="0"/>
          <a:ea typeface="PMingLiU" pitchFamily="18" charset="-120"/>
          <a:cs typeface="新細明體" pitchFamily="18" charset="-120"/>
        </a:defRPr>
      </a:lvl3pPr>
      <a:lvl4pPr marL="16002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4pPr>
      <a:lvl5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5pPr>
      <a:lvl6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6pPr>
      <a:lvl7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7pPr>
      <a:lvl8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8pPr>
      <a:lvl9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9pPr>
    </p:bodyStyle>
  </p:txStyles>
</p:sldMaster>
</file>

<file path=ppt/slideMasters/slideMaster5.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9" name="图片" descr="1007簡報內頁.jpg"/>
          <p:cNvPicPr>
            <a:picLocks noChangeAspect="1"/>
          </p:cNvPicPr>
          <p:nvPr/>
        </p:nvPicPr>
        <p:blipFill>
          <a:blip r:embed="rId1" cstate="print"/>
          <a:stretch>
            <a:fillRect/>
          </a:stretch>
        </p:blipFill>
        <p:spPr>
          <a:xfrm rot="0">
            <a:off x="4762" y="0"/>
            <a:ext cx="9134475" cy="6858000"/>
          </a:xfrm>
          <a:prstGeom prst="rect"/>
          <a:noFill/>
          <a:ln w="9525" cmpd="sng" cap="flat">
            <a:noFill/>
            <a:prstDash val="solid"/>
            <a:miter/>
          </a:ln>
        </p:spPr>
      </p:pic>
      <p:pic>
        <p:nvPicPr>
          <p:cNvPr id="10" name="图片" descr="20110301簡報內頁2_集團繁B.jpg"/>
          <p:cNvPicPr>
            <a:picLocks noChangeAspect="1"/>
          </p:cNvPicPr>
          <p:nvPr/>
        </p:nvPicPr>
        <p:blipFill>
          <a:blip r:embed="rId2" cstate="print"/>
          <a:stretch>
            <a:fillRect/>
          </a:stretch>
        </p:blipFill>
        <p:spPr>
          <a:xfrm rot="0">
            <a:off x="0" y="0"/>
            <a:ext cx="9144000" cy="450850"/>
          </a:xfrm>
          <a:prstGeom prst="rect"/>
          <a:noFill/>
          <a:ln w="9525" cmpd="sng" cap="flat">
            <a:noFill/>
            <a:prstDash val="solid"/>
            <a:miter/>
          </a:ln>
        </p:spPr>
      </p:pic>
    </p:spTree>
    <p:extLst>
      <p:ext uri="{BB962C8B-B14F-4D97-AF65-F5344CB8AC3E}">
        <p14:creationId xmlns:p14="http://schemas.microsoft.com/office/powerpoint/2010/main" val="281254731"/>
      </p:ext>
    </p:extLst>
  </p:cSld>
  <p:clrMap bg1="lt1" tx1="dk1" bg2="lt2" tx2="dk2" accent1="accent1" accent2="accent2" accent3="accent3" accent4="accent4" accent5="accent5" accent6="accent6" hlink="hlink" folHlink="folHlink"/>
  <p:sldLayoutIdLst>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Lst>
  <p:txStyles>
    <p:titleStyle>
      <a:lvl1pPr marL="0" indent="0" algn="ctr" defTabSz="914400" rtl="0" eaLnBrk="0" fontAlgn="base" latinLnBrk="0" hangingPunct="0">
        <a:lnSpc>
          <a:spcPct val="100000"/>
        </a:lnSpc>
        <a:spcBef>
          <a:spcPts val="0"/>
        </a:spcBef>
        <a:spcAft>
          <a:spcPts val="0"/>
        </a:spcAft>
        <a:buNone/>
        <a:defRPr sz="4400" b="0" i="0" u="none" baseline="0">
          <a:solidFill>
            <a:schemeClr val="tx1"/>
          </a:solidFill>
          <a:latin typeface="Calibri" pitchFamily="0" charset="0"/>
          <a:ea typeface="PMingLiU" pitchFamily="18" charset="-120"/>
          <a:cs typeface="新細明體" pitchFamily="18" charset="-120"/>
        </a:defRPr>
      </a:lvl1pPr>
    </p:titleStyle>
    <p:bodyStyle>
      <a:lvl1pPr marL="342900" indent="-342900" algn="l" defTabSz="914400" rtl="0" eaLnBrk="0" fontAlgn="base" latinLnBrk="0" hangingPunct="0">
        <a:lnSpc>
          <a:spcPct val="100000"/>
        </a:lnSpc>
        <a:spcBef>
          <a:spcPct val="20000"/>
        </a:spcBef>
        <a:spcAft>
          <a:spcPts val="0"/>
        </a:spcAft>
        <a:buSzPct val="100000"/>
        <a:buFont typeface="Arial" pitchFamily="34" charset="0"/>
        <a:buChar char="•"/>
        <a:defRPr sz="3200" b="0" i="0" u="none" baseline="0">
          <a:solidFill>
            <a:schemeClr val="tx1"/>
          </a:solidFill>
          <a:latin typeface="Calibri" pitchFamily="0" charset="0"/>
          <a:ea typeface="PMingLiU" pitchFamily="18" charset="-120"/>
          <a:cs typeface="新細明體" pitchFamily="18" charset="-120"/>
        </a:defRPr>
      </a:lvl1pPr>
      <a:lvl2pPr marL="742950" indent="-285750" algn="l" defTabSz="914400" rtl="0" eaLnBrk="0" fontAlgn="base" latinLnBrk="0" hangingPunct="0">
        <a:lnSpc>
          <a:spcPct val="100000"/>
        </a:lnSpc>
        <a:spcBef>
          <a:spcPct val="20000"/>
        </a:spcBef>
        <a:spcAft>
          <a:spcPts val="0"/>
        </a:spcAft>
        <a:buSzPct val="100000"/>
        <a:buFont typeface="Arial" pitchFamily="34" charset="0"/>
        <a:buChar char="–"/>
        <a:defRPr sz="2800" b="0" i="0" u="none" baseline="0">
          <a:solidFill>
            <a:schemeClr val="tx1"/>
          </a:solidFill>
          <a:latin typeface="Calibri" pitchFamily="0" charset="0"/>
          <a:ea typeface="PMingLiU" pitchFamily="18" charset="-120"/>
          <a:cs typeface="新細明體" pitchFamily="18" charset="-120"/>
        </a:defRPr>
      </a:lvl2pPr>
      <a:lvl3pPr marL="1143000" indent="-228600" algn="l" defTabSz="914400" rtl="0" eaLnBrk="0" fontAlgn="base" latinLnBrk="0" hangingPunct="0">
        <a:lnSpc>
          <a:spcPct val="100000"/>
        </a:lnSpc>
        <a:spcBef>
          <a:spcPct val="20000"/>
        </a:spcBef>
        <a:spcAft>
          <a:spcPts val="0"/>
        </a:spcAft>
        <a:buSzPct val="100000"/>
        <a:buFont typeface="Arial" pitchFamily="34" charset="0"/>
        <a:buChar char="•"/>
        <a:defRPr sz="2400" b="0" i="0" u="none" baseline="0">
          <a:solidFill>
            <a:schemeClr val="tx1"/>
          </a:solidFill>
          <a:latin typeface="Calibri" pitchFamily="0" charset="0"/>
          <a:ea typeface="PMingLiU" pitchFamily="18" charset="-120"/>
          <a:cs typeface="新細明體" pitchFamily="18" charset="-120"/>
        </a:defRPr>
      </a:lvl3pPr>
      <a:lvl4pPr marL="16002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4pPr>
      <a:lvl5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5pPr>
      <a:lvl6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6pPr>
      <a:lvl7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7pPr>
      <a:lvl8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8pPr>
      <a:lvl9pPr marL="2057400" indent="-228600" algn="l" defTabSz="914400" rtl="0" eaLnBrk="0" fontAlgn="base" latinLnBrk="0" hangingPunct="0">
        <a:lnSpc>
          <a:spcPct val="100000"/>
        </a:lnSpc>
        <a:spcBef>
          <a:spcPct val="20000"/>
        </a:spcBef>
        <a:spcAft>
          <a:spcPts val="0"/>
        </a:spcAft>
        <a:buSzPct val="100000"/>
        <a:buFont typeface="Arial" pitchFamily="34" charset="0"/>
        <a:buChar char="»"/>
        <a:defRPr sz="2000" b="0" i="0" u="none" baseline="0">
          <a:solidFill>
            <a:schemeClr val="tx1"/>
          </a:solidFill>
          <a:latin typeface="Calibri" pitchFamily="0" charset="0"/>
          <a:ea typeface="PMingLiU" pitchFamily="18" charset="-120"/>
          <a:cs typeface="新細明體" pitchFamily="18" charset="-12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10.png"/><Relationship Id="rId2" Type="http://schemas.openxmlformats.org/officeDocument/2006/relationships/slideLayout" Target="../slideLayouts/slideLayout29.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11.png"/><Relationship Id="rId2" Type="http://schemas.openxmlformats.org/officeDocument/2006/relationships/slideLayout" Target="../slideLayouts/slideLayout29.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12.png"/><Relationship Id="rId2" Type="http://schemas.openxmlformats.org/officeDocument/2006/relationships/slideLayout" Target="../slideLayouts/slideLayout40.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13.png"/><Relationship Id="rId2" Type="http://schemas.openxmlformats.org/officeDocument/2006/relationships/slideLayout" Target="../slideLayouts/slideLayout29.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14.png"/><Relationship Id="rId2" Type="http://schemas.openxmlformats.org/officeDocument/2006/relationships/slideLayout" Target="../slideLayouts/slideLayout4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15.png"/><Relationship Id="rId2" Type="http://schemas.openxmlformats.org/officeDocument/2006/relationships/slideLayout" Target="../slideLayouts/slideLayout40.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16.png"/><Relationship Id="rId2" Type="http://schemas.openxmlformats.org/officeDocument/2006/relationships/slideLayout" Target="../slideLayouts/slideLayout40.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17.png"/><Relationship Id="rId2" Type="http://schemas.openxmlformats.org/officeDocument/2006/relationships/slideLayout" Target="../slideLayouts/slideLayout40.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18.png"/><Relationship Id="rId2" Type="http://schemas.openxmlformats.org/officeDocument/2006/relationships/slideLayout" Target="../slideLayouts/slideLayout40.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19.png"/><Relationship Id="rId2" Type="http://schemas.openxmlformats.org/officeDocument/2006/relationships/slideLayout" Target="../slideLayouts/slideLayout40.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20.png"/><Relationship Id="rId2" Type="http://schemas.openxmlformats.org/officeDocument/2006/relationships/slideLayout" Target="../slideLayouts/slideLayout40.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21.png"/><Relationship Id="rId2" Type="http://schemas.openxmlformats.org/officeDocument/2006/relationships/slideLayout" Target="../slideLayouts/slideLayout40.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22.png"/><Relationship Id="rId2" Type="http://schemas.openxmlformats.org/officeDocument/2006/relationships/slideLayout" Target="../slideLayouts/slideLayout40.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23.png"/><Relationship Id="rId2" Type="http://schemas.openxmlformats.org/officeDocument/2006/relationships/slideLayout" Target="../slideLayouts/slideLayout40.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24.png"/><Relationship Id="rId2" Type="http://schemas.openxmlformats.org/officeDocument/2006/relationships/slideLayout" Target="../slideLayouts/slideLayout40.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25.png"/><Relationship Id="rId2" Type="http://schemas.openxmlformats.org/officeDocument/2006/relationships/slideLayout" Target="../slideLayouts/slideLayout40.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26.png"/><Relationship Id="rId2" Type="http://schemas.openxmlformats.org/officeDocument/2006/relationships/slideLayout" Target="../slideLayouts/slideLayout29.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27.png"/><Relationship Id="rId2" Type="http://schemas.openxmlformats.org/officeDocument/2006/relationships/slideLayout" Target="../slideLayouts/slideLayout40.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28.png"/><Relationship Id="rId2" Type="http://schemas.openxmlformats.org/officeDocument/2006/relationships/slideLayout" Target="../slideLayouts/slideLayout40.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29.png"/><Relationship Id="rId2" Type="http://schemas.openxmlformats.org/officeDocument/2006/relationships/slideLayout" Target="../slideLayouts/slideLayout40.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30.png"/><Relationship Id="rId2" Type="http://schemas.openxmlformats.org/officeDocument/2006/relationships/slideLayout" Target="../slideLayouts/slideLayout40.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31.png"/><Relationship Id="rId2" Type="http://schemas.openxmlformats.org/officeDocument/2006/relationships/image" Target="../media/32.png"/><Relationship Id="rId3" Type="http://schemas.openxmlformats.org/officeDocument/2006/relationships/slideLayout" Target="../slideLayouts/slideLayout5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33.png"/><Relationship Id="rId2" Type="http://schemas.openxmlformats.org/officeDocument/2006/relationships/slideLayout" Target="../slideLayouts/slideLayout40.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34.png"/><Relationship Id="rId2" Type="http://schemas.openxmlformats.org/officeDocument/2006/relationships/slideLayout" Target="../slideLayouts/slideLayout40.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35.png"/><Relationship Id="rId2" Type="http://schemas.openxmlformats.org/officeDocument/2006/relationships/slideLayout" Target="../slideLayouts/slideLayout40.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36.png"/><Relationship Id="rId2" Type="http://schemas.openxmlformats.org/officeDocument/2006/relationships/slideLayout" Target="../slideLayouts/slideLayout40.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37.png"/><Relationship Id="rId2" Type="http://schemas.openxmlformats.org/officeDocument/2006/relationships/slideLayout" Target="../slideLayouts/slideLayout40.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38.png"/><Relationship Id="rId2" Type="http://schemas.openxmlformats.org/officeDocument/2006/relationships/slideLayout" Target="../slideLayouts/slideLayout40.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39.png"/><Relationship Id="rId2" Type="http://schemas.openxmlformats.org/officeDocument/2006/relationships/slideLayout" Target="../slideLayouts/slideLayout40.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40.png"/><Relationship Id="rId2" Type="http://schemas.openxmlformats.org/officeDocument/2006/relationships/slideLayout" Target="../slideLayouts/slideLayout40.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41.png"/><Relationship Id="rId2" Type="http://schemas.openxmlformats.org/officeDocument/2006/relationships/slideLayout" Target="../slideLayouts/slideLayout40.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42.png"/><Relationship Id="rId2" Type="http://schemas.openxmlformats.org/officeDocument/2006/relationships/slideLayout" Target="../slideLayouts/slideLayout40.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43.png"/><Relationship Id="rId2" Type="http://schemas.openxmlformats.org/officeDocument/2006/relationships/slideLayout" Target="../slideLayouts/slideLayout40.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44.png"/><Relationship Id="rId2" Type="http://schemas.openxmlformats.org/officeDocument/2006/relationships/slideLayout" Target="../slideLayouts/slideLayout40.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45.png"/><Relationship Id="rId2" Type="http://schemas.openxmlformats.org/officeDocument/2006/relationships/slideLayout" Target="../slideLayouts/slideLayout40.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46.png"/><Relationship Id="rId2" Type="http://schemas.openxmlformats.org/officeDocument/2006/relationships/slideLayout" Target="../slideLayouts/slideLayout40.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47.png"/><Relationship Id="rId2" Type="http://schemas.openxmlformats.org/officeDocument/2006/relationships/slideLayout" Target="../slideLayouts/slideLayout40.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48.png"/><Relationship Id="rId2" Type="http://schemas.openxmlformats.org/officeDocument/2006/relationships/slideLayout" Target="../slideLayouts/slideLayout40.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49.png"/><Relationship Id="rId2" Type="http://schemas.openxmlformats.org/officeDocument/2006/relationships/slideLayout" Target="../slideLayouts/slideLayout40.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50.png"/><Relationship Id="rId2" Type="http://schemas.openxmlformats.org/officeDocument/2006/relationships/slideLayout" Target="../slideLayouts/slideLayout40.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51.png"/><Relationship Id="rId2" Type="http://schemas.openxmlformats.org/officeDocument/2006/relationships/slideLayout" Target="../slideLayouts/slideLayout40.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52.png"/><Relationship Id="rId2" Type="http://schemas.openxmlformats.org/officeDocument/2006/relationships/slideLayout" Target="../slideLayouts/slideLayout40.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53.png"/><Relationship Id="rId2" Type="http://schemas.openxmlformats.org/officeDocument/2006/relationships/slideLayout" Target="../slideLayouts/slideLayout5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54.png"/><Relationship Id="rId2" Type="http://schemas.openxmlformats.org/officeDocument/2006/relationships/slideLayout" Target="../slideLayouts/slideLayout5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55.png"/><Relationship Id="rId2" Type="http://schemas.openxmlformats.org/officeDocument/2006/relationships/slideLayout" Target="../slideLayouts/slideLayout5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56.png"/><Relationship Id="rId2" Type="http://schemas.openxmlformats.org/officeDocument/2006/relationships/slideLayout" Target="../slideLayouts/slideLayout40.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57.png"/><Relationship Id="rId2" Type="http://schemas.openxmlformats.org/officeDocument/2006/relationships/image" Target="../media/58.png"/><Relationship Id="rId3" Type="http://schemas.openxmlformats.org/officeDocument/2006/relationships/slideLayout" Target="../slideLayouts/slideLayout40.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59.png"/><Relationship Id="rId2" Type="http://schemas.openxmlformats.org/officeDocument/2006/relationships/image" Target="../media/60.png"/><Relationship Id="rId3" Type="http://schemas.openxmlformats.org/officeDocument/2006/relationships/slideLayout" Target="../slideLayouts/slideLayout40.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61.png"/><Relationship Id="rId2" Type="http://schemas.openxmlformats.org/officeDocument/2006/relationships/image" Target="../media/62.png"/><Relationship Id="rId3" Type="http://schemas.openxmlformats.org/officeDocument/2006/relationships/slideLayout" Target="../slideLayouts/slideLayout40.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63.png"/><Relationship Id="rId2" Type="http://schemas.openxmlformats.org/officeDocument/2006/relationships/image" Target="../media/64.png"/><Relationship Id="rId3" Type="http://schemas.openxmlformats.org/officeDocument/2006/relationships/slideLayout" Target="../slideLayouts/slideLayout40.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65.png"/><Relationship Id="rId2" Type="http://schemas.openxmlformats.org/officeDocument/2006/relationships/image" Target="../media/66.png"/><Relationship Id="rId3" Type="http://schemas.openxmlformats.org/officeDocument/2006/relationships/image" Target="../media/67.png"/><Relationship Id="rId4" Type="http://schemas.openxmlformats.org/officeDocument/2006/relationships/slideLayout" Target="../slideLayouts/slideLayout40.xml"/><Relationship Id="rId5"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68.png"/><Relationship Id="rId2" Type="http://schemas.openxmlformats.org/officeDocument/2006/relationships/slideLayout" Target="../slideLayouts/slideLayout5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69.png"/><Relationship Id="rId2" Type="http://schemas.openxmlformats.org/officeDocument/2006/relationships/slideLayout" Target="../slideLayouts/slideLayout40.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70.png"/><Relationship Id="rId2" Type="http://schemas.openxmlformats.org/officeDocument/2006/relationships/image" Target="../media/71.png"/><Relationship Id="rId3" Type="http://schemas.openxmlformats.org/officeDocument/2006/relationships/slideLayout" Target="../slideLayouts/slideLayout40.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72.png"/><Relationship Id="rId2" Type="http://schemas.openxmlformats.org/officeDocument/2006/relationships/image" Target="../media/73.png"/><Relationship Id="rId3" Type="http://schemas.openxmlformats.org/officeDocument/2006/relationships/slideLayout" Target="../slideLayouts/slideLayout40.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74.png"/><Relationship Id="rId2" Type="http://schemas.openxmlformats.org/officeDocument/2006/relationships/image" Target="../media/75.png"/><Relationship Id="rId3" Type="http://schemas.openxmlformats.org/officeDocument/2006/relationships/slideLayout" Target="../slideLayouts/slideLayout40.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76.png"/><Relationship Id="rId2" Type="http://schemas.openxmlformats.org/officeDocument/2006/relationships/image" Target="../media/77.png"/><Relationship Id="rId3" Type="http://schemas.openxmlformats.org/officeDocument/2006/relationships/slideLayout" Target="../slideLayouts/slideLayout40.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78.png"/><Relationship Id="rId2" Type="http://schemas.openxmlformats.org/officeDocument/2006/relationships/image" Target="../media/79.png"/><Relationship Id="rId3" Type="http://schemas.openxmlformats.org/officeDocument/2006/relationships/image" Target="../media/80.png"/><Relationship Id="rId4" Type="http://schemas.openxmlformats.org/officeDocument/2006/relationships/slideLayout" Target="../slideLayouts/slideLayout40.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81.png"/><Relationship Id="rId2" Type="http://schemas.openxmlformats.org/officeDocument/2006/relationships/slideLayout" Target="../slideLayouts/slideLayout29.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82.png"/><Relationship Id="rId2" Type="http://schemas.openxmlformats.org/officeDocument/2006/relationships/slideLayout" Target="../slideLayouts/slideLayout40.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83.png"/><Relationship Id="rId2" Type="http://schemas.openxmlformats.org/officeDocument/2006/relationships/image" Target="../media/84.png"/><Relationship Id="rId3" Type="http://schemas.openxmlformats.org/officeDocument/2006/relationships/image" Target="../media/85.png"/><Relationship Id="rId4" Type="http://schemas.openxmlformats.org/officeDocument/2006/relationships/slideLayout" Target="../slideLayouts/slideLayout40.xml"/><Relationship Id="rId5"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86.png"/><Relationship Id="rId2" Type="http://schemas.openxmlformats.org/officeDocument/2006/relationships/slideLayout" Target="../slideLayouts/slideLayout40.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87.png"/><Relationship Id="rId2" Type="http://schemas.openxmlformats.org/officeDocument/2006/relationships/slideLayout" Target="../slideLayouts/slideLayout40.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88.png"/><Relationship Id="rId2" Type="http://schemas.openxmlformats.org/officeDocument/2006/relationships/slideLayout" Target="../slideLayouts/slideLayout40.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89.png"/><Relationship Id="rId2" Type="http://schemas.openxmlformats.org/officeDocument/2006/relationships/slideLayout" Target="../slideLayouts/slideLayout40.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90.png"/><Relationship Id="rId2" Type="http://schemas.openxmlformats.org/officeDocument/2006/relationships/slideLayout" Target="../slideLayouts/slideLayout29.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91.png"/><Relationship Id="rId2" Type="http://schemas.openxmlformats.org/officeDocument/2006/relationships/slideLayout" Target="../slideLayouts/slideLayout29.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92.png"/><Relationship Id="rId2" Type="http://schemas.openxmlformats.org/officeDocument/2006/relationships/slideLayout" Target="../slideLayouts/slideLayout51.xml"/><Relationship Id="rId3" Type="http://schemas.openxmlformats.org/officeDocument/2006/relationships/notesSlide" Target="../notesSlides/notesSlide99.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1" name="矩形"/>
          <p:cNvSpPr>
            <a:spLocks/>
          </p:cNvSpPr>
          <p:nvPr/>
        </p:nvSpPr>
        <p:spPr>
          <a:xfrm rot="0">
            <a:off x="2565400" y="1909762"/>
            <a:ext cx="6578600" cy="101599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6000">
                <a:solidFill>
                  <a:schemeClr val="bg1"/>
                </a:solidFill>
                <a:latin typeface="Microsoft JhengHei" pitchFamily="34" charset="-120"/>
                <a:ea typeface="Microsoft JhengHei" pitchFamily="34" charset="-120"/>
                <a:cs typeface="新細明體" pitchFamily="18" charset="-120"/>
              </a:rPr>
              <a:t>工艺管理</a:t>
            </a:r>
            <a:endParaRPr lang="zh-CN" altLang="en-US" sz="6000">
              <a:solidFill>
                <a:schemeClr val="bg1"/>
              </a:solidFill>
              <a:latin typeface="Microsoft JhengHei" pitchFamily="34" charset="-120"/>
              <a:ea typeface="Microsoft JhengHei" pitchFamily="34" charset="-120"/>
              <a:cs typeface="新細明體" pitchFamily="18" charset="-120"/>
            </a:endParaRPr>
          </a:p>
        </p:txBody>
      </p:sp>
      <p:sp>
        <p:nvSpPr>
          <p:cNvPr id="12" name="矩形"/>
          <p:cNvSpPr>
            <a:spLocks/>
          </p:cNvSpPr>
          <p:nvPr/>
        </p:nvSpPr>
        <p:spPr>
          <a:xfrm rot="0">
            <a:off x="2627312" y="4508500"/>
            <a:ext cx="1211262" cy="400050"/>
          </a:xfrm>
          <a:prstGeom prst="rect"/>
          <a:noFill/>
          <a:ln w="9525" cmpd="sng" cap="flat">
            <a:noFill/>
            <a:prstDash val="solid"/>
            <a:miter/>
          </a:ln>
        </p:spPr>
        <p:txBody>
          <a:bodyPr vert="horz" wrap="none" lIns="91440" tIns="45720" rIns="91440" bIns="45720" anchor="t" anchorCtr="0">
            <a:prstTxWarp prst="textNoShape"/>
          </a:bodyPr>
          <a:lstStyle/>
          <a:p>
            <a:pPr marL="0" indent="0" algn="l">
              <a:lnSpc>
                <a:spcPct val="100000"/>
              </a:lnSpc>
              <a:spcBef>
                <a:spcPts val="300"/>
              </a:spcBef>
              <a:spcAft>
                <a:spcPts val="0"/>
              </a:spcAft>
              <a:buNone/>
            </a:pPr>
            <a:r>
              <a:rPr lang="zh-CN" altLang="en-US" sz="2000">
                <a:solidFill>
                  <a:schemeClr val="tx1"/>
                </a:solidFill>
                <a:latin typeface="Microsoft JhengHei" pitchFamily="34" charset="-120"/>
                <a:ea typeface="Microsoft JhengHei" pitchFamily="34" charset="-120"/>
                <a:cs typeface="新細明體" pitchFamily="18" charset="-120"/>
              </a:rPr>
              <a:t>鼎捷</a:t>
            </a:r>
            <a:r>
              <a:rPr lang="zh-CN" altLang="en-US" sz="2000">
                <a:solidFill>
                  <a:schemeClr val="tx1"/>
                </a:solidFill>
                <a:latin typeface="Microsoft JhengHei" pitchFamily="34" charset="-120"/>
                <a:ea typeface="Microsoft JhengHei" pitchFamily="34" charset="-120"/>
                <a:cs typeface="新細明體" pitchFamily="18" charset="-120"/>
              </a:rPr>
              <a:t>软件</a:t>
            </a:r>
            <a:endParaRPr lang="zh-CN" altLang="en-US" sz="1600">
              <a:solidFill>
                <a:schemeClr val="tx1"/>
              </a:solidFill>
              <a:latin typeface="Microsoft JhengHei" pitchFamily="34" charset="-120"/>
              <a:ea typeface="Microsoft JhengHei" pitchFamily="34" charset="-120"/>
              <a:cs typeface="新細明體" pitchFamily="18" charset="-120"/>
            </a:endParaRPr>
          </a:p>
        </p:txBody>
      </p:sp>
    </p:spTree>
    <p:extLst>
      <p:ext uri="{BB962C8B-B14F-4D97-AF65-F5344CB8AC3E}">
        <p14:creationId xmlns:p14="http://schemas.microsoft.com/office/powerpoint/2010/main" val="967275777"/>
      </p:ext>
    </p:extLst>
  </p:cSld>
  <p:clrMapOvr>
    <a:masterClrMapping/>
  </p:clrMapOvr>
  <p:transition/>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 name="矩形"/>
          <p:cNvSpPr>
            <a:spLocks/>
          </p:cNvSpPr>
          <p:nvPr/>
        </p:nvSpPr>
        <p:spPr>
          <a:xfrm rot="0">
            <a:off x="1908175" y="665162"/>
            <a:ext cx="7235824"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3600">
                <a:solidFill>
                  <a:schemeClr val="bg1"/>
                </a:solidFill>
                <a:latin typeface="Microsoft JhengHei" pitchFamily="34" charset="-120"/>
                <a:ea typeface="Microsoft JhengHei" pitchFamily="34" charset="-120"/>
                <a:cs typeface="新細明體" pitchFamily="18" charset="-120"/>
              </a:rPr>
              <a:t>内容大纲</a:t>
            </a:r>
            <a:endParaRPr lang="zh-CN" altLang="en-US" sz="3600">
              <a:solidFill>
                <a:schemeClr val="bg1"/>
              </a:solidFill>
              <a:latin typeface="Microsoft JhengHei" pitchFamily="34" charset="-120"/>
              <a:ea typeface="Microsoft JhengHei" pitchFamily="34" charset="-120"/>
              <a:cs typeface="新細明體" pitchFamily="18" charset="-120"/>
            </a:endParaRPr>
          </a:p>
        </p:txBody>
      </p:sp>
      <p:sp>
        <p:nvSpPr>
          <p:cNvPr id="14" name="矩形"/>
          <p:cNvSpPr>
            <a:spLocks/>
          </p:cNvSpPr>
          <p:nvPr/>
        </p:nvSpPr>
        <p:spPr>
          <a:xfrm rot="0">
            <a:off x="539750" y="1773237"/>
            <a:ext cx="8135937" cy="4751387"/>
          </a:xfrm>
          <a:prstGeom prst="rect"/>
          <a:noFill/>
          <a:ln w="25400" cmpd="sng" cap="flat">
            <a:solidFill>
              <a:srgbClr val="CE3428"/>
            </a:solidFill>
            <a:prstDash val="sysDot"/>
            <a:miter/>
          </a:ln>
        </p:spPr>
      </p:sp>
      <p:pic>
        <p:nvPicPr>
          <p:cNvPr id="15" name="图片" descr="數字價值_P.png"/>
          <p:cNvPicPr>
            <a:picLocks noChangeAspect="1"/>
          </p:cNvPicPr>
          <p:nvPr/>
        </p:nvPicPr>
        <p:blipFill>
          <a:blip r:embed="rId1" cstate="print"/>
          <a:stretch>
            <a:fillRect/>
          </a:stretch>
        </p:blipFill>
        <p:spPr>
          <a:xfrm rot="0">
            <a:off x="4787900" y="4652962"/>
            <a:ext cx="3268662" cy="720725"/>
          </a:xfrm>
          <a:prstGeom prst="rect"/>
          <a:noFill/>
          <a:ln w="9525" cmpd="sng" cap="flat">
            <a:noFill/>
            <a:prstDash val="solid"/>
            <a:miter/>
          </a:ln>
        </p:spPr>
      </p:pic>
      <p:sp>
        <p:nvSpPr>
          <p:cNvPr id="16" name="矩形"/>
          <p:cNvSpPr>
            <a:spLocks/>
          </p:cNvSpPr>
          <p:nvPr/>
        </p:nvSpPr>
        <p:spPr>
          <a:xfrm rot="0">
            <a:off x="1071562" y="1928812"/>
            <a:ext cx="6215062" cy="3108325"/>
          </a:xfrm>
          <a:prstGeom prst="rect"/>
          <a:noFill/>
          <a:ln w="9525" cmpd="sng" cap="flat">
            <a:noFill/>
            <a:prstDash val="solid"/>
            <a:miter/>
          </a:ln>
        </p:spPr>
        <p:txBody>
          <a:bodyPr vert="horz" wrap="square" lIns="91440" tIns="45720" rIns="91440" bIns="45720" anchor="t" anchorCtr="0">
            <a:prstTxWarp prst="textNoShape"/>
          </a:bodyPr>
          <a:lstStyle/>
          <a:p>
            <a:pPr lvl="1" marL="457200" indent="0" algn="l">
              <a:lnSpc>
                <a:spcPct val="100000"/>
              </a:lnSpc>
              <a:spcBef>
                <a:spcPts val="0"/>
              </a:spcBef>
              <a:spcAft>
                <a:spcPts val="0"/>
              </a:spcAft>
              <a:buSzPct val="100000"/>
              <a:buFont typeface="Wingdings" pitchFamily="2" charset="2"/>
              <a:buChar char="n"/>
            </a:pPr>
            <a:r>
              <a:rPr lang="zh-CN" altLang="en-US" sz="2800">
                <a:solidFill>
                  <a:srgbClr val="538ED5"/>
                </a:solidFill>
                <a:latin typeface="黑体" pitchFamily="2" charset="-122"/>
                <a:ea typeface="黑体" pitchFamily="2" charset="-122"/>
                <a:cs typeface="新細明體" pitchFamily="18" charset="-120"/>
              </a:rPr>
              <a:t>系统概述</a:t>
            </a:r>
            <a:endParaRPr lang="zh-CN" altLang="en-US" sz="2800">
              <a:solidFill>
                <a:srgbClr val="538ED5"/>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系统主</a:t>
            </a:r>
            <a:r>
              <a:rPr lang="zh-CN" altLang="en-US" sz="2800">
                <a:solidFill>
                  <a:srgbClr val="0D0D0D"/>
                </a:solidFill>
                <a:latin typeface="黑体" pitchFamily="2" charset="-122"/>
                <a:ea typeface="黑体" pitchFamily="2" charset="-122"/>
                <a:cs typeface="新細明體" pitchFamily="18" charset="-120"/>
              </a:rPr>
              <a:t>作业</a:t>
            </a:r>
            <a:r>
              <a:rPr lang="zh-CN" altLang="en-US" sz="2800">
                <a:solidFill>
                  <a:srgbClr val="0D0D0D"/>
                </a:solidFill>
                <a:latin typeface="黑体" pitchFamily="2" charset="-122"/>
                <a:ea typeface="黑体" pitchFamily="2" charset="-122"/>
                <a:cs typeface="新細明體" pitchFamily="18" charset="-120"/>
              </a:rPr>
              <a:t>流程说明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基础资料准备</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日常作业操作</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管理报表应用说明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期初开账资料准备说明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实例操作讲解</a:t>
            </a:r>
            <a:endParaRPr lang="zh-CN" altLang="en-US" sz="2800">
              <a:solidFill>
                <a:srgbClr val="0D0D0D"/>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1908241110"/>
      </p:ext>
    </p:extLst>
  </p:cSld>
  <p:clrMapOvr>
    <a:masterClrMapping/>
  </p:clrMapOvr>
  <p:transition/>
</p:sld>
</file>

<file path=ppt/slides/slide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系统概述</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18" name="矩形"/>
          <p:cNvSpPr>
            <a:spLocks/>
          </p:cNvSpPr>
          <p:nvPr/>
        </p:nvSpPr>
        <p:spPr>
          <a:xfrm rot="0">
            <a:off x="515937" y="1484312"/>
            <a:ext cx="8135937" cy="5040312"/>
          </a:xfrm>
          <a:prstGeom prst="rect"/>
          <a:noFill/>
          <a:ln w="25400" cmpd="sng" cap="flat">
            <a:solidFill>
              <a:srgbClr val="CE3428"/>
            </a:solidFill>
            <a:prstDash val="sysDot"/>
            <a:miter/>
          </a:ln>
        </p:spPr>
      </p:sp>
      <p:sp>
        <p:nvSpPr>
          <p:cNvPr id="19" name="矩形"/>
          <p:cNvSpPr>
            <a:spLocks/>
          </p:cNvSpPr>
          <p:nvPr/>
        </p:nvSpPr>
        <p:spPr>
          <a:xfrm rot="0">
            <a:off x="944562" y="1557337"/>
            <a:ext cx="7056437" cy="181609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SzPct val="100000"/>
              <a:buFont typeface="Wingdings" pitchFamily="2" charset="2"/>
              <a:buChar char="u"/>
            </a:pPr>
            <a:r>
              <a:rPr lang="zh-CN" altLang="en-US" sz="2800">
                <a:solidFill>
                  <a:schemeClr val="tx1"/>
                </a:solidFill>
                <a:latin typeface="Microsoft JhengHei" pitchFamily="34" charset="-120"/>
                <a:ea typeface="Microsoft JhengHei" pitchFamily="34" charset="-120"/>
                <a:cs typeface="新細明體" pitchFamily="18" charset="-120"/>
              </a:rPr>
              <a:t>系统目的</a:t>
            </a:r>
            <a:endParaRPr lang="zh-CN" altLang="en-US" sz="2800">
              <a:solidFill>
                <a:schemeClr val="tx1"/>
              </a:solidFill>
              <a:latin typeface="Microsoft JhengHei" pitchFamily="34" charset="-120"/>
              <a:ea typeface="Microsoft JhengHei" pitchFamily="34" charset="-120"/>
              <a:cs typeface="新細明體" pitchFamily="18" charset="-120"/>
            </a:endParaRPr>
          </a:p>
          <a:p>
            <a:pPr marL="0" indent="0" algn="l">
              <a:lnSpc>
                <a:spcPct val="100000"/>
              </a:lnSpc>
              <a:spcBef>
                <a:spcPts val="0"/>
              </a:spcBef>
              <a:spcAft>
                <a:spcPts val="0"/>
              </a:spcAft>
              <a:buSzPct val="100000"/>
              <a:buFont typeface="Wingdings" pitchFamily="2" charset="2"/>
              <a:buChar char="u"/>
            </a:pPr>
            <a:r>
              <a:rPr lang="zh-CN" altLang="en-US" sz="2800">
                <a:solidFill>
                  <a:schemeClr val="tx1"/>
                </a:solidFill>
                <a:latin typeface="Microsoft JhengHei" pitchFamily="34" charset="-120"/>
                <a:ea typeface="Microsoft JhengHei" pitchFamily="34" charset="-120"/>
                <a:cs typeface="新細明體" pitchFamily="18" charset="-120"/>
              </a:rPr>
              <a:t>系统特色</a:t>
            </a:r>
            <a:endParaRPr lang="zh-CN" altLang="en-US" sz="2800">
              <a:solidFill>
                <a:schemeClr val="tx1"/>
              </a:solidFill>
              <a:latin typeface="Microsoft JhengHei" pitchFamily="34" charset="-120"/>
              <a:ea typeface="Microsoft JhengHei" pitchFamily="34" charset="-120"/>
              <a:cs typeface="新細明體" pitchFamily="18" charset="-120"/>
            </a:endParaRPr>
          </a:p>
          <a:p>
            <a:pPr marL="0" indent="0" algn="l">
              <a:lnSpc>
                <a:spcPct val="100000"/>
              </a:lnSpc>
              <a:spcBef>
                <a:spcPts val="0"/>
              </a:spcBef>
              <a:spcAft>
                <a:spcPts val="0"/>
              </a:spcAft>
              <a:buSzPct val="100000"/>
              <a:buFont typeface="Wingdings" pitchFamily="2" charset="2"/>
              <a:buChar char="u"/>
            </a:pPr>
            <a:r>
              <a:rPr lang="zh-CN" altLang="en-US" sz="2800">
                <a:solidFill>
                  <a:schemeClr val="tx1"/>
                </a:solidFill>
                <a:latin typeface="Microsoft JhengHei" pitchFamily="34" charset="-120"/>
                <a:ea typeface="Microsoft JhengHei" pitchFamily="34" charset="-120"/>
                <a:cs typeface="新細明體" pitchFamily="18" charset="-120"/>
              </a:rPr>
              <a:t>系统关联说明</a:t>
            </a:r>
            <a:endParaRPr lang="zh-CN" altLang="en-US" sz="2800">
              <a:solidFill>
                <a:schemeClr val="tx1"/>
              </a:solidFill>
              <a:latin typeface="Microsoft JhengHei" pitchFamily="34" charset="-120"/>
              <a:ea typeface="Microsoft JhengHei" pitchFamily="34" charset="-120"/>
              <a:cs typeface="新細明體" pitchFamily="18" charset="-120"/>
            </a:endParaRPr>
          </a:p>
          <a:p>
            <a:pPr marL="0" indent="0" algn="l">
              <a:lnSpc>
                <a:spcPct val="100000"/>
              </a:lnSpc>
              <a:spcBef>
                <a:spcPts val="0"/>
              </a:spcBef>
              <a:spcAft>
                <a:spcPts val="0"/>
              </a:spcAft>
              <a:buSzPct val="100000"/>
              <a:buFont typeface="Wingdings" pitchFamily="2" charset="2"/>
              <a:buChar char="u"/>
            </a:pPr>
            <a:r>
              <a:rPr lang="zh-CN" altLang="en-US" sz="2800">
                <a:solidFill>
                  <a:schemeClr val="tx1"/>
                </a:solidFill>
                <a:latin typeface="Microsoft JhengHei" pitchFamily="34" charset="-120"/>
                <a:ea typeface="Microsoft JhengHei" pitchFamily="34" charset="-120"/>
                <a:cs typeface="新細明體" pitchFamily="18" charset="-120"/>
              </a:rPr>
              <a:t>系统应用前提</a:t>
            </a:r>
            <a:endParaRPr lang="zh-CN" altLang="en-US" sz="2800">
              <a:solidFill>
                <a:schemeClr val="tx1"/>
              </a:solidFill>
              <a:latin typeface="Microsoft JhengHei" pitchFamily="34" charset="-120"/>
              <a:ea typeface="Microsoft JhengHei" pitchFamily="34" charset="-120"/>
              <a:cs typeface="新細明體" pitchFamily="18" charset="-120"/>
            </a:endParaRPr>
          </a:p>
        </p:txBody>
      </p:sp>
    </p:spTree>
    <p:extLst>
      <p:ext uri="{BB962C8B-B14F-4D97-AF65-F5344CB8AC3E}">
        <p14:creationId xmlns:p14="http://schemas.microsoft.com/office/powerpoint/2010/main" val="1385199313"/>
      </p:ext>
    </p:extLst>
  </p:cSld>
  <p:clrMapOvr>
    <a:masterClrMapping/>
  </p:clrMapOvr>
  <p:transition/>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0"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系统</a:t>
            </a:r>
            <a:r>
              <a:rPr lang="zh-CN" altLang="en-US" sz="3600" b="1">
                <a:solidFill>
                  <a:schemeClr val="tx1"/>
                </a:solidFill>
                <a:latin typeface="Microsoft JhengHei" pitchFamily="34" charset="-120"/>
                <a:ea typeface="Microsoft JhengHei" pitchFamily="34" charset="-120"/>
                <a:cs typeface="新細明體" pitchFamily="18" charset="-120"/>
              </a:rPr>
              <a:t>目的</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21" name="矩形"/>
          <p:cNvSpPr>
            <a:spLocks/>
          </p:cNvSpPr>
          <p:nvPr/>
        </p:nvSpPr>
        <p:spPr>
          <a:xfrm rot="0">
            <a:off x="571500" y="2092325"/>
            <a:ext cx="8072437" cy="503237"/>
          </a:xfrm>
          <a:prstGeom prst="rect"/>
          <a:solidFill>
            <a:srgbClr val="FFFFFF">
              <a:alpha val="90000"/>
            </a:srgbClr>
          </a:solidFill>
          <a:ln w="25400" cmpd="sng" cap="flat">
            <a:solidFill>
              <a:srgbClr val="C0514E"/>
            </a:solidFill>
            <a:prstDash val="solid"/>
            <a:miter/>
          </a:ln>
        </p:spPr>
      </p:sp>
      <p:sp>
        <p:nvSpPr>
          <p:cNvPr id="22" name="圆角矩形"/>
          <p:cNvSpPr>
            <a:spLocks/>
          </p:cNvSpPr>
          <p:nvPr/>
        </p:nvSpPr>
        <p:spPr>
          <a:xfrm rot="0">
            <a:off x="974725" y="1797050"/>
            <a:ext cx="7140575" cy="590550"/>
          </a:xfrm>
          <a:prstGeom prst="roundRect">
            <a:avLst>
              <a:gd name="adj" fmla="val 16666"/>
            </a:avLst>
          </a:prstGeom>
          <a:solidFill>
            <a:srgbClr val="C0514E"/>
          </a:solidFill>
          <a:ln w="25400" cmpd="sng" cap="flat">
            <a:solidFill>
              <a:srgbClr val="FFFFFF"/>
            </a:solidFill>
            <a:prstDash val="solid"/>
            <a:miter/>
          </a:ln>
        </p:spPr>
      </p:sp>
      <p:sp>
        <p:nvSpPr>
          <p:cNvPr id="23" name="矩形"/>
          <p:cNvSpPr>
            <a:spLocks/>
          </p:cNvSpPr>
          <p:nvPr/>
        </p:nvSpPr>
        <p:spPr>
          <a:xfrm rot="0">
            <a:off x="1003300" y="1825625"/>
            <a:ext cx="7083424" cy="533400"/>
          </a:xfrm>
          <a:prstGeom prst="rect"/>
          <a:noFill/>
          <a:ln w="9525" cmpd="sng" cap="flat">
            <a:noFill/>
            <a:prstDash val="solid"/>
            <a:miter/>
          </a:ln>
        </p:spPr>
        <p:txBody>
          <a:bodyPr vert="horz" wrap="square" lIns="213585" tIns="0" rIns="213585" bIns="0" anchor="ctr" anchorCtr="0">
            <a:prstTxWarp prst="textNoShape"/>
          </a:bodyPr>
          <a:lstStyle/>
          <a:p>
            <a:pPr marL="0" indent="0" algn="l" defTabSz="800100">
              <a:lnSpc>
                <a:spcPct val="90000"/>
              </a:lnSpc>
              <a:spcBef>
                <a:spcPts val="0"/>
              </a:spcBef>
              <a:spcAft>
                <a:spcPct val="35000"/>
              </a:spcAft>
              <a:buNone/>
            </a:pPr>
            <a:r>
              <a:rPr lang="zh-CN" altLang="en-US" sz="1800">
                <a:solidFill>
                  <a:srgbClr val="FFFFFF"/>
                </a:solidFill>
                <a:latin typeface="Calibri" pitchFamily="0" charset="0"/>
                <a:ea typeface="PMingLiU" pitchFamily="18" charset="-120"/>
                <a:cs typeface="新細明體" pitchFamily="18" charset="-120"/>
              </a:rPr>
              <a:t>系统化管理企业内部的工艺信息以及产品工艺路线信息</a:t>
            </a:r>
            <a:endParaRPr lang="zh-CN" altLang="en-US" sz="1800">
              <a:solidFill>
                <a:srgbClr val="FFFFFF"/>
              </a:solidFill>
              <a:latin typeface="Calibri" pitchFamily="0" charset="0"/>
              <a:ea typeface="PMingLiU" pitchFamily="18" charset="-120"/>
              <a:cs typeface="新細明體" pitchFamily="18" charset="-120"/>
            </a:endParaRPr>
          </a:p>
        </p:txBody>
      </p:sp>
      <p:sp>
        <p:nvSpPr>
          <p:cNvPr id="24" name="矩形"/>
          <p:cNvSpPr>
            <a:spLocks/>
          </p:cNvSpPr>
          <p:nvPr/>
        </p:nvSpPr>
        <p:spPr>
          <a:xfrm rot="0">
            <a:off x="571500" y="2998787"/>
            <a:ext cx="8072437" cy="504825"/>
          </a:xfrm>
          <a:prstGeom prst="rect"/>
          <a:solidFill>
            <a:srgbClr val="FFFFFF">
              <a:alpha val="90000"/>
            </a:srgbClr>
          </a:solidFill>
          <a:ln w="25400" cmpd="sng" cap="flat">
            <a:solidFill>
              <a:srgbClr val="9ABB59"/>
            </a:solidFill>
            <a:prstDash val="solid"/>
            <a:miter/>
          </a:ln>
        </p:spPr>
      </p:sp>
      <p:sp>
        <p:nvSpPr>
          <p:cNvPr id="25" name="圆角矩形"/>
          <p:cNvSpPr>
            <a:spLocks/>
          </p:cNvSpPr>
          <p:nvPr/>
        </p:nvSpPr>
        <p:spPr>
          <a:xfrm rot="0">
            <a:off x="974725" y="2703512"/>
            <a:ext cx="7181850" cy="590550"/>
          </a:xfrm>
          <a:prstGeom prst="roundRect">
            <a:avLst>
              <a:gd name="adj" fmla="val 16666"/>
            </a:avLst>
          </a:prstGeom>
          <a:solidFill>
            <a:srgbClr val="9ABB59"/>
          </a:solidFill>
          <a:ln w="25400" cmpd="sng" cap="flat">
            <a:solidFill>
              <a:srgbClr val="FFFFFF"/>
            </a:solidFill>
            <a:prstDash val="solid"/>
            <a:miter/>
          </a:ln>
        </p:spPr>
      </p:sp>
      <p:sp>
        <p:nvSpPr>
          <p:cNvPr id="26" name="矩形"/>
          <p:cNvSpPr>
            <a:spLocks/>
          </p:cNvSpPr>
          <p:nvPr/>
        </p:nvSpPr>
        <p:spPr>
          <a:xfrm rot="0">
            <a:off x="1003300" y="2733675"/>
            <a:ext cx="7124700" cy="531812"/>
          </a:xfrm>
          <a:prstGeom prst="rect"/>
          <a:noFill/>
          <a:ln w="9525" cmpd="sng" cap="flat">
            <a:noFill/>
            <a:prstDash val="solid"/>
            <a:miter/>
          </a:ln>
        </p:spPr>
        <p:txBody>
          <a:bodyPr vert="horz" wrap="square" lIns="213585" tIns="0" rIns="213585" bIns="0" anchor="ctr" anchorCtr="0">
            <a:prstTxWarp prst="textNoShape"/>
          </a:bodyPr>
          <a:lstStyle/>
          <a:p>
            <a:pPr marL="0" indent="0" algn="l" defTabSz="800100">
              <a:lnSpc>
                <a:spcPct val="90000"/>
              </a:lnSpc>
              <a:spcBef>
                <a:spcPts val="0"/>
              </a:spcBef>
              <a:spcAft>
                <a:spcPct val="35000"/>
              </a:spcAft>
              <a:buNone/>
            </a:pPr>
            <a:r>
              <a:rPr lang="zh-CN" altLang="en-US" sz="1800">
                <a:solidFill>
                  <a:srgbClr val="FFFFFF"/>
                </a:solidFill>
                <a:latin typeface="Calibri" pitchFamily="0" charset="0"/>
                <a:ea typeface="PMingLiU" pitchFamily="18" charset="-120"/>
                <a:cs typeface="新細明體" pitchFamily="18" charset="-120"/>
              </a:rPr>
              <a:t>深入跟踪现场生产进度，提高制造管理的精细度</a:t>
            </a:r>
            <a:endParaRPr lang="zh-CN" altLang="en-US" sz="1800">
              <a:solidFill>
                <a:srgbClr val="FFFFFF"/>
              </a:solidFill>
              <a:latin typeface="Calibri" pitchFamily="0" charset="0"/>
              <a:ea typeface="PMingLiU" pitchFamily="18" charset="-120"/>
              <a:cs typeface="新細明體" pitchFamily="18" charset="-120"/>
            </a:endParaRPr>
          </a:p>
        </p:txBody>
      </p:sp>
      <p:sp>
        <p:nvSpPr>
          <p:cNvPr id="27" name="矩形"/>
          <p:cNvSpPr>
            <a:spLocks/>
          </p:cNvSpPr>
          <p:nvPr/>
        </p:nvSpPr>
        <p:spPr>
          <a:xfrm rot="0">
            <a:off x="571500" y="3906837"/>
            <a:ext cx="8072437" cy="503237"/>
          </a:xfrm>
          <a:prstGeom prst="rect"/>
          <a:solidFill>
            <a:srgbClr val="FFFFFF">
              <a:alpha val="90000"/>
            </a:srgbClr>
          </a:solidFill>
          <a:ln w="25400" cmpd="sng" cap="flat">
            <a:solidFill>
              <a:srgbClr val="8064A2"/>
            </a:solidFill>
            <a:prstDash val="solid"/>
            <a:miter/>
          </a:ln>
        </p:spPr>
      </p:sp>
      <p:sp>
        <p:nvSpPr>
          <p:cNvPr id="28" name="圆角矩形"/>
          <p:cNvSpPr>
            <a:spLocks/>
          </p:cNvSpPr>
          <p:nvPr/>
        </p:nvSpPr>
        <p:spPr>
          <a:xfrm rot="0">
            <a:off x="974725" y="3611562"/>
            <a:ext cx="7162800" cy="590550"/>
          </a:xfrm>
          <a:prstGeom prst="roundRect">
            <a:avLst>
              <a:gd name="adj" fmla="val 16666"/>
            </a:avLst>
          </a:prstGeom>
          <a:solidFill>
            <a:srgbClr val="8064A2"/>
          </a:solidFill>
          <a:ln w="25400" cmpd="sng" cap="flat">
            <a:solidFill>
              <a:srgbClr val="FFFFFF"/>
            </a:solidFill>
            <a:prstDash val="solid"/>
            <a:miter/>
          </a:ln>
        </p:spPr>
      </p:sp>
      <p:sp>
        <p:nvSpPr>
          <p:cNvPr id="29" name="矩形"/>
          <p:cNvSpPr>
            <a:spLocks/>
          </p:cNvSpPr>
          <p:nvPr/>
        </p:nvSpPr>
        <p:spPr>
          <a:xfrm rot="0">
            <a:off x="1003300" y="3640137"/>
            <a:ext cx="7105650" cy="533400"/>
          </a:xfrm>
          <a:prstGeom prst="rect"/>
          <a:noFill/>
          <a:ln w="9525" cmpd="sng" cap="flat">
            <a:noFill/>
            <a:prstDash val="solid"/>
            <a:miter/>
          </a:ln>
        </p:spPr>
        <p:txBody>
          <a:bodyPr vert="horz" wrap="square" lIns="213585" tIns="0" rIns="213585" bIns="0" anchor="ctr" anchorCtr="0">
            <a:prstTxWarp prst="textNoShape"/>
          </a:bodyPr>
          <a:lstStyle/>
          <a:p>
            <a:pPr marL="0" indent="0" algn="l" defTabSz="800100">
              <a:lnSpc>
                <a:spcPct val="90000"/>
              </a:lnSpc>
              <a:spcBef>
                <a:spcPts val="0"/>
              </a:spcBef>
              <a:spcAft>
                <a:spcPct val="35000"/>
              </a:spcAft>
              <a:buNone/>
            </a:pPr>
            <a:r>
              <a:rPr lang="zh-CN" altLang="en-US" sz="1800">
                <a:solidFill>
                  <a:srgbClr val="FFFFFF"/>
                </a:solidFill>
                <a:latin typeface="Calibri" pitchFamily="0" charset="0"/>
                <a:ea typeface="PMingLiU" pitchFamily="18" charset="-120"/>
                <a:cs typeface="新細明體" pitchFamily="18" charset="-120"/>
              </a:rPr>
              <a:t>现场根据实际生产状况，对工艺生产进行派工处理，提高生产效率</a:t>
            </a:r>
            <a:endParaRPr lang="zh-CN" altLang="en-US" sz="1800">
              <a:solidFill>
                <a:srgbClr val="FFFFFF"/>
              </a:solidFill>
              <a:latin typeface="Calibri" pitchFamily="0" charset="0"/>
              <a:ea typeface="PMingLiU" pitchFamily="18" charset="-120"/>
              <a:cs typeface="新細明體" pitchFamily="18" charset="-120"/>
            </a:endParaRPr>
          </a:p>
        </p:txBody>
      </p:sp>
      <p:sp>
        <p:nvSpPr>
          <p:cNvPr id="30" name="矩形"/>
          <p:cNvSpPr>
            <a:spLocks/>
          </p:cNvSpPr>
          <p:nvPr/>
        </p:nvSpPr>
        <p:spPr>
          <a:xfrm rot="0">
            <a:off x="571500" y="4813300"/>
            <a:ext cx="8072437" cy="504825"/>
          </a:xfrm>
          <a:prstGeom prst="rect"/>
          <a:solidFill>
            <a:srgbClr val="FFFFFF">
              <a:alpha val="90000"/>
            </a:srgbClr>
          </a:solidFill>
          <a:ln w="25400" cmpd="sng" cap="flat">
            <a:solidFill>
              <a:srgbClr val="4CACC6"/>
            </a:solidFill>
            <a:prstDash val="solid"/>
            <a:miter/>
          </a:ln>
        </p:spPr>
      </p:sp>
      <p:sp>
        <p:nvSpPr>
          <p:cNvPr id="31" name="圆角矩形"/>
          <p:cNvSpPr>
            <a:spLocks/>
          </p:cNvSpPr>
          <p:nvPr/>
        </p:nvSpPr>
        <p:spPr>
          <a:xfrm rot="0">
            <a:off x="974725" y="4518025"/>
            <a:ext cx="7162800" cy="590549"/>
          </a:xfrm>
          <a:prstGeom prst="roundRect">
            <a:avLst>
              <a:gd name="adj" fmla="val 16666"/>
            </a:avLst>
          </a:prstGeom>
          <a:solidFill>
            <a:srgbClr val="4CACC6"/>
          </a:solidFill>
          <a:ln w="25400" cmpd="sng" cap="flat">
            <a:solidFill>
              <a:srgbClr val="FFFFFF"/>
            </a:solidFill>
            <a:prstDash val="solid"/>
            <a:miter/>
          </a:ln>
        </p:spPr>
      </p:sp>
      <p:sp>
        <p:nvSpPr>
          <p:cNvPr id="32" name="矩形"/>
          <p:cNvSpPr>
            <a:spLocks/>
          </p:cNvSpPr>
          <p:nvPr/>
        </p:nvSpPr>
        <p:spPr>
          <a:xfrm rot="0">
            <a:off x="1003300" y="4546600"/>
            <a:ext cx="7105650" cy="533400"/>
          </a:xfrm>
          <a:prstGeom prst="rect"/>
          <a:noFill/>
          <a:ln w="9525" cmpd="sng" cap="flat">
            <a:noFill/>
            <a:prstDash val="solid"/>
            <a:miter/>
          </a:ln>
        </p:spPr>
        <p:txBody>
          <a:bodyPr vert="horz" wrap="square" lIns="213585" tIns="0" rIns="213585" bIns="0" anchor="ctr" anchorCtr="0">
            <a:prstTxWarp prst="textNoShape"/>
          </a:bodyPr>
          <a:lstStyle/>
          <a:p>
            <a:pPr marL="0" indent="0" algn="l" defTabSz="800100">
              <a:lnSpc>
                <a:spcPct val="90000"/>
              </a:lnSpc>
              <a:spcBef>
                <a:spcPts val="0"/>
              </a:spcBef>
              <a:spcAft>
                <a:spcPct val="35000"/>
              </a:spcAft>
              <a:buNone/>
            </a:pPr>
            <a:r>
              <a:rPr lang="zh-CN" altLang="en-US" sz="1800">
                <a:solidFill>
                  <a:srgbClr val="FFFFFF"/>
                </a:solidFill>
                <a:latin typeface="Calibri" pitchFamily="0" charset="0"/>
                <a:ea typeface="PMingLiU" pitchFamily="18" charset="-120"/>
                <a:cs typeface="新細明體" pitchFamily="18" charset="-120"/>
              </a:rPr>
              <a:t>设定产品工艺路线的</a:t>
            </a:r>
            <a:r>
              <a:rPr lang="zh-CN" altLang="en-US" sz="1800">
                <a:solidFill>
                  <a:srgbClr val="FFFFFF"/>
                </a:solidFill>
                <a:latin typeface="Calibri" pitchFamily="0" charset="0"/>
                <a:ea typeface="PMingLiU" pitchFamily="18" charset="-120"/>
                <a:cs typeface="新細明體" pitchFamily="18" charset="-120"/>
              </a:rPr>
              <a:t>标准工时，</a:t>
            </a:r>
            <a:r>
              <a:rPr lang="zh-CN" altLang="en-US" sz="1800">
                <a:solidFill>
                  <a:srgbClr val="FFFFFF"/>
                </a:solidFill>
                <a:latin typeface="Calibri" pitchFamily="0" charset="0"/>
                <a:ea typeface="PMingLiU" pitchFamily="18" charset="-120"/>
                <a:cs typeface="新細明體" pitchFamily="18" charset="-120"/>
              </a:rPr>
              <a:t>作为依据可精确计算生产成本</a:t>
            </a:r>
            <a:endParaRPr lang="zh-CN" altLang="en-US" sz="1800">
              <a:solidFill>
                <a:srgbClr val="FFFFFF"/>
              </a:solidFill>
              <a:latin typeface="Calibri" pitchFamily="0" charset="0"/>
              <a:ea typeface="PMingLiU" pitchFamily="18" charset="-120"/>
              <a:cs typeface="新細明體" pitchFamily="18" charset="-120"/>
            </a:endParaRPr>
          </a:p>
        </p:txBody>
      </p:sp>
      <p:sp>
        <p:nvSpPr>
          <p:cNvPr id="33" name="矩形"/>
          <p:cNvSpPr>
            <a:spLocks/>
          </p:cNvSpPr>
          <p:nvPr/>
        </p:nvSpPr>
        <p:spPr>
          <a:xfrm rot="0">
            <a:off x="571500" y="5721350"/>
            <a:ext cx="8072437" cy="503237"/>
          </a:xfrm>
          <a:prstGeom prst="rect"/>
          <a:solidFill>
            <a:srgbClr val="FFFFFF">
              <a:alpha val="90000"/>
            </a:srgbClr>
          </a:solidFill>
          <a:ln w="25400" cmpd="sng" cap="flat">
            <a:solidFill>
              <a:srgbClr val="F79747"/>
            </a:solidFill>
            <a:prstDash val="solid"/>
            <a:miter/>
          </a:ln>
        </p:spPr>
      </p:sp>
      <p:sp>
        <p:nvSpPr>
          <p:cNvPr id="34" name="圆角矩形"/>
          <p:cNvSpPr>
            <a:spLocks/>
          </p:cNvSpPr>
          <p:nvPr/>
        </p:nvSpPr>
        <p:spPr>
          <a:xfrm rot="0">
            <a:off x="974725" y="5426075"/>
            <a:ext cx="7124700" cy="590550"/>
          </a:xfrm>
          <a:prstGeom prst="roundRect">
            <a:avLst>
              <a:gd name="adj" fmla="val 16666"/>
            </a:avLst>
          </a:prstGeom>
          <a:solidFill>
            <a:srgbClr val="F79747"/>
          </a:solidFill>
          <a:ln w="25400" cmpd="sng" cap="flat">
            <a:solidFill>
              <a:srgbClr val="FFFFFF"/>
            </a:solidFill>
            <a:prstDash val="solid"/>
            <a:miter/>
          </a:ln>
        </p:spPr>
      </p:sp>
      <p:sp>
        <p:nvSpPr>
          <p:cNvPr id="35" name="矩形"/>
          <p:cNvSpPr>
            <a:spLocks/>
          </p:cNvSpPr>
          <p:nvPr/>
        </p:nvSpPr>
        <p:spPr>
          <a:xfrm rot="0">
            <a:off x="1003300" y="5454650"/>
            <a:ext cx="7067549" cy="533400"/>
          </a:xfrm>
          <a:prstGeom prst="rect"/>
          <a:noFill/>
          <a:ln w="9525" cmpd="sng" cap="flat">
            <a:noFill/>
            <a:prstDash val="solid"/>
            <a:miter/>
          </a:ln>
        </p:spPr>
        <p:txBody>
          <a:bodyPr vert="horz" wrap="square" lIns="213585" tIns="0" rIns="213585" bIns="0" anchor="ctr" anchorCtr="0">
            <a:prstTxWarp prst="textNoShape"/>
          </a:bodyPr>
          <a:lstStyle/>
          <a:p>
            <a:pPr marL="0" indent="0" algn="l" defTabSz="800100">
              <a:lnSpc>
                <a:spcPct val="90000"/>
              </a:lnSpc>
              <a:spcBef>
                <a:spcPts val="0"/>
              </a:spcBef>
              <a:spcAft>
                <a:spcPct val="35000"/>
              </a:spcAft>
              <a:buNone/>
            </a:pPr>
            <a:r>
              <a:rPr lang="zh-CN" altLang="en-US" sz="1800">
                <a:solidFill>
                  <a:srgbClr val="FFFFFF"/>
                </a:solidFill>
                <a:latin typeface="Calibri" pitchFamily="0" charset="0"/>
                <a:ea typeface="PMingLiU" pitchFamily="18" charset="-120"/>
                <a:cs typeface="新細明體" pitchFamily="18" charset="-120"/>
              </a:rPr>
              <a:t>收集生产现场的产出数量、工时、人时等生产信息，用于绩效</a:t>
            </a:r>
            <a:r>
              <a:rPr lang="zh-CN" altLang="en-US" sz="1800">
                <a:solidFill>
                  <a:srgbClr val="FFFFFF"/>
                </a:solidFill>
                <a:latin typeface="Calibri" pitchFamily="0" charset="0"/>
                <a:ea typeface="PMingLiU" pitchFamily="18" charset="-120"/>
                <a:cs typeface="新細明體" pitchFamily="18" charset="-120"/>
              </a:rPr>
              <a:t>分析</a:t>
            </a:r>
            <a:endParaRPr lang="zh-CN" altLang="en-US" sz="1800">
              <a:solidFill>
                <a:srgbClr val="FFFFFF"/>
              </a:solidFill>
              <a:latin typeface="Calibri" pitchFamily="0" charset="0"/>
              <a:ea typeface="PMingLiU" pitchFamily="18" charset="-120"/>
              <a:cs typeface="新細明體" pitchFamily="18" charset="-120"/>
            </a:endParaRPr>
          </a:p>
        </p:txBody>
      </p:sp>
    </p:spTree>
    <p:extLst>
      <p:ext uri="{BB962C8B-B14F-4D97-AF65-F5344CB8AC3E}">
        <p14:creationId xmlns:p14="http://schemas.microsoft.com/office/powerpoint/2010/main" val="817638170"/>
      </p:ext>
    </p:extLst>
  </p:cSld>
  <p:clrMapOvr>
    <a:masterClrMapping/>
  </p:clrMapOvr>
  <p:transition/>
</p:sld>
</file>

<file path=ppt/slides/slide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6"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系统</a:t>
            </a:r>
            <a:r>
              <a:rPr lang="zh-CN" altLang="en-US" sz="3600" b="1">
                <a:solidFill>
                  <a:schemeClr val="tx1"/>
                </a:solidFill>
                <a:latin typeface="Microsoft JhengHei" pitchFamily="34" charset="-120"/>
                <a:ea typeface="Microsoft JhengHei" pitchFamily="34" charset="-120"/>
                <a:cs typeface="新細明體" pitchFamily="18" charset="-120"/>
              </a:rPr>
              <a:t>特色</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37" name="矩形"/>
          <p:cNvSpPr>
            <a:spLocks/>
          </p:cNvSpPr>
          <p:nvPr/>
        </p:nvSpPr>
        <p:spPr>
          <a:xfrm rot="0">
            <a:off x="468312" y="1809750"/>
            <a:ext cx="8496300" cy="403225"/>
          </a:xfrm>
          <a:prstGeom prst="rect"/>
          <a:solidFill>
            <a:srgbClr val="FFFFFF">
              <a:alpha val="90000"/>
            </a:srgbClr>
          </a:solidFill>
          <a:ln w="25400" cmpd="sng" cap="flat">
            <a:solidFill>
              <a:srgbClr val="4F81BD"/>
            </a:solidFill>
            <a:prstDash val="solid"/>
            <a:miter/>
          </a:ln>
        </p:spPr>
      </p:sp>
      <p:sp>
        <p:nvSpPr>
          <p:cNvPr id="38" name="圆角矩形"/>
          <p:cNvSpPr>
            <a:spLocks/>
          </p:cNvSpPr>
          <p:nvPr/>
        </p:nvSpPr>
        <p:spPr>
          <a:xfrm rot="0">
            <a:off x="892175" y="1573212"/>
            <a:ext cx="7580312" cy="471487"/>
          </a:xfrm>
          <a:prstGeom prst="roundRect">
            <a:avLst>
              <a:gd name="adj" fmla="val 16666"/>
            </a:avLst>
          </a:prstGeom>
          <a:solidFill>
            <a:srgbClr val="4F81BD"/>
          </a:solidFill>
          <a:ln w="25400" cmpd="sng" cap="flat">
            <a:solidFill>
              <a:srgbClr val="FFFFFF"/>
            </a:solidFill>
            <a:prstDash val="solid"/>
            <a:miter/>
          </a:ln>
        </p:spPr>
      </p:sp>
      <p:sp>
        <p:nvSpPr>
          <p:cNvPr id="39" name="矩形"/>
          <p:cNvSpPr>
            <a:spLocks/>
          </p:cNvSpPr>
          <p:nvPr/>
        </p:nvSpPr>
        <p:spPr>
          <a:xfrm rot="0">
            <a:off x="915987" y="1595437"/>
            <a:ext cx="7534275" cy="427037"/>
          </a:xfrm>
          <a:prstGeom prst="rect"/>
          <a:noFill/>
          <a:ln w="9525" cmpd="sng" cap="flat">
            <a:noFill/>
            <a:prstDash val="solid"/>
            <a:miter/>
          </a:ln>
        </p:spPr>
        <p:txBody>
          <a:bodyPr vert="horz" wrap="square" lIns="224815" tIns="0" rIns="224815" bIns="0" anchor="ctr" anchorCtr="0">
            <a:prstTxWarp prst="textNoShape"/>
          </a:bodyPr>
          <a:lstStyle/>
          <a:p>
            <a:pPr marL="0" indent="0" algn="l" defTabSz="800100">
              <a:lnSpc>
                <a:spcPct val="90000"/>
              </a:lnSpc>
              <a:spcBef>
                <a:spcPts val="0"/>
              </a:spcBef>
              <a:spcAft>
                <a:spcPct val="35000"/>
              </a:spcAft>
              <a:buNone/>
            </a:pPr>
            <a:r>
              <a:rPr lang="zh-CN" altLang="en-US" sz="1800">
                <a:solidFill>
                  <a:srgbClr val="FFFFFF"/>
                </a:solidFill>
                <a:latin typeface="Calibri" pitchFamily="0" charset="0"/>
                <a:ea typeface="PMingLiU" pitchFamily="18" charset="-120"/>
                <a:cs typeface="新細明體" pitchFamily="18" charset="-120"/>
              </a:rPr>
              <a:t>支持多种工艺路线的规划，如线型工艺、平行工艺、拆分与网状工艺</a:t>
            </a:r>
            <a:endParaRPr lang="zh-CN" altLang="en-US" sz="1800">
              <a:solidFill>
                <a:srgbClr val="FFFFFF"/>
              </a:solidFill>
              <a:latin typeface="Calibri" pitchFamily="0" charset="0"/>
              <a:ea typeface="PMingLiU" pitchFamily="18" charset="-120"/>
              <a:cs typeface="新細明體" pitchFamily="18" charset="-120"/>
            </a:endParaRPr>
          </a:p>
        </p:txBody>
      </p:sp>
      <p:sp>
        <p:nvSpPr>
          <p:cNvPr id="40" name="矩形"/>
          <p:cNvSpPr>
            <a:spLocks/>
          </p:cNvSpPr>
          <p:nvPr/>
        </p:nvSpPr>
        <p:spPr>
          <a:xfrm rot="0">
            <a:off x="468312" y="2703512"/>
            <a:ext cx="8496300" cy="403224"/>
          </a:xfrm>
          <a:prstGeom prst="rect"/>
          <a:solidFill>
            <a:srgbClr val="FFFFFF">
              <a:alpha val="90000"/>
            </a:srgbClr>
          </a:solidFill>
          <a:ln w="25400" cmpd="sng" cap="flat">
            <a:solidFill>
              <a:srgbClr val="4F81BD"/>
            </a:solidFill>
            <a:prstDash val="solid"/>
            <a:miter/>
          </a:ln>
        </p:spPr>
      </p:sp>
      <p:sp>
        <p:nvSpPr>
          <p:cNvPr id="41" name="圆角矩形"/>
          <p:cNvSpPr>
            <a:spLocks/>
          </p:cNvSpPr>
          <p:nvPr/>
        </p:nvSpPr>
        <p:spPr>
          <a:xfrm rot="0">
            <a:off x="908050" y="2298700"/>
            <a:ext cx="7491413" cy="639762"/>
          </a:xfrm>
          <a:prstGeom prst="roundRect">
            <a:avLst>
              <a:gd name="adj" fmla="val 16666"/>
            </a:avLst>
          </a:prstGeom>
          <a:solidFill>
            <a:srgbClr val="4F81BD"/>
          </a:solidFill>
          <a:ln w="25400" cmpd="sng" cap="flat">
            <a:solidFill>
              <a:srgbClr val="FFFFFF"/>
            </a:solidFill>
            <a:prstDash val="solid"/>
            <a:miter/>
          </a:ln>
        </p:spPr>
      </p:sp>
      <p:sp>
        <p:nvSpPr>
          <p:cNvPr id="42" name="矩形"/>
          <p:cNvSpPr>
            <a:spLocks/>
          </p:cNvSpPr>
          <p:nvPr/>
        </p:nvSpPr>
        <p:spPr>
          <a:xfrm rot="0">
            <a:off x="939800" y="2330450"/>
            <a:ext cx="7429500" cy="577850"/>
          </a:xfrm>
          <a:prstGeom prst="rect"/>
          <a:noFill/>
          <a:ln w="9525" cmpd="sng" cap="flat">
            <a:noFill/>
            <a:prstDash val="solid"/>
            <a:miter/>
          </a:ln>
        </p:spPr>
        <p:txBody>
          <a:bodyPr vert="horz" wrap="square" lIns="224815" tIns="0" rIns="224815" bIns="0" anchor="ctr" anchorCtr="0">
            <a:prstTxWarp prst="textNoShape"/>
          </a:bodyPr>
          <a:lstStyle/>
          <a:p>
            <a:pPr marL="0" indent="0" algn="l" defTabSz="800100">
              <a:lnSpc>
                <a:spcPct val="90000"/>
              </a:lnSpc>
              <a:spcBef>
                <a:spcPts val="0"/>
              </a:spcBef>
              <a:spcAft>
                <a:spcPct val="35000"/>
              </a:spcAft>
              <a:buNone/>
            </a:pPr>
            <a:r>
              <a:rPr lang="zh-CN" altLang="en-US" sz="1800">
                <a:solidFill>
                  <a:srgbClr val="FFFFFF"/>
                </a:solidFill>
                <a:latin typeface="Calibri" pitchFamily="0" charset="0"/>
                <a:ea typeface="PMingLiU" pitchFamily="18" charset="-120"/>
                <a:cs typeface="新細明體" pitchFamily="18" charset="-120"/>
              </a:rPr>
              <a:t>提供灵活的产品工艺路线设定功能，同产品可对应多个工艺制造方式，也可不同产品对应同一工艺制造方式</a:t>
            </a:r>
            <a:endParaRPr lang="zh-CN" altLang="en-US" sz="1800">
              <a:solidFill>
                <a:srgbClr val="FFFFFF"/>
              </a:solidFill>
              <a:latin typeface="Calibri" pitchFamily="0" charset="0"/>
              <a:ea typeface="PMingLiU" pitchFamily="18" charset="-120"/>
              <a:cs typeface="新細明體" pitchFamily="18" charset="-120"/>
            </a:endParaRPr>
          </a:p>
        </p:txBody>
      </p:sp>
      <p:sp>
        <p:nvSpPr>
          <p:cNvPr id="43" name="矩形"/>
          <p:cNvSpPr>
            <a:spLocks/>
          </p:cNvSpPr>
          <p:nvPr/>
        </p:nvSpPr>
        <p:spPr>
          <a:xfrm rot="0">
            <a:off x="468312" y="3617912"/>
            <a:ext cx="8496300" cy="403224"/>
          </a:xfrm>
          <a:prstGeom prst="rect"/>
          <a:solidFill>
            <a:srgbClr val="FFFFFF">
              <a:alpha val="90000"/>
            </a:srgbClr>
          </a:solidFill>
          <a:ln w="25400" cmpd="sng" cap="flat">
            <a:solidFill>
              <a:srgbClr val="4F81BD"/>
            </a:solidFill>
            <a:prstDash val="solid"/>
            <a:miter/>
          </a:ln>
        </p:spPr>
      </p:sp>
      <p:sp>
        <p:nvSpPr>
          <p:cNvPr id="44" name="圆角矩形"/>
          <p:cNvSpPr>
            <a:spLocks/>
          </p:cNvSpPr>
          <p:nvPr/>
        </p:nvSpPr>
        <p:spPr>
          <a:xfrm rot="0">
            <a:off x="892175" y="3192462"/>
            <a:ext cx="7572375" cy="661987"/>
          </a:xfrm>
          <a:prstGeom prst="roundRect">
            <a:avLst>
              <a:gd name="adj" fmla="val 16666"/>
            </a:avLst>
          </a:prstGeom>
          <a:solidFill>
            <a:srgbClr val="4F81BD"/>
          </a:solidFill>
          <a:ln w="25400" cmpd="sng" cap="flat">
            <a:solidFill>
              <a:srgbClr val="FFFFFF"/>
            </a:solidFill>
            <a:prstDash val="solid"/>
            <a:miter/>
          </a:ln>
        </p:spPr>
      </p:sp>
      <p:sp>
        <p:nvSpPr>
          <p:cNvPr id="45" name="矩形"/>
          <p:cNvSpPr>
            <a:spLocks/>
          </p:cNvSpPr>
          <p:nvPr/>
        </p:nvSpPr>
        <p:spPr>
          <a:xfrm rot="0">
            <a:off x="923925" y="3224212"/>
            <a:ext cx="7507288" cy="596900"/>
          </a:xfrm>
          <a:prstGeom prst="rect"/>
          <a:noFill/>
          <a:ln w="9525" cmpd="sng" cap="flat">
            <a:noFill/>
            <a:prstDash val="solid"/>
            <a:miter/>
          </a:ln>
        </p:spPr>
        <p:txBody>
          <a:bodyPr vert="horz" wrap="square" lIns="224815" tIns="0" rIns="224815" bIns="0" anchor="ctr" anchorCtr="0">
            <a:prstTxWarp prst="textNoShape"/>
          </a:bodyPr>
          <a:lstStyle/>
          <a:p>
            <a:pPr marL="0" indent="0" algn="l" defTabSz="800100">
              <a:lnSpc>
                <a:spcPct val="90000"/>
              </a:lnSpc>
              <a:spcBef>
                <a:spcPts val="0"/>
              </a:spcBef>
              <a:spcAft>
                <a:spcPct val="35000"/>
              </a:spcAft>
              <a:buNone/>
            </a:pPr>
            <a:r>
              <a:rPr lang="zh-CN" altLang="en-US" sz="1800">
                <a:solidFill>
                  <a:srgbClr val="FFFFFF"/>
                </a:solidFill>
                <a:latin typeface="Calibri" pitchFamily="0" charset="0"/>
                <a:ea typeface="PMingLiU" pitchFamily="18" charset="-120"/>
                <a:cs typeface="新細明體" pitchFamily="18" charset="-120"/>
              </a:rPr>
              <a:t>提供工艺信息的自定义收集功能，用户可根据实际需求定义收集内容、设定收集对象、设定收集时机</a:t>
            </a:r>
            <a:endParaRPr lang="zh-CN" altLang="en-US" sz="1800">
              <a:solidFill>
                <a:srgbClr val="FFFFFF"/>
              </a:solidFill>
              <a:latin typeface="Calibri" pitchFamily="0" charset="0"/>
              <a:ea typeface="PMingLiU" pitchFamily="18" charset="-120"/>
              <a:cs typeface="新細明體" pitchFamily="18" charset="-120"/>
            </a:endParaRPr>
          </a:p>
        </p:txBody>
      </p:sp>
      <p:sp>
        <p:nvSpPr>
          <p:cNvPr id="46" name="矩形"/>
          <p:cNvSpPr>
            <a:spLocks/>
          </p:cNvSpPr>
          <p:nvPr/>
        </p:nvSpPr>
        <p:spPr>
          <a:xfrm rot="0">
            <a:off x="468312" y="4502150"/>
            <a:ext cx="8496300" cy="403225"/>
          </a:xfrm>
          <a:prstGeom prst="rect"/>
          <a:solidFill>
            <a:srgbClr val="FFFFFF">
              <a:alpha val="90000"/>
            </a:srgbClr>
          </a:solidFill>
          <a:ln w="25400" cmpd="sng" cap="flat">
            <a:solidFill>
              <a:srgbClr val="4F81BD"/>
            </a:solidFill>
            <a:prstDash val="solid"/>
            <a:miter/>
          </a:ln>
        </p:spPr>
      </p:sp>
      <p:sp>
        <p:nvSpPr>
          <p:cNvPr id="47" name="圆角矩形"/>
          <p:cNvSpPr>
            <a:spLocks/>
          </p:cNvSpPr>
          <p:nvPr/>
        </p:nvSpPr>
        <p:spPr>
          <a:xfrm rot="0">
            <a:off x="892175" y="4106862"/>
            <a:ext cx="7580312" cy="631825"/>
          </a:xfrm>
          <a:prstGeom prst="roundRect">
            <a:avLst>
              <a:gd name="adj" fmla="val 16666"/>
            </a:avLst>
          </a:prstGeom>
          <a:solidFill>
            <a:srgbClr val="4F81BD"/>
          </a:solidFill>
          <a:ln w="25400" cmpd="sng" cap="flat">
            <a:solidFill>
              <a:srgbClr val="FFFFFF"/>
            </a:solidFill>
            <a:prstDash val="solid"/>
            <a:miter/>
          </a:ln>
        </p:spPr>
      </p:sp>
      <p:sp>
        <p:nvSpPr>
          <p:cNvPr id="48" name="矩形"/>
          <p:cNvSpPr>
            <a:spLocks/>
          </p:cNvSpPr>
          <p:nvPr/>
        </p:nvSpPr>
        <p:spPr>
          <a:xfrm rot="0">
            <a:off x="923925" y="4138612"/>
            <a:ext cx="7518401" cy="568325"/>
          </a:xfrm>
          <a:prstGeom prst="rect"/>
          <a:noFill/>
          <a:ln w="9525" cmpd="sng" cap="flat">
            <a:noFill/>
            <a:prstDash val="solid"/>
            <a:miter/>
          </a:ln>
        </p:spPr>
        <p:txBody>
          <a:bodyPr vert="horz" wrap="square" lIns="224815" tIns="0" rIns="224815" bIns="0" anchor="ctr" anchorCtr="0">
            <a:prstTxWarp prst="textNoShape"/>
          </a:bodyPr>
          <a:lstStyle/>
          <a:p>
            <a:pPr marL="0" indent="0" algn="l" defTabSz="800100">
              <a:lnSpc>
                <a:spcPct val="90000"/>
              </a:lnSpc>
              <a:spcBef>
                <a:spcPts val="0"/>
              </a:spcBef>
              <a:spcAft>
                <a:spcPct val="35000"/>
              </a:spcAft>
              <a:buNone/>
            </a:pPr>
            <a:r>
              <a:rPr lang="zh-CN" altLang="en-US" sz="1800">
                <a:solidFill>
                  <a:srgbClr val="FFFFFF"/>
                </a:solidFill>
                <a:latin typeface="Calibri" pitchFamily="0" charset="0"/>
                <a:ea typeface="PMingLiU" pitchFamily="18" charset="-120"/>
                <a:cs typeface="新細明體" pitchFamily="18" charset="-120"/>
              </a:rPr>
              <a:t>提供弹性的工艺转移功能，可以依据现场的实际情况进行标准工艺路线的调整，还可批量转移</a:t>
            </a:r>
            <a:endParaRPr lang="zh-CN" altLang="en-US" sz="1800">
              <a:solidFill>
                <a:srgbClr val="FFFFFF"/>
              </a:solidFill>
              <a:latin typeface="Calibri" pitchFamily="0" charset="0"/>
              <a:ea typeface="PMingLiU" pitchFamily="18" charset="-120"/>
              <a:cs typeface="新細明體" pitchFamily="18" charset="-120"/>
            </a:endParaRPr>
          </a:p>
        </p:txBody>
      </p:sp>
      <p:sp>
        <p:nvSpPr>
          <p:cNvPr id="49" name="矩形"/>
          <p:cNvSpPr>
            <a:spLocks/>
          </p:cNvSpPr>
          <p:nvPr/>
        </p:nvSpPr>
        <p:spPr>
          <a:xfrm rot="0">
            <a:off x="468312" y="5227638"/>
            <a:ext cx="8496300" cy="403224"/>
          </a:xfrm>
          <a:prstGeom prst="rect"/>
          <a:solidFill>
            <a:srgbClr val="FFFFFF">
              <a:alpha val="90000"/>
            </a:srgbClr>
          </a:solidFill>
          <a:ln w="25400" cmpd="sng" cap="flat">
            <a:solidFill>
              <a:srgbClr val="4F81BD"/>
            </a:solidFill>
            <a:prstDash val="solid"/>
            <a:miter/>
          </a:ln>
        </p:spPr>
      </p:sp>
      <p:sp>
        <p:nvSpPr>
          <p:cNvPr id="50" name="圆角矩形"/>
          <p:cNvSpPr>
            <a:spLocks/>
          </p:cNvSpPr>
          <p:nvPr/>
        </p:nvSpPr>
        <p:spPr>
          <a:xfrm rot="0">
            <a:off x="892175" y="4991100"/>
            <a:ext cx="7642225" cy="473074"/>
          </a:xfrm>
          <a:prstGeom prst="roundRect">
            <a:avLst>
              <a:gd name="adj" fmla="val 16666"/>
            </a:avLst>
          </a:prstGeom>
          <a:solidFill>
            <a:srgbClr val="4F81BD"/>
          </a:solidFill>
          <a:ln w="25400" cmpd="sng" cap="flat">
            <a:solidFill>
              <a:srgbClr val="FFFFFF"/>
            </a:solidFill>
            <a:prstDash val="solid"/>
            <a:miter/>
          </a:ln>
        </p:spPr>
      </p:sp>
      <p:sp>
        <p:nvSpPr>
          <p:cNvPr id="51" name="矩形"/>
          <p:cNvSpPr>
            <a:spLocks/>
          </p:cNvSpPr>
          <p:nvPr/>
        </p:nvSpPr>
        <p:spPr>
          <a:xfrm rot="0">
            <a:off x="915987" y="5014913"/>
            <a:ext cx="7596187" cy="425449"/>
          </a:xfrm>
          <a:prstGeom prst="rect"/>
          <a:noFill/>
          <a:ln w="9525" cmpd="sng" cap="flat">
            <a:noFill/>
            <a:prstDash val="solid"/>
            <a:miter/>
          </a:ln>
        </p:spPr>
        <p:txBody>
          <a:bodyPr vert="horz" wrap="square" lIns="224815" tIns="0" rIns="224815" bIns="0" anchor="ctr" anchorCtr="0">
            <a:prstTxWarp prst="textNoShape"/>
          </a:bodyPr>
          <a:lstStyle/>
          <a:p>
            <a:pPr marL="0" indent="0" algn="l" defTabSz="800100">
              <a:lnSpc>
                <a:spcPct val="90000"/>
              </a:lnSpc>
              <a:spcBef>
                <a:spcPts val="0"/>
              </a:spcBef>
              <a:spcAft>
                <a:spcPct val="35000"/>
              </a:spcAft>
              <a:buNone/>
            </a:pPr>
            <a:r>
              <a:rPr lang="zh-CN" altLang="en-US" sz="1800">
                <a:solidFill>
                  <a:srgbClr val="FFFFFF"/>
                </a:solidFill>
                <a:latin typeface="Calibri" pitchFamily="0" charset="0"/>
                <a:ea typeface="PMingLiU" pitchFamily="18" charset="-120"/>
                <a:cs typeface="新細明體" pitchFamily="18" charset="-120"/>
              </a:rPr>
              <a:t>提供工作中心派工</a:t>
            </a:r>
            <a:r>
              <a:rPr lang="zh-CN" altLang="en-US" sz="1800">
                <a:solidFill>
                  <a:srgbClr val="FFFFFF"/>
                </a:solidFill>
                <a:latin typeface="Calibri" pitchFamily="0" charset="0"/>
                <a:ea typeface="PMingLiU" pitchFamily="18" charset="-120"/>
                <a:cs typeface="新細明體" pitchFamily="18" charset="-120"/>
              </a:rPr>
              <a:t>功能，</a:t>
            </a:r>
            <a:r>
              <a:rPr lang="zh-CN" altLang="en-US" sz="1800">
                <a:solidFill>
                  <a:srgbClr val="FFFFFF"/>
                </a:solidFill>
                <a:latin typeface="Calibri" pitchFamily="0" charset="0"/>
                <a:ea typeface="PMingLiU" pitchFamily="18" charset="-120"/>
                <a:cs typeface="新細明體" pitchFamily="18" charset="-120"/>
              </a:rPr>
              <a:t>针对瓶颈资源进行合理调配</a:t>
            </a:r>
            <a:endParaRPr lang="zh-CN" altLang="en-US" sz="1800">
              <a:solidFill>
                <a:srgbClr val="FFFFFF"/>
              </a:solidFill>
              <a:latin typeface="Calibri" pitchFamily="0" charset="0"/>
              <a:ea typeface="PMingLiU" pitchFamily="18" charset="-120"/>
              <a:cs typeface="新細明體" pitchFamily="18" charset="-120"/>
            </a:endParaRPr>
          </a:p>
        </p:txBody>
      </p:sp>
      <p:sp>
        <p:nvSpPr>
          <p:cNvPr id="52" name="矩形"/>
          <p:cNvSpPr>
            <a:spLocks/>
          </p:cNvSpPr>
          <p:nvPr/>
        </p:nvSpPr>
        <p:spPr>
          <a:xfrm rot="0">
            <a:off x="468312" y="5953125"/>
            <a:ext cx="8496300" cy="403225"/>
          </a:xfrm>
          <a:prstGeom prst="rect"/>
          <a:solidFill>
            <a:srgbClr val="FFFFFF">
              <a:alpha val="90000"/>
            </a:srgbClr>
          </a:solidFill>
          <a:ln w="25400" cmpd="sng" cap="flat">
            <a:solidFill>
              <a:srgbClr val="4F81BD"/>
            </a:solidFill>
            <a:prstDash val="solid"/>
            <a:miter/>
          </a:ln>
        </p:spPr>
      </p:sp>
      <p:sp>
        <p:nvSpPr>
          <p:cNvPr id="53" name="圆角矩形"/>
          <p:cNvSpPr>
            <a:spLocks/>
          </p:cNvSpPr>
          <p:nvPr/>
        </p:nvSpPr>
        <p:spPr>
          <a:xfrm rot="0">
            <a:off x="923925" y="5716587"/>
            <a:ext cx="7661276" cy="473074"/>
          </a:xfrm>
          <a:prstGeom prst="roundRect">
            <a:avLst>
              <a:gd name="adj" fmla="val 16666"/>
            </a:avLst>
          </a:prstGeom>
          <a:solidFill>
            <a:srgbClr val="4F81BD"/>
          </a:solidFill>
          <a:ln w="25400" cmpd="sng" cap="flat">
            <a:solidFill>
              <a:srgbClr val="FFFFFF"/>
            </a:solidFill>
            <a:prstDash val="solid"/>
            <a:miter/>
          </a:ln>
        </p:spPr>
      </p:sp>
      <p:sp>
        <p:nvSpPr>
          <p:cNvPr id="54" name="矩形"/>
          <p:cNvSpPr>
            <a:spLocks/>
          </p:cNvSpPr>
          <p:nvPr/>
        </p:nvSpPr>
        <p:spPr>
          <a:xfrm rot="0">
            <a:off x="946149" y="5740400"/>
            <a:ext cx="7616825" cy="425450"/>
          </a:xfrm>
          <a:prstGeom prst="rect"/>
          <a:noFill/>
          <a:ln w="9525" cmpd="sng" cap="flat">
            <a:noFill/>
            <a:prstDash val="solid"/>
            <a:miter/>
          </a:ln>
        </p:spPr>
        <p:txBody>
          <a:bodyPr vert="horz" wrap="square" lIns="224815" tIns="0" rIns="224815" bIns="0" anchor="ctr" anchorCtr="0">
            <a:prstTxWarp prst="textNoShape"/>
          </a:bodyPr>
          <a:lstStyle/>
          <a:p>
            <a:pPr marL="0" indent="0" algn="l" defTabSz="711200">
              <a:lnSpc>
                <a:spcPct val="90000"/>
              </a:lnSpc>
              <a:spcBef>
                <a:spcPts val="0"/>
              </a:spcBef>
              <a:spcAft>
                <a:spcPct val="35000"/>
              </a:spcAft>
              <a:buNone/>
            </a:pPr>
            <a:r>
              <a:rPr lang="zh-CN" altLang="en-US" sz="1600">
                <a:solidFill>
                  <a:srgbClr val="FFFFFF"/>
                </a:solidFill>
                <a:latin typeface="Calibri" pitchFamily="0" charset="0"/>
                <a:ea typeface="PMingLiU" pitchFamily="18" charset="-120"/>
                <a:cs typeface="新細明體" pitchFamily="18" charset="-120"/>
              </a:rPr>
              <a:t>提供工艺条码的应用，实现车间现场快速</a:t>
            </a:r>
            <a:r>
              <a:rPr lang="zh-CN" altLang="en-US" sz="1600">
                <a:solidFill>
                  <a:srgbClr val="FFFFFF"/>
                </a:solidFill>
                <a:latin typeface="Calibri" pitchFamily="0" charset="0"/>
                <a:ea typeface="PMingLiU" pitchFamily="18" charset="-120"/>
                <a:cs typeface="新細明體" pitchFamily="18" charset="-120"/>
              </a:rPr>
              <a:t>流转</a:t>
            </a:r>
            <a:endParaRPr lang="zh-CN" altLang="en-US" sz="1600">
              <a:solidFill>
                <a:srgbClr val="FFFFFF"/>
              </a:solidFill>
              <a:latin typeface="Calibri" pitchFamily="0" charset="0"/>
              <a:ea typeface="PMingLiU" pitchFamily="18" charset="-120"/>
              <a:cs typeface="新細明體" pitchFamily="18" charset="-120"/>
            </a:endParaRPr>
          </a:p>
        </p:txBody>
      </p:sp>
    </p:spTree>
    <p:extLst>
      <p:ext uri="{BB962C8B-B14F-4D97-AF65-F5344CB8AC3E}">
        <p14:creationId xmlns:p14="http://schemas.microsoft.com/office/powerpoint/2010/main" val="691906798"/>
      </p:ext>
    </p:extLst>
  </p:cSld>
  <p:clrMapOvr>
    <a:masterClrMapping/>
  </p:clrMapOvr>
  <p:transition/>
</p:sld>
</file>

<file path=ppt/slides/slide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5"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系统关联</a:t>
            </a:r>
            <a:r>
              <a:rPr lang="zh-CN" altLang="en-US" sz="3600" b="1">
                <a:solidFill>
                  <a:schemeClr val="tx1"/>
                </a:solidFill>
                <a:latin typeface="Microsoft JhengHei" pitchFamily="34" charset="-120"/>
                <a:ea typeface="Microsoft JhengHei" pitchFamily="34" charset="-120"/>
                <a:cs typeface="新細明體" pitchFamily="18" charset="-120"/>
              </a:rPr>
              <a:t>说明</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56" name="直线"/>
          <p:cNvSpPr>
            <a:spLocks/>
          </p:cNvSpPr>
          <p:nvPr/>
        </p:nvSpPr>
        <p:spPr>
          <a:xfrm flipV="1" rot="0">
            <a:off x="1951037" y="3933825"/>
            <a:ext cx="1468437" cy="0"/>
          </a:xfrm>
          <a:prstGeom prst="line"/>
          <a:noFill/>
          <a:ln w="25400" cmpd="sng" cap="flat">
            <a:solidFill>
              <a:srgbClr val="C0504D"/>
            </a:solidFill>
            <a:prstDash val="solid"/>
            <a:miter/>
            <a:tailEnd type="arrow" w="med" len="med"/>
          </a:ln>
        </p:spPr>
      </p:sp>
      <p:sp>
        <p:nvSpPr>
          <p:cNvPr id="57" name="直线"/>
          <p:cNvSpPr>
            <a:spLocks/>
          </p:cNvSpPr>
          <p:nvPr/>
        </p:nvSpPr>
        <p:spPr>
          <a:xfrm flipH="1" rot="0">
            <a:off x="5580063" y="3913187"/>
            <a:ext cx="1019175" cy="0"/>
          </a:xfrm>
          <a:prstGeom prst="line"/>
          <a:noFill/>
          <a:ln w="25400" cmpd="sng" cap="flat">
            <a:solidFill>
              <a:srgbClr val="C0504D"/>
            </a:solidFill>
            <a:prstDash val="solid"/>
            <a:miter/>
            <a:tailEnd type="arrow" w="med" len="med"/>
          </a:ln>
        </p:spPr>
      </p:sp>
      <p:graphicFrame>
        <p:nvGraphicFramePr>
          <p:cNvPr id="58" name="表格"/>
          <p:cNvGraphicFramePr>
            <a:graphicFrameLocks noGrp="1"/>
          </p:cNvGraphicFramePr>
          <p:nvPr>
            <p:extLst>
              <p:ext uri="{D42A27DB-BD31-4B8C-83A1-F6EECF244321}"/>
            </p:extLst>
          </p:nvPr>
        </p:nvGraphicFramePr>
        <p:xfrm>
          <a:off x="684212" y="3500437"/>
          <a:ext cx="1989123" cy="946113"/>
        </p:xfrm>
        <a:graphic>
          <a:graphicData uri="http://schemas.openxmlformats.org/drawingml/2006/table">
            <a:tbl>
              <a:tblPr bandRow="1"/>
              <a:tblGrid>
                <a:gridCol w="1941487"/>
              </a:tblGrid>
              <a:tr h="314310">
                <a:tc>
                  <a:txBody>
                    <a:bodyPr/>
                    <a:lstStyle/>
                    <a:p>
                      <a:pPr marL="0" indent="0" algn="ctr" fontAlgn="base">
                        <a:lnSpc>
                          <a:spcPct val="100000"/>
                        </a:lnSpc>
                        <a:spcBef>
                          <a:spcPts val="0"/>
                        </a:spcBef>
                        <a:spcAft>
                          <a:spcPts val="0"/>
                        </a:spcAft>
                        <a:buNone/>
                      </a:pPr>
                      <a:r>
                        <a:rPr lang="zh-CN" altLang="en-US" sz="1800" b="1">
                          <a:solidFill>
                            <a:schemeClr val="tx1"/>
                          </a:solidFill>
                          <a:latin typeface="PMingLiU" pitchFamily="18" charset="-120"/>
                          <a:ea typeface="PMingLiU" pitchFamily="18" charset="-120"/>
                          <a:cs typeface="新細明體" pitchFamily="18" charset="-120"/>
                        </a:rPr>
                        <a:t>成本</a:t>
                      </a:r>
                      <a:r>
                        <a:rPr lang="zh-CN" altLang="en-US" sz="1800" b="1">
                          <a:solidFill>
                            <a:schemeClr val="tx1"/>
                          </a:solidFill>
                          <a:latin typeface="宋体" pitchFamily="2" charset="-122"/>
                          <a:ea typeface="宋体" pitchFamily="2" charset="-122"/>
                          <a:cs typeface="新細明體" pitchFamily="18" charset="-120"/>
                        </a:rPr>
                        <a:t>管理系统</a:t>
                      </a:r>
                      <a:endParaRPr lang="zh-CN" altLang="en-US" sz="1800" b="1">
                        <a:solidFill>
                          <a:schemeClr val="tx1"/>
                        </a:solidFill>
                        <a:latin typeface="宋体" pitchFamily="2" charset="-122"/>
                        <a:ea typeface="宋体" pitchFamily="2" charset="-122"/>
                        <a:cs typeface="新細明體" pitchFamily="18" charset="-120"/>
                      </a:endParaRPr>
                    </a:p>
                  </a:txBody>
                  <a:tcPr marL="0" marT="0" marR="0" marB="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lnTlToBr>
                      <a:noFill/>
                    </a:lnTlToBr>
                    <a:lnBlToTr>
                      <a:noFill/>
                    </a:lnBlToTr>
                    <a:solidFill>
                      <a:srgbClr val="FFFFFF"/>
                    </a:solidFill>
                  </a:tcPr>
                </a:tc>
              </a:tr>
              <a:tr h="593703">
                <a:tc>
                  <a:txBody>
                    <a:bodyPr/>
                    <a:lstStyle/>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Calibri" pitchFamily="0" charset="0"/>
                          <a:ea typeface="PMingLiU" pitchFamily="18" charset="-120"/>
                          <a:cs typeface="新細明體" pitchFamily="18" charset="-120"/>
                        </a:rPr>
                        <a:t>工时统计</a:t>
                      </a:r>
                      <a:endParaRPr lang="zh-CN" altLang="en-US" sz="1600">
                        <a:solidFill>
                          <a:srgbClr val="000000"/>
                        </a:solidFill>
                        <a:latin typeface="Calibri" pitchFamily="0" charset="0"/>
                        <a:ea typeface="PMingLiU" pitchFamily="18" charset="-120"/>
                        <a:cs typeface="新細明體" pitchFamily="18" charset="-120"/>
                      </a:endParaRPr>
                    </a:p>
                  </a:txBody>
                  <a:tcPr marL="0" marT="0" marR="0" marB="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a:solidFill>
                        <a:srgbClr val="FFFFFF"/>
                      </a:solidFill>
                      <a:prstDash val="solid"/>
                      <a:headEnd type="none" w="med" len="med"/>
                      <a:tailEnd type="none" w="med" len="med"/>
                    </a:lnT>
                    <a:lnB w="12700">
                      <a:solidFill>
                        <a:srgbClr val="FFFFFF"/>
                      </a:solidFill>
                      <a:prstDash val="solid"/>
                      <a:headEnd type="none" w="med" len="med"/>
                      <a:tailEnd type="none" w="med" len="med"/>
                    </a:lnB>
                    <a:lnTlToBr>
                      <a:noFill/>
                    </a:lnTlToBr>
                    <a:lnBlToTr>
                      <a:noFill/>
                    </a:lnBlToTr>
                    <a:solidFill>
                      <a:srgbClr val="FFFFFF"/>
                    </a:solidFill>
                  </a:tcPr>
                </a:tc>
              </a:tr>
            </a:tbl>
          </a:graphicData>
        </a:graphic>
      </p:graphicFrame>
      <p:graphicFrame>
        <p:nvGraphicFramePr>
          <p:cNvPr id="59" name="表格"/>
          <p:cNvGraphicFramePr>
            <a:graphicFrameLocks noGrp="1"/>
          </p:cNvGraphicFramePr>
          <p:nvPr>
            <p:extLst>
              <p:ext uri="{D42A27DB-BD31-4B8C-83A1-F6EECF244321}"/>
            </p:extLst>
          </p:nvPr>
        </p:nvGraphicFramePr>
        <p:xfrm>
          <a:off x="2284412" y="1339850"/>
          <a:ext cx="1992295" cy="1182644"/>
        </p:xfrm>
        <a:graphic>
          <a:graphicData uri="http://schemas.openxmlformats.org/drawingml/2006/table">
            <a:tbl>
              <a:tblPr bandRow="1"/>
              <a:tblGrid>
                <a:gridCol w="1944662"/>
              </a:tblGrid>
              <a:tr h="325416">
                <a:tc>
                  <a:txBody>
                    <a:bodyPr/>
                    <a:lstStyle/>
                    <a:p>
                      <a:pPr marL="0" indent="0" algn="ctr" fontAlgn="base">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工单管理系统</a:t>
                      </a:r>
                      <a:endParaRPr lang="zh-CN" altLang="en-US" sz="1800" b="1">
                        <a:solidFill>
                          <a:schemeClr val="tx1"/>
                        </a:solidFill>
                        <a:latin typeface="宋体" pitchFamily="2" charset="-122"/>
                        <a:ea typeface="宋体" pitchFamily="2" charset="-122"/>
                        <a:cs typeface="新細明體" pitchFamily="18" charset="-120"/>
                      </a:endParaRPr>
                    </a:p>
                  </a:txBody>
                  <a:tcPr marL="0" marT="0" marR="0" marB="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lnTlToBr>
                      <a:noFill/>
                    </a:lnTlToBr>
                    <a:lnBlToTr>
                      <a:noFill/>
                    </a:lnBlToTr>
                    <a:solidFill>
                      <a:srgbClr val="FFFFFF"/>
                    </a:solidFill>
                  </a:tcPr>
                </a:tc>
              </a:tr>
              <a:tr h="819127">
                <a:tc>
                  <a:txBody>
                    <a:bodyPr/>
                    <a:lstStyle/>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PMingLiU" pitchFamily="18" charset="-120"/>
                          <a:ea typeface="PMingLiU" pitchFamily="18" charset="-120"/>
                          <a:cs typeface="新細明體" pitchFamily="18" charset="-120"/>
                        </a:rPr>
                        <a:t>工单</a:t>
                      </a:r>
                      <a:endParaRPr lang="zh-CN" altLang="en-US" sz="1600">
                        <a:solidFill>
                          <a:srgbClr val="000000"/>
                        </a:solidFill>
                        <a:latin typeface="PMingLiU" pitchFamily="18" charset="-120"/>
                        <a:ea typeface="PMingLiU" pitchFamily="18" charset="-120"/>
                        <a:cs typeface="新細明體" pitchFamily="18" charset="-120"/>
                      </a:endParaRPr>
                    </a:p>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PMingLiU" pitchFamily="18" charset="-120"/>
                          <a:ea typeface="PMingLiU" pitchFamily="18" charset="-120"/>
                          <a:cs typeface="新細明體" pitchFamily="18" charset="-120"/>
                        </a:rPr>
                        <a:t>入库单</a:t>
                      </a:r>
                      <a:endParaRPr lang="zh-CN" altLang="en-US" sz="1600">
                        <a:solidFill>
                          <a:srgbClr val="000000"/>
                        </a:solidFill>
                        <a:latin typeface="宋体" pitchFamily="2" charset="-122"/>
                        <a:ea typeface="宋体" pitchFamily="2" charset="-122"/>
                        <a:cs typeface="新細明體" pitchFamily="18" charset="-120"/>
                      </a:endParaRPr>
                    </a:p>
                  </a:txBody>
                  <a:tcPr marL="0" marT="0" marR="0" marB="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a:solidFill>
                        <a:srgbClr val="FFFFFF"/>
                      </a:solidFill>
                      <a:prstDash val="solid"/>
                      <a:headEnd type="none" w="med" len="med"/>
                      <a:tailEnd type="none" w="med" len="med"/>
                    </a:lnT>
                    <a:lnB w="12700">
                      <a:solidFill>
                        <a:srgbClr val="FFFFFF"/>
                      </a:solidFill>
                      <a:prstDash val="solid"/>
                      <a:headEnd type="none" w="med" len="med"/>
                      <a:tailEnd type="none" w="med" len="med"/>
                    </a:lnB>
                    <a:lnTlToBr>
                      <a:noFill/>
                    </a:lnTlToBr>
                    <a:lnBlToTr>
                      <a:noFill/>
                    </a:lnBlToTr>
                    <a:solidFill>
                      <a:srgbClr val="FFFFFF"/>
                    </a:solidFill>
                  </a:tcPr>
                </a:tc>
              </a:tr>
            </a:tbl>
          </a:graphicData>
        </a:graphic>
      </p:graphicFrame>
      <p:graphicFrame>
        <p:nvGraphicFramePr>
          <p:cNvPr id="60" name="表格"/>
          <p:cNvGraphicFramePr>
            <a:graphicFrameLocks noGrp="1"/>
          </p:cNvGraphicFramePr>
          <p:nvPr>
            <p:extLst>
              <p:ext uri="{D42A27DB-BD31-4B8C-83A1-F6EECF244321}"/>
            </p:extLst>
          </p:nvPr>
        </p:nvGraphicFramePr>
        <p:xfrm>
          <a:off x="6516687" y="3121025"/>
          <a:ext cx="1989123" cy="1603338"/>
        </p:xfrm>
        <a:graphic>
          <a:graphicData uri="http://schemas.openxmlformats.org/drawingml/2006/table">
            <a:tbl>
              <a:tblPr bandRow="1"/>
              <a:tblGrid>
                <a:gridCol w="1941487"/>
              </a:tblGrid>
              <a:tr h="323835">
                <a:tc>
                  <a:txBody>
                    <a:bodyPr/>
                    <a:lstStyle/>
                    <a:p>
                      <a:pPr marL="0" indent="0" algn="ctr" fontAlgn="base">
                        <a:lnSpc>
                          <a:spcPct val="100000"/>
                        </a:lnSpc>
                        <a:spcBef>
                          <a:spcPts val="0"/>
                        </a:spcBef>
                        <a:spcAft>
                          <a:spcPts val="0"/>
                        </a:spcAft>
                        <a:buNone/>
                      </a:pPr>
                      <a:r>
                        <a:rPr lang="zh-CN" altLang="en-US" sz="1800" b="1">
                          <a:solidFill>
                            <a:schemeClr val="tx1"/>
                          </a:solidFill>
                          <a:latin typeface="PMingLiU" pitchFamily="18" charset="-120"/>
                          <a:ea typeface="PMingLiU" pitchFamily="18" charset="-120"/>
                          <a:cs typeface="新細明體" pitchFamily="18" charset="-120"/>
                        </a:rPr>
                        <a:t>存</a:t>
                      </a:r>
                      <a:r>
                        <a:rPr lang="zh-CN" altLang="en-US" sz="1800" b="1">
                          <a:solidFill>
                            <a:schemeClr val="tx1"/>
                          </a:solidFill>
                          <a:latin typeface="宋体" pitchFamily="2" charset="-122"/>
                          <a:ea typeface="宋体" pitchFamily="2" charset="-122"/>
                          <a:cs typeface="新細明體" pitchFamily="18" charset="-120"/>
                        </a:rPr>
                        <a:t>货管理系统</a:t>
                      </a:r>
                      <a:endParaRPr lang="zh-CN" altLang="en-US" sz="1800" b="1">
                        <a:solidFill>
                          <a:schemeClr val="tx1"/>
                        </a:solidFill>
                        <a:latin typeface="宋体" pitchFamily="2" charset="-122"/>
                        <a:ea typeface="宋体" pitchFamily="2" charset="-122"/>
                        <a:cs typeface="新細明體" pitchFamily="18" charset="-120"/>
                      </a:endParaRPr>
                    </a:p>
                  </a:txBody>
                  <a:tcPr marL="0" marT="0" marR="0" marB="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lnTlToBr>
                      <a:noFill/>
                    </a:lnTlToBr>
                    <a:lnBlToTr>
                      <a:noFill/>
                    </a:lnBlToTr>
                    <a:solidFill>
                      <a:srgbClr val="FFFFFF"/>
                    </a:solidFill>
                  </a:tcPr>
                </a:tc>
              </a:tr>
              <a:tr h="1241402">
                <a:tc>
                  <a:txBody>
                    <a:bodyPr/>
                    <a:lstStyle/>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Calibri" pitchFamily="0" charset="0"/>
                          <a:ea typeface="PMingLiU" pitchFamily="18" charset="-120"/>
                          <a:cs typeface="新細明體" pitchFamily="18" charset="-120"/>
                        </a:rPr>
                        <a:t>品号</a:t>
                      </a:r>
                      <a:r>
                        <a:rPr lang="zh-CN" altLang="en-US" sz="1600">
                          <a:solidFill>
                            <a:srgbClr val="000000"/>
                          </a:solidFill>
                          <a:latin typeface="PMingLiU" pitchFamily="18" charset="-120"/>
                          <a:ea typeface="PMingLiU" pitchFamily="18" charset="-120"/>
                          <a:cs typeface="新細明體" pitchFamily="18" charset="-120"/>
                        </a:rPr>
                        <a:t>信息</a:t>
                      </a:r>
                      <a:endParaRPr lang="zh-CN" altLang="en-US" sz="1600">
                        <a:solidFill>
                          <a:srgbClr val="000000"/>
                        </a:solidFill>
                        <a:latin typeface="宋体" pitchFamily="2" charset="-122"/>
                        <a:ea typeface="宋体" pitchFamily="2" charset="-122"/>
                        <a:cs typeface="新細明體" pitchFamily="18" charset="-120"/>
                      </a:endParaRPr>
                    </a:p>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Calibri" pitchFamily="0" charset="0"/>
                          <a:ea typeface="PMingLiU" pitchFamily="18" charset="-120"/>
                          <a:cs typeface="新細明體" pitchFamily="18" charset="-120"/>
                        </a:rPr>
                        <a:t>特征码</a:t>
                      </a:r>
                      <a:r>
                        <a:rPr lang="zh-CN" altLang="en-US" sz="1600">
                          <a:solidFill>
                            <a:srgbClr val="000000"/>
                          </a:solidFill>
                          <a:latin typeface="PMingLiU" pitchFamily="18" charset="-120"/>
                          <a:ea typeface="PMingLiU" pitchFamily="18" charset="-120"/>
                          <a:cs typeface="新細明體" pitchFamily="18" charset="-120"/>
                        </a:rPr>
                        <a:t>信息</a:t>
                      </a:r>
                      <a:endParaRPr lang="zh-CN" altLang="en-US" sz="1600">
                        <a:solidFill>
                          <a:srgbClr val="000000"/>
                        </a:solidFill>
                        <a:latin typeface="Calibri" pitchFamily="0" charset="0"/>
                        <a:ea typeface="PMingLiU" pitchFamily="18" charset="-120"/>
                        <a:cs typeface="新細明體" pitchFamily="18" charset="-120"/>
                      </a:endParaRPr>
                    </a:p>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Calibri" pitchFamily="0" charset="0"/>
                          <a:ea typeface="PMingLiU" pitchFamily="18" charset="-120"/>
                          <a:cs typeface="新細明體" pitchFamily="18" charset="-120"/>
                        </a:rPr>
                        <a:t>品号工厂</a:t>
                      </a:r>
                      <a:r>
                        <a:rPr lang="zh-CN" altLang="en-US" sz="1600">
                          <a:solidFill>
                            <a:srgbClr val="000000"/>
                          </a:solidFill>
                          <a:latin typeface="PMingLiU" pitchFamily="18" charset="-120"/>
                          <a:ea typeface="PMingLiU" pitchFamily="18" charset="-120"/>
                          <a:cs typeface="新細明體" pitchFamily="18" charset="-120"/>
                        </a:rPr>
                        <a:t>信息</a:t>
                      </a:r>
                      <a:endParaRPr lang="zh-CN" altLang="en-US" sz="1600">
                        <a:solidFill>
                          <a:srgbClr val="000000"/>
                        </a:solidFill>
                        <a:latin typeface="PMingLiU" pitchFamily="18" charset="-120"/>
                        <a:ea typeface="PMingLiU" pitchFamily="18" charset="-120"/>
                        <a:cs typeface="新細明體" pitchFamily="18" charset="-120"/>
                      </a:endParaRPr>
                    </a:p>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PMingLiU" pitchFamily="18" charset="-120"/>
                          <a:ea typeface="PMingLiU" pitchFamily="18" charset="-120"/>
                          <a:cs typeface="新細明體" pitchFamily="18" charset="-120"/>
                        </a:rPr>
                        <a:t>仓库</a:t>
                      </a:r>
                      <a:r>
                        <a:rPr lang="zh-CN" altLang="en-US" sz="1600">
                          <a:solidFill>
                            <a:srgbClr val="000000"/>
                          </a:solidFill>
                          <a:latin typeface="宋体" pitchFamily="2" charset="-122"/>
                          <a:ea typeface="宋体" pitchFamily="2" charset="-122"/>
                          <a:cs typeface="新細明體" pitchFamily="18" charset="-120"/>
                        </a:rPr>
                        <a:t>信息</a:t>
                      </a:r>
                      <a:endParaRPr lang="zh-CN" altLang="en-US" sz="1600">
                        <a:solidFill>
                          <a:srgbClr val="000000"/>
                        </a:solidFill>
                        <a:latin typeface="宋体" pitchFamily="2" charset="-122"/>
                        <a:ea typeface="宋体" pitchFamily="2" charset="-122"/>
                        <a:cs typeface="新細明體" pitchFamily="18" charset="-120"/>
                      </a:endParaRPr>
                    </a:p>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Calibri" pitchFamily="0" charset="0"/>
                          <a:ea typeface="PMingLiU" pitchFamily="18" charset="-120"/>
                          <a:cs typeface="新細明體" pitchFamily="18" charset="-120"/>
                        </a:rPr>
                        <a:t>库存</a:t>
                      </a:r>
                      <a:endParaRPr lang="zh-CN" altLang="en-US" sz="1600">
                        <a:solidFill>
                          <a:srgbClr val="000000"/>
                        </a:solidFill>
                        <a:latin typeface="Calibri" pitchFamily="0" charset="0"/>
                        <a:ea typeface="PMingLiU" pitchFamily="18" charset="-120"/>
                        <a:cs typeface="新細明體" pitchFamily="18" charset="-120"/>
                      </a:endParaRPr>
                    </a:p>
                  </a:txBody>
                  <a:tcPr marL="0" marT="0" marR="0" marB="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a:solidFill>
                        <a:srgbClr val="FFFFFF"/>
                      </a:solidFill>
                      <a:prstDash val="solid"/>
                      <a:headEnd type="none" w="med" len="med"/>
                      <a:tailEnd type="none" w="med" len="med"/>
                    </a:lnT>
                    <a:lnB w="12700">
                      <a:solidFill>
                        <a:srgbClr val="FFFFFF"/>
                      </a:solidFill>
                      <a:prstDash val="solid"/>
                      <a:headEnd type="none" w="med" len="med"/>
                      <a:tailEnd type="none" w="med" len="med"/>
                    </a:lnB>
                    <a:lnTlToBr>
                      <a:noFill/>
                    </a:lnTlToBr>
                    <a:lnBlToTr>
                      <a:noFill/>
                    </a:lnBlToTr>
                    <a:solidFill>
                      <a:srgbClr val="FFFFFF"/>
                    </a:solidFill>
                  </a:tcPr>
                </a:tc>
              </a:tr>
            </a:tbl>
          </a:graphicData>
        </a:graphic>
      </p:graphicFrame>
      <p:cxnSp>
        <p:nvCxnSpPr>
          <p:cNvPr id="61" name="肘形连接线"/>
          <p:cNvCxnSpPr>
            <a:cxnSpLocks/>
          </p:cNvCxnSpPr>
          <p:nvPr/>
        </p:nvCxnSpPr>
        <p:spPr>
          <a:xfrm flipH="1" rot="16200000">
            <a:off x="3269456" y="2948781"/>
            <a:ext cx="915987" cy="3175"/>
          </a:xfrm>
          <a:prstGeom prst="bentConnector3">
            <a:avLst>
              <a:gd name="adj1" fmla="val 50000"/>
            </a:avLst>
          </a:prstGeom>
          <a:noFill/>
          <a:ln w="25400" cmpd="sng" cap="flat">
            <a:solidFill>
              <a:srgbClr val="C0504D"/>
            </a:solidFill>
            <a:prstDash val="solid"/>
            <a:miter/>
            <a:tailEnd type="arrow" w="med" len="med"/>
          </a:ln>
        </p:spPr>
      </p:cxnSp>
      <p:graphicFrame>
        <p:nvGraphicFramePr>
          <p:cNvPr id="62" name="表格"/>
          <p:cNvGraphicFramePr>
            <a:graphicFrameLocks noGrp="1"/>
          </p:cNvGraphicFramePr>
          <p:nvPr>
            <p:extLst>
              <p:ext uri="{D42A27DB-BD31-4B8C-83A1-F6EECF244321}"/>
            </p:extLst>
          </p:nvPr>
        </p:nvGraphicFramePr>
        <p:xfrm>
          <a:off x="3570287" y="5227638"/>
          <a:ext cx="1992295" cy="1135030"/>
        </p:xfrm>
        <a:graphic>
          <a:graphicData uri="http://schemas.openxmlformats.org/drawingml/2006/table">
            <a:tbl>
              <a:tblPr bandRow="1"/>
              <a:tblGrid>
                <a:gridCol w="1944662"/>
              </a:tblGrid>
              <a:tr h="331769">
                <a:tc>
                  <a:txBody>
                    <a:bodyPr/>
                    <a:lstStyle/>
                    <a:p>
                      <a:pPr marL="0" indent="0" algn="ctr" fontAlgn="base">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采购管理系统</a:t>
                      </a:r>
                      <a:endParaRPr lang="zh-CN" altLang="en-US" sz="1800" b="1">
                        <a:solidFill>
                          <a:schemeClr val="tx1"/>
                        </a:solidFill>
                        <a:latin typeface="宋体" pitchFamily="2" charset="-122"/>
                        <a:ea typeface="宋体" pitchFamily="2" charset="-122"/>
                        <a:cs typeface="新細明體" pitchFamily="18" charset="-120"/>
                      </a:endParaRPr>
                    </a:p>
                  </a:txBody>
                  <a:tcPr marL="0" marT="0" marR="0" marB="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lnTlToBr>
                      <a:noFill/>
                    </a:lnTlToBr>
                    <a:lnBlToTr>
                      <a:noFill/>
                    </a:lnBlToTr>
                    <a:solidFill>
                      <a:srgbClr val="FFFFFF"/>
                    </a:solidFill>
                  </a:tcPr>
                </a:tc>
              </a:tr>
              <a:tr h="765160">
                <a:tc>
                  <a:txBody>
                    <a:bodyPr/>
                    <a:lstStyle/>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Calibri" pitchFamily="0" charset="0"/>
                          <a:ea typeface="PMingLiU" pitchFamily="18" charset="-120"/>
                          <a:cs typeface="新細明體" pitchFamily="18" charset="-120"/>
                        </a:rPr>
                        <a:t>采购单</a:t>
                      </a:r>
                      <a:endParaRPr lang="zh-CN" altLang="en-US" sz="1600">
                        <a:solidFill>
                          <a:srgbClr val="000000"/>
                        </a:solidFill>
                        <a:latin typeface="Calibri" pitchFamily="0" charset="0"/>
                        <a:ea typeface="PMingLiU" pitchFamily="18" charset="-120"/>
                        <a:cs typeface="新細明體" pitchFamily="18" charset="-120"/>
                      </a:endParaRPr>
                    </a:p>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Calibri" pitchFamily="0" charset="0"/>
                          <a:ea typeface="PMingLiU" pitchFamily="18" charset="-120"/>
                          <a:cs typeface="新細明體" pitchFamily="18" charset="-120"/>
                        </a:rPr>
                        <a:t>到货单</a:t>
                      </a:r>
                      <a:endParaRPr lang="zh-CN" altLang="en-US" sz="1600">
                        <a:solidFill>
                          <a:srgbClr val="000000"/>
                        </a:solidFill>
                        <a:latin typeface="Calibri" pitchFamily="0" charset="0"/>
                        <a:ea typeface="PMingLiU" pitchFamily="18" charset="-120"/>
                        <a:cs typeface="新細明體" pitchFamily="18" charset="-120"/>
                      </a:endParaRPr>
                    </a:p>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Calibri" pitchFamily="0" charset="0"/>
                          <a:ea typeface="PMingLiU" pitchFamily="18" charset="-120"/>
                          <a:cs typeface="新細明體" pitchFamily="18" charset="-120"/>
                        </a:rPr>
                        <a:t>入库单</a:t>
                      </a:r>
                      <a:endParaRPr lang="zh-CN" altLang="en-US" sz="1600">
                        <a:solidFill>
                          <a:srgbClr val="000000"/>
                        </a:solidFill>
                        <a:latin typeface="Calibri" pitchFamily="0" charset="0"/>
                        <a:ea typeface="PMingLiU" pitchFamily="18" charset="-120"/>
                        <a:cs typeface="新細明體" pitchFamily="18" charset="-120"/>
                      </a:endParaRPr>
                    </a:p>
                  </a:txBody>
                  <a:tcPr marL="0" marT="0" marR="0" marB="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a:solidFill>
                        <a:srgbClr val="FFFFFF"/>
                      </a:solidFill>
                      <a:prstDash val="solid"/>
                      <a:headEnd type="none" w="med" len="med"/>
                      <a:tailEnd type="none" w="med" len="med"/>
                    </a:lnT>
                    <a:lnB w="12700">
                      <a:solidFill>
                        <a:srgbClr val="FFFFFF"/>
                      </a:solidFill>
                      <a:prstDash val="solid"/>
                      <a:headEnd type="none" w="med" len="med"/>
                      <a:tailEnd type="none" w="med" len="med"/>
                    </a:lnB>
                    <a:lnTlToBr>
                      <a:noFill/>
                    </a:lnTlToBr>
                    <a:lnBlToTr>
                      <a:noFill/>
                    </a:lnBlToTr>
                    <a:solidFill>
                      <a:srgbClr val="FFFFFF"/>
                    </a:solidFill>
                  </a:tcPr>
                </a:tc>
              </a:tr>
            </a:tbl>
          </a:graphicData>
        </a:graphic>
      </p:graphicFrame>
      <p:cxnSp>
        <p:nvCxnSpPr>
          <p:cNvPr id="63" name="肘形连接线"/>
          <p:cNvCxnSpPr>
            <a:cxnSpLocks/>
          </p:cNvCxnSpPr>
          <p:nvPr/>
        </p:nvCxnSpPr>
        <p:spPr>
          <a:xfrm rot="5400000">
            <a:off x="4083050" y="4806950"/>
            <a:ext cx="842962" cy="1587"/>
          </a:xfrm>
          <a:prstGeom prst="bentConnector3">
            <a:avLst>
              <a:gd name="adj1" fmla="val 50000"/>
            </a:avLst>
          </a:prstGeom>
          <a:noFill/>
          <a:ln w="25400" cmpd="sng" cap="flat">
            <a:solidFill>
              <a:srgbClr val="C0504D"/>
            </a:solidFill>
            <a:prstDash val="solid"/>
            <a:miter/>
            <a:tailEnd type="arrow" w="med" len="med"/>
          </a:ln>
        </p:spPr>
      </p:cxnSp>
      <p:sp>
        <p:nvSpPr>
          <p:cNvPr id="64" name="流程图: 直接访问存储器"/>
          <p:cNvSpPr>
            <a:spLocks/>
          </p:cNvSpPr>
          <p:nvPr/>
        </p:nvSpPr>
        <p:spPr>
          <a:xfrm rot="0">
            <a:off x="3419475" y="3462337"/>
            <a:ext cx="2158999" cy="830262"/>
          </a:xfrm>
          <a:prstGeom prst="flowChartMagneticDrum"/>
          <a:solidFill>
            <a:schemeClr val="accent1"/>
          </a:solidFill>
          <a:ln w="9525" cmpd="sng" cap="flat">
            <a:solidFill>
              <a:srgbClr val="BD4C49"/>
            </a:solidFill>
            <a:prstDash val="solid"/>
            <a:miter/>
          </a:ln>
        </p:spPr>
        <p:txBody>
          <a:bodyPr vert="horz" wrap="none" lIns="92075" tIns="45720" rIns="92075" bIns="45720" anchor="ctr" anchorCtr="0">
            <a:prstTxWarp prst="textNoShape"/>
          </a:bodyPr>
          <a:lstStyle/>
          <a:p>
            <a:pPr marL="0" indent="0" algn="ctr" eaLnBrk="0" latinLnBrk="0" hangingPunct="0">
              <a:lnSpc>
                <a:spcPct val="100000"/>
              </a:lnSpc>
              <a:spcBef>
                <a:spcPts val="0"/>
              </a:spcBef>
              <a:spcAft>
                <a:spcPts val="0"/>
              </a:spcAft>
              <a:buNone/>
            </a:pPr>
            <a:r>
              <a:rPr lang="zh-CN" altLang="en-US" sz="2000" b="1">
                <a:solidFill>
                  <a:srgbClr val="000000"/>
                </a:solidFill>
                <a:latin typeface="宋体" pitchFamily="2" charset="-122"/>
                <a:ea typeface="PMingLiU" pitchFamily="18" charset="-120"/>
                <a:cs typeface="新細明體" pitchFamily="18" charset="-120"/>
              </a:rPr>
              <a:t>工艺管理系统</a:t>
            </a:r>
            <a:endParaRPr lang="zh-CN" altLang="en-US" sz="2000" b="1">
              <a:solidFill>
                <a:srgbClr val="000000"/>
              </a:solidFill>
              <a:latin typeface="宋体" pitchFamily="2" charset="-122"/>
              <a:ea typeface="PMingLiU" pitchFamily="18" charset="-120"/>
              <a:cs typeface="新細明體" pitchFamily="18" charset="-120"/>
            </a:endParaRPr>
          </a:p>
        </p:txBody>
      </p:sp>
      <p:graphicFrame>
        <p:nvGraphicFramePr>
          <p:cNvPr id="65" name="表格"/>
          <p:cNvGraphicFramePr>
            <a:graphicFrameLocks noGrp="1"/>
          </p:cNvGraphicFramePr>
          <p:nvPr>
            <p:extLst>
              <p:ext uri="{D42A27DB-BD31-4B8C-83A1-F6EECF244321}"/>
            </p:extLst>
          </p:nvPr>
        </p:nvGraphicFramePr>
        <p:xfrm>
          <a:off x="4818063" y="1343025"/>
          <a:ext cx="2136759" cy="1182644"/>
        </p:xfrm>
        <a:graphic>
          <a:graphicData uri="http://schemas.openxmlformats.org/drawingml/2006/table">
            <a:tbl>
              <a:tblPr bandRow="1"/>
              <a:tblGrid>
                <a:gridCol w="2089124"/>
              </a:tblGrid>
              <a:tr h="325416">
                <a:tc>
                  <a:txBody>
                    <a:bodyPr/>
                    <a:lstStyle/>
                    <a:p>
                      <a:pPr marL="0" indent="0" algn="ctr" fontAlgn="base">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条码管理系统</a:t>
                      </a:r>
                      <a:endParaRPr lang="zh-CN" altLang="en-US" sz="1800" b="1">
                        <a:solidFill>
                          <a:schemeClr val="tx1"/>
                        </a:solidFill>
                        <a:latin typeface="宋体" pitchFamily="2" charset="-122"/>
                        <a:ea typeface="宋体" pitchFamily="2" charset="-122"/>
                        <a:cs typeface="新細明體" pitchFamily="18" charset="-120"/>
                      </a:endParaRPr>
                    </a:p>
                  </a:txBody>
                  <a:tcPr marL="0" marT="0" marR="0" marB="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lnTlToBr>
                      <a:noFill/>
                    </a:lnTlToBr>
                    <a:lnBlToTr>
                      <a:noFill/>
                    </a:lnBlToTr>
                    <a:solidFill>
                      <a:srgbClr val="FFFFFF"/>
                    </a:solidFill>
                  </a:tcPr>
                </a:tc>
              </a:tr>
              <a:tr h="819127">
                <a:tc>
                  <a:txBody>
                    <a:bodyPr/>
                    <a:lstStyle/>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PMingLiU" pitchFamily="18" charset="-120"/>
                          <a:ea typeface="PMingLiU" pitchFamily="18" charset="-120"/>
                          <a:cs typeface="新細明體" pitchFamily="18" charset="-120"/>
                        </a:rPr>
                        <a:t>条码管理参数</a:t>
                      </a:r>
                      <a:endParaRPr lang="zh-CN" altLang="en-US" sz="1600">
                        <a:solidFill>
                          <a:srgbClr val="000000"/>
                        </a:solidFill>
                        <a:latin typeface="PMingLiU" pitchFamily="18" charset="-120"/>
                        <a:ea typeface="PMingLiU" pitchFamily="18" charset="-120"/>
                        <a:cs typeface="新細明體" pitchFamily="18" charset="-120"/>
                      </a:endParaRPr>
                    </a:p>
                    <a:p>
                      <a:pPr marL="0" indent="0" algn="l" fontAlgn="base">
                        <a:lnSpc>
                          <a:spcPct val="100000"/>
                        </a:lnSpc>
                        <a:spcBef>
                          <a:spcPts val="0"/>
                        </a:spcBef>
                        <a:spcAft>
                          <a:spcPts val="0"/>
                        </a:spcAft>
                        <a:buSzPct val="100000"/>
                        <a:buFont typeface="Wingdings" pitchFamily="2" charset="2"/>
                        <a:buChar char="l"/>
                      </a:pPr>
                      <a:r>
                        <a:rPr lang="zh-CN" altLang="en-US" sz="1600">
                          <a:solidFill>
                            <a:srgbClr val="000000"/>
                          </a:solidFill>
                          <a:latin typeface="PMingLiU" pitchFamily="18" charset="-120"/>
                          <a:ea typeface="PMingLiU" pitchFamily="18" charset="-120"/>
                          <a:cs typeface="新細明體" pitchFamily="18" charset="-120"/>
                        </a:rPr>
                        <a:t>工艺条码员工参数</a:t>
                      </a:r>
                      <a:endParaRPr lang="zh-CN" altLang="en-US" sz="1600">
                        <a:solidFill>
                          <a:srgbClr val="000000"/>
                        </a:solidFill>
                        <a:latin typeface="宋体" pitchFamily="2" charset="-122"/>
                        <a:ea typeface="宋体" pitchFamily="2" charset="-122"/>
                        <a:cs typeface="新細明體" pitchFamily="18" charset="-120"/>
                      </a:endParaRPr>
                    </a:p>
                  </a:txBody>
                  <a:tcPr marL="0" marT="0" marR="0" marB="0" vert="horz">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a:solidFill>
                        <a:srgbClr val="FFFFFF"/>
                      </a:solidFill>
                      <a:prstDash val="solid"/>
                      <a:headEnd type="none" w="med" len="med"/>
                      <a:tailEnd type="none" w="med" len="med"/>
                    </a:lnT>
                    <a:lnB w="12700">
                      <a:solidFill>
                        <a:srgbClr val="FFFFFF"/>
                      </a:solidFill>
                      <a:prstDash val="solid"/>
                      <a:headEnd type="none" w="med" len="med"/>
                      <a:tailEnd type="none" w="med" len="med"/>
                    </a:lnB>
                    <a:lnTlToBr>
                      <a:noFill/>
                    </a:lnTlToBr>
                    <a:lnBlToTr>
                      <a:noFill/>
                    </a:lnBlToTr>
                    <a:solidFill>
                      <a:srgbClr val="FFFFFF"/>
                    </a:solidFill>
                  </a:tcPr>
                </a:tc>
              </a:tr>
            </a:tbl>
          </a:graphicData>
        </a:graphic>
      </p:graphicFrame>
      <p:cxnSp>
        <p:nvCxnSpPr>
          <p:cNvPr id="66" name="肘形连接线"/>
          <p:cNvCxnSpPr>
            <a:cxnSpLocks/>
          </p:cNvCxnSpPr>
          <p:nvPr/>
        </p:nvCxnSpPr>
        <p:spPr>
          <a:xfrm flipH="1" rot="16200000">
            <a:off x="4837905" y="2964656"/>
            <a:ext cx="915987" cy="3175"/>
          </a:xfrm>
          <a:prstGeom prst="bentConnector3">
            <a:avLst>
              <a:gd name="adj1" fmla="val 49995"/>
            </a:avLst>
          </a:prstGeom>
          <a:noFill/>
          <a:ln w="25400" cmpd="sng" cap="flat">
            <a:solidFill>
              <a:srgbClr val="C0504D"/>
            </a:solidFill>
            <a:prstDash val="solid"/>
            <a:miter/>
            <a:tailEnd type="arrow" w="med" len="med"/>
          </a:ln>
        </p:spPr>
      </p:cxnSp>
    </p:spTree>
    <p:extLst>
      <p:ext uri="{BB962C8B-B14F-4D97-AF65-F5344CB8AC3E}">
        <p14:creationId xmlns:p14="http://schemas.microsoft.com/office/powerpoint/2010/main" val="1645643858"/>
      </p:ext>
    </p:extLst>
  </p:cSld>
  <p:clrMapOvr>
    <a:masterClrMapping/>
  </p:clrMapOvr>
  <p:transition/>
</p:sld>
</file>

<file path=ppt/slides/slide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7"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系统应用</a:t>
            </a:r>
            <a:r>
              <a:rPr lang="zh-CN" altLang="en-US" sz="3600" b="1">
                <a:solidFill>
                  <a:schemeClr val="tx1"/>
                </a:solidFill>
                <a:latin typeface="Microsoft JhengHei" pitchFamily="34" charset="-120"/>
                <a:ea typeface="Microsoft JhengHei" pitchFamily="34" charset="-120"/>
                <a:cs typeface="新細明體" pitchFamily="18" charset="-120"/>
              </a:rPr>
              <a:t>前提</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68" name="矩形"/>
          <p:cNvSpPr>
            <a:spLocks/>
          </p:cNvSpPr>
          <p:nvPr/>
        </p:nvSpPr>
        <p:spPr>
          <a:xfrm rot="0">
            <a:off x="800100" y="1770062"/>
            <a:ext cx="4843462" cy="440054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SzPct val="100000"/>
              <a:buFont typeface="Wingdings" pitchFamily="2" charset="2"/>
              <a:buChar char="Ø"/>
            </a:pPr>
            <a:r>
              <a:rPr lang="zh-CN" altLang="en-US" sz="2800">
                <a:solidFill>
                  <a:schemeClr val="tx1"/>
                </a:solidFill>
                <a:latin typeface="微软雅黑" pitchFamily="34" charset="-122"/>
                <a:ea typeface="微软雅黑" pitchFamily="34" charset="-122"/>
                <a:cs typeface="新細明體" pitchFamily="18" charset="-120"/>
              </a:rPr>
              <a:t>公共管理系统</a:t>
            </a:r>
            <a:endParaRPr lang="zh-CN" altLang="en-US" sz="28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SzPct val="100000"/>
              <a:buFont typeface="Wingdings" pitchFamily="2" charset="2"/>
              <a:buChar char="Ø"/>
            </a:pPr>
            <a:endParaRPr lang="zh-CN" altLang="en-US" sz="28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SzPct val="100000"/>
              <a:buFont typeface="Wingdings" pitchFamily="2" charset="2"/>
              <a:buChar char="Ø"/>
            </a:pPr>
            <a:r>
              <a:rPr lang="zh-CN" altLang="en-US" sz="2800">
                <a:solidFill>
                  <a:schemeClr val="tx1"/>
                </a:solidFill>
                <a:latin typeface="微软雅黑" pitchFamily="34" charset="-122"/>
                <a:ea typeface="微软雅黑" pitchFamily="34" charset="-122"/>
                <a:cs typeface="新細明體" pitchFamily="18" charset="-120"/>
              </a:rPr>
              <a:t>存货管理系统</a:t>
            </a:r>
            <a:endParaRPr lang="zh-CN" altLang="en-US" sz="28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SzPct val="100000"/>
              <a:buFont typeface="Wingdings" pitchFamily="2" charset="2"/>
              <a:buChar char="Ø"/>
            </a:pPr>
            <a:endParaRPr lang="zh-CN" altLang="en-US" sz="28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SzPct val="100000"/>
              <a:buFont typeface="Wingdings" pitchFamily="2" charset="2"/>
              <a:buChar char="Ø"/>
            </a:pPr>
            <a:r>
              <a:rPr lang="zh-CN" altLang="en-US" sz="2800">
                <a:solidFill>
                  <a:schemeClr val="tx1"/>
                </a:solidFill>
                <a:latin typeface="微软雅黑" pitchFamily="34" charset="-122"/>
                <a:ea typeface="微软雅黑" pitchFamily="34" charset="-122"/>
                <a:cs typeface="新細明體" pitchFamily="18" charset="-120"/>
              </a:rPr>
              <a:t>采购管理系统</a:t>
            </a:r>
            <a:endParaRPr lang="zh-CN" altLang="en-US" sz="28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SzPct val="100000"/>
              <a:buFont typeface="Wingdings" pitchFamily="2" charset="2"/>
              <a:buChar char="Ø"/>
            </a:pPr>
            <a:endParaRPr lang="zh-CN" altLang="en-US" sz="28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SzPct val="100000"/>
              <a:buFont typeface="Wingdings" pitchFamily="2" charset="2"/>
              <a:buChar char="Ø"/>
            </a:pPr>
            <a:r>
              <a:rPr lang="zh-CN" altLang="en-US" sz="2800">
                <a:solidFill>
                  <a:schemeClr val="tx1"/>
                </a:solidFill>
                <a:latin typeface="微软雅黑" pitchFamily="34" charset="-122"/>
                <a:ea typeface="微软雅黑" pitchFamily="34" charset="-122"/>
                <a:cs typeface="新細明體" pitchFamily="18" charset="-120"/>
              </a:rPr>
              <a:t>工单管理系统</a:t>
            </a:r>
            <a:endParaRPr lang="zh-CN" altLang="en-US" sz="28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None/>
            </a:pPr>
            <a:endParaRPr lang="zh-CN" altLang="en-US" sz="28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SzPct val="100000"/>
              <a:buFont typeface="Wingdings" pitchFamily="2" charset="2"/>
              <a:buChar char="Ø"/>
            </a:pPr>
            <a:r>
              <a:rPr lang="zh-CN" altLang="en-US" sz="2800">
                <a:solidFill>
                  <a:schemeClr val="tx1"/>
                </a:solidFill>
                <a:latin typeface="微软雅黑" pitchFamily="34" charset="-122"/>
                <a:ea typeface="微软雅黑" pitchFamily="34" charset="-122"/>
                <a:cs typeface="新細明體" pitchFamily="18" charset="-120"/>
              </a:rPr>
              <a:t>条码管理系统（可选）</a:t>
            </a:r>
            <a:endParaRPr lang="zh-CN" altLang="en-US" sz="28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None/>
            </a:pPr>
            <a:endParaRPr lang="zh-CN" altLang="en-US" sz="2800">
              <a:solidFill>
                <a:schemeClr val="tx1"/>
              </a:solidFill>
              <a:latin typeface="微软雅黑" pitchFamily="34" charset="-122"/>
              <a:ea typeface="微软雅黑" pitchFamily="34" charset="-122"/>
              <a:cs typeface="新細明體" pitchFamily="18" charset="-120"/>
            </a:endParaRPr>
          </a:p>
        </p:txBody>
      </p:sp>
    </p:spTree>
    <p:extLst>
      <p:ext uri="{BB962C8B-B14F-4D97-AF65-F5344CB8AC3E}">
        <p14:creationId xmlns:p14="http://schemas.microsoft.com/office/powerpoint/2010/main" val="703119574"/>
      </p:ext>
    </p:extLst>
  </p:cSld>
  <p:clrMapOvr>
    <a:masterClrMapping/>
  </p:clrMapOvr>
  <p:transition/>
</p:sld>
</file>

<file path=ppt/slides/slide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9" name="矩形"/>
          <p:cNvSpPr>
            <a:spLocks/>
          </p:cNvSpPr>
          <p:nvPr/>
        </p:nvSpPr>
        <p:spPr>
          <a:xfrm rot="0">
            <a:off x="280987" y="476250"/>
            <a:ext cx="8820151"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宋体" pitchFamily="2" charset="-122"/>
                <a:ea typeface="宋体" pitchFamily="2" charset="-122"/>
                <a:cs typeface="新細明體" pitchFamily="18" charset="-120"/>
              </a:rPr>
              <a:t>系统应用前提</a:t>
            </a:r>
            <a:r>
              <a:rPr lang="zh-CN" altLang="en-US" sz="3600" b="1">
                <a:solidFill>
                  <a:schemeClr val="tx1"/>
                </a:solidFill>
                <a:latin typeface="宋体" pitchFamily="2" charset="-122"/>
                <a:ea typeface="宋体" pitchFamily="2" charset="-122"/>
                <a:cs typeface="新細明體" pitchFamily="18" charset="-120"/>
              </a:rPr>
              <a:t>-</a:t>
            </a:r>
            <a:r>
              <a:rPr lang="zh-CN" altLang="en-US" sz="3600" b="1">
                <a:solidFill>
                  <a:schemeClr val="tx1"/>
                </a:solidFill>
                <a:latin typeface="宋体" pitchFamily="2" charset="-122"/>
                <a:ea typeface="宋体" pitchFamily="2" charset="-122"/>
                <a:cs typeface="新細明體" pitchFamily="18" charset="-120"/>
              </a:rPr>
              <a:t>前</a:t>
            </a:r>
            <a:r>
              <a:rPr lang="zh-CN" altLang="en-US" sz="3600" b="1">
                <a:solidFill>
                  <a:schemeClr val="tx1"/>
                </a:solidFill>
                <a:latin typeface="宋体" pitchFamily="2" charset="-122"/>
                <a:ea typeface="宋体" pitchFamily="2" charset="-122"/>
                <a:cs typeface="新細明體" pitchFamily="18" charset="-120"/>
              </a:rPr>
              <a:t>序作业</a:t>
            </a:r>
            <a:endParaRPr lang="zh-CN" altLang="en-US" sz="3600" b="1">
              <a:solidFill>
                <a:schemeClr val="tx1"/>
              </a:solidFill>
              <a:latin typeface="宋体" pitchFamily="2" charset="-122"/>
              <a:ea typeface="宋体" pitchFamily="2" charset="-122"/>
              <a:cs typeface="新細明體" pitchFamily="18" charset="-120"/>
            </a:endParaRPr>
          </a:p>
        </p:txBody>
      </p:sp>
      <p:sp>
        <p:nvSpPr>
          <p:cNvPr id="70" name="圆角矩形"/>
          <p:cNvSpPr>
            <a:spLocks/>
          </p:cNvSpPr>
          <p:nvPr/>
        </p:nvSpPr>
        <p:spPr>
          <a:xfrm rot="0">
            <a:off x="3203575" y="3186112"/>
            <a:ext cx="2232025" cy="43180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维护品号信息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71" name="圆角矩形"/>
          <p:cNvSpPr>
            <a:spLocks/>
          </p:cNvSpPr>
          <p:nvPr/>
        </p:nvSpPr>
        <p:spPr>
          <a:xfrm rot="0">
            <a:off x="5795962" y="1628775"/>
            <a:ext cx="2232025" cy="43180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维护供应商信息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72" name="圆角矩形"/>
          <p:cNvSpPr>
            <a:spLocks/>
          </p:cNvSpPr>
          <p:nvPr/>
        </p:nvSpPr>
        <p:spPr>
          <a:xfrm rot="0">
            <a:off x="3203575" y="1628775"/>
            <a:ext cx="2232025" cy="43180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维护工作中心信息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73" name="圆角矩形"/>
          <p:cNvSpPr>
            <a:spLocks/>
          </p:cNvSpPr>
          <p:nvPr/>
        </p:nvSpPr>
        <p:spPr>
          <a:xfrm rot="0">
            <a:off x="5795962" y="3186112"/>
            <a:ext cx="2232025" cy="43180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维护品号工厂信息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74" name="圆角矩形"/>
          <p:cNvSpPr>
            <a:spLocks/>
          </p:cNvSpPr>
          <p:nvPr/>
        </p:nvSpPr>
        <p:spPr>
          <a:xfrm rot="0">
            <a:off x="611187" y="3186112"/>
            <a:ext cx="2232025" cy="43180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维护仓库信息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75" name="矩形"/>
          <p:cNvSpPr>
            <a:spLocks/>
          </p:cNvSpPr>
          <p:nvPr/>
        </p:nvSpPr>
        <p:spPr>
          <a:xfrm rot="0">
            <a:off x="8550276" y="6383337"/>
            <a:ext cx="719137" cy="4762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8</a:t>
            </a:r>
            <a:endParaRPr lang="zh-CN" altLang="en-US" sz="1800">
              <a:solidFill>
                <a:schemeClr val="tx1"/>
              </a:solidFill>
              <a:latin typeface="Arial" pitchFamily="34" charset="0"/>
              <a:ea typeface="PMingLiU" pitchFamily="18" charset="-120"/>
              <a:cs typeface="新細明體" pitchFamily="18" charset="-120"/>
            </a:endParaRPr>
          </a:p>
        </p:txBody>
      </p:sp>
      <p:sp>
        <p:nvSpPr>
          <p:cNvPr id="76" name="圆角矩形"/>
          <p:cNvSpPr>
            <a:spLocks/>
          </p:cNvSpPr>
          <p:nvPr/>
        </p:nvSpPr>
        <p:spPr>
          <a:xfrm rot="0">
            <a:off x="611187" y="2406650"/>
            <a:ext cx="2232025" cy="43180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维护员工信息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77" name="圆角矩形"/>
          <p:cNvSpPr>
            <a:spLocks/>
          </p:cNvSpPr>
          <p:nvPr/>
        </p:nvSpPr>
        <p:spPr>
          <a:xfrm rot="0">
            <a:off x="3203575" y="2406650"/>
            <a:ext cx="2232025" cy="43180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维护部门信息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78" name="圆角矩形"/>
          <p:cNvSpPr>
            <a:spLocks/>
          </p:cNvSpPr>
          <p:nvPr/>
        </p:nvSpPr>
        <p:spPr>
          <a:xfrm rot="0">
            <a:off x="5795962" y="2403475"/>
            <a:ext cx="2232025" cy="431799"/>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维护单位信息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79" name="圆角矩形"/>
          <p:cNvSpPr>
            <a:spLocks/>
          </p:cNvSpPr>
          <p:nvPr/>
        </p:nvSpPr>
        <p:spPr>
          <a:xfrm rot="0">
            <a:off x="611187" y="1628775"/>
            <a:ext cx="2232025" cy="43180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a:t>
            </a:r>
            <a:r>
              <a:rPr lang="zh-CN" altLang="en-US" sz="1800">
                <a:solidFill>
                  <a:srgbClr val="000000"/>
                </a:solidFill>
                <a:latin typeface="Calibri" pitchFamily="0" charset="0"/>
                <a:ea typeface="PMingLiU" pitchFamily="18" charset="-120"/>
                <a:cs typeface="新細明體" pitchFamily="18" charset="-120"/>
              </a:rPr>
              <a:t>工厂</a:t>
            </a:r>
            <a:r>
              <a:rPr lang="zh-CN" altLang="en-US" sz="1800">
                <a:solidFill>
                  <a:srgbClr val="000000"/>
                </a:solidFill>
                <a:latin typeface="Calibri" pitchFamily="0" charset="0"/>
                <a:ea typeface="PMingLiU" pitchFamily="18" charset="-120"/>
                <a:cs typeface="新細明體" pitchFamily="18" charset="-120"/>
              </a:rPr>
              <a:t>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80" name="圆角矩形"/>
          <p:cNvSpPr>
            <a:spLocks/>
          </p:cNvSpPr>
          <p:nvPr/>
        </p:nvSpPr>
        <p:spPr>
          <a:xfrm rot="0">
            <a:off x="611187" y="3963987"/>
            <a:ext cx="2232025" cy="43180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a:t>
            </a:r>
            <a:r>
              <a:rPr lang="zh-CN" altLang="en-US" sz="1800">
                <a:solidFill>
                  <a:srgbClr val="000000"/>
                </a:solidFill>
                <a:latin typeface="Calibri" pitchFamily="0" charset="0"/>
                <a:ea typeface="PMingLiU" pitchFamily="18" charset="-120"/>
                <a:cs typeface="新細明體" pitchFamily="18" charset="-120"/>
              </a:rPr>
              <a:t>行事历</a:t>
            </a:r>
            <a:endParaRPr lang="zh-CN" altLang="en-US" sz="1800">
              <a:solidFill>
                <a:srgbClr val="000000"/>
              </a:solidFill>
              <a:latin typeface="Calibri" pitchFamily="0" charset="0"/>
              <a:ea typeface="PMingLiU" pitchFamily="18" charset="-120"/>
              <a:cs typeface="新細明體" pitchFamily="18" charset="-120"/>
            </a:endParaRPr>
          </a:p>
        </p:txBody>
      </p:sp>
      <p:sp>
        <p:nvSpPr>
          <p:cNvPr id="81" name="圆角矩形"/>
          <p:cNvSpPr>
            <a:spLocks/>
          </p:cNvSpPr>
          <p:nvPr/>
        </p:nvSpPr>
        <p:spPr>
          <a:xfrm rot="0">
            <a:off x="3203575" y="3968750"/>
            <a:ext cx="2232025" cy="431799"/>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维护工艺信息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82" name="圆角矩形"/>
          <p:cNvSpPr>
            <a:spLocks/>
          </p:cNvSpPr>
          <p:nvPr/>
        </p:nvSpPr>
        <p:spPr>
          <a:xfrm rot="0">
            <a:off x="5795962" y="3963987"/>
            <a:ext cx="2232025" cy="43180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维护产品工艺路线</a:t>
            </a:r>
            <a:endParaRPr lang="zh-CN" altLang="en-US" sz="1800">
              <a:solidFill>
                <a:srgbClr val="000000"/>
              </a:solidFill>
              <a:latin typeface="Calibri" pitchFamily="0" charset="0"/>
              <a:ea typeface="PMingLiU" pitchFamily="18" charset="-120"/>
              <a:cs typeface="新細明體" pitchFamily="18" charset="-120"/>
            </a:endParaRPr>
          </a:p>
        </p:txBody>
      </p:sp>
    </p:spTree>
    <p:extLst>
      <p:ext uri="{BB962C8B-B14F-4D97-AF65-F5344CB8AC3E}">
        <p14:creationId xmlns:p14="http://schemas.microsoft.com/office/powerpoint/2010/main" val="1198120899"/>
      </p:ext>
    </p:extLst>
  </p:cSld>
  <p:clrMapOvr>
    <a:masterClrMapping/>
  </p:clrMapOvr>
  <p:transition/>
</p:sld>
</file>

<file path=ppt/slides/slide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3" name="矩形"/>
          <p:cNvSpPr>
            <a:spLocks/>
          </p:cNvSpPr>
          <p:nvPr/>
        </p:nvSpPr>
        <p:spPr>
          <a:xfrm rot="0">
            <a:off x="1908175" y="665162"/>
            <a:ext cx="7235824"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3600">
                <a:solidFill>
                  <a:schemeClr val="bg1"/>
                </a:solidFill>
                <a:latin typeface="Microsoft JhengHei" pitchFamily="34" charset="-120"/>
                <a:ea typeface="Microsoft JhengHei" pitchFamily="34" charset="-120"/>
                <a:cs typeface="新細明體" pitchFamily="18" charset="-120"/>
              </a:rPr>
              <a:t>内容大纲</a:t>
            </a:r>
            <a:endParaRPr lang="zh-CN" altLang="en-US" sz="3600">
              <a:solidFill>
                <a:schemeClr val="bg1"/>
              </a:solidFill>
              <a:latin typeface="Microsoft JhengHei" pitchFamily="34" charset="-120"/>
              <a:ea typeface="Microsoft JhengHei" pitchFamily="34" charset="-120"/>
              <a:cs typeface="新細明體" pitchFamily="18" charset="-120"/>
            </a:endParaRPr>
          </a:p>
        </p:txBody>
      </p:sp>
      <p:sp>
        <p:nvSpPr>
          <p:cNvPr id="84" name="矩形"/>
          <p:cNvSpPr>
            <a:spLocks/>
          </p:cNvSpPr>
          <p:nvPr/>
        </p:nvSpPr>
        <p:spPr>
          <a:xfrm rot="0">
            <a:off x="539750" y="1773237"/>
            <a:ext cx="8135937" cy="4751387"/>
          </a:xfrm>
          <a:prstGeom prst="rect"/>
          <a:noFill/>
          <a:ln w="25400" cmpd="sng" cap="flat">
            <a:solidFill>
              <a:srgbClr val="CE3428"/>
            </a:solidFill>
            <a:prstDash val="sysDot"/>
            <a:miter/>
          </a:ln>
        </p:spPr>
      </p:sp>
      <p:pic>
        <p:nvPicPr>
          <p:cNvPr id="85" name="图片" descr="數字價值_P.png"/>
          <p:cNvPicPr>
            <a:picLocks noChangeAspect="1"/>
          </p:cNvPicPr>
          <p:nvPr/>
        </p:nvPicPr>
        <p:blipFill>
          <a:blip r:embed="rId1" cstate="print"/>
          <a:stretch>
            <a:fillRect/>
          </a:stretch>
        </p:blipFill>
        <p:spPr>
          <a:xfrm rot="0">
            <a:off x="4787900" y="4652962"/>
            <a:ext cx="3268662" cy="720725"/>
          </a:xfrm>
          <a:prstGeom prst="rect"/>
          <a:noFill/>
          <a:ln w="9525" cmpd="sng" cap="flat">
            <a:noFill/>
            <a:prstDash val="solid"/>
            <a:miter/>
          </a:ln>
        </p:spPr>
      </p:pic>
      <p:sp>
        <p:nvSpPr>
          <p:cNvPr id="86" name="矩形"/>
          <p:cNvSpPr>
            <a:spLocks/>
          </p:cNvSpPr>
          <p:nvPr/>
        </p:nvSpPr>
        <p:spPr>
          <a:xfrm rot="0">
            <a:off x="1071562" y="1928812"/>
            <a:ext cx="6215062" cy="3108325"/>
          </a:xfrm>
          <a:prstGeom prst="rect"/>
          <a:noFill/>
          <a:ln w="9525" cmpd="sng" cap="flat">
            <a:noFill/>
            <a:prstDash val="solid"/>
            <a:miter/>
          </a:ln>
        </p:spPr>
        <p:txBody>
          <a:bodyPr vert="horz" wrap="square" lIns="91440" tIns="45720" rIns="91440" bIns="45720" anchor="t" anchorCtr="0">
            <a:prstTxWarp prst="textNoShape"/>
          </a:bodyPr>
          <a:lstStyle/>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系统概述</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538ED5"/>
                </a:solidFill>
                <a:latin typeface="黑体" pitchFamily="2" charset="-122"/>
                <a:ea typeface="黑体" pitchFamily="2" charset="-122"/>
                <a:cs typeface="新細明體" pitchFamily="18" charset="-120"/>
              </a:rPr>
              <a:t>系统主</a:t>
            </a:r>
            <a:r>
              <a:rPr lang="zh-CN" altLang="en-US" sz="2800">
                <a:solidFill>
                  <a:srgbClr val="538ED5"/>
                </a:solidFill>
                <a:latin typeface="黑体" pitchFamily="2" charset="-122"/>
                <a:ea typeface="黑体" pitchFamily="2" charset="-122"/>
                <a:cs typeface="新細明體" pitchFamily="18" charset="-120"/>
              </a:rPr>
              <a:t>作业</a:t>
            </a:r>
            <a:r>
              <a:rPr lang="zh-CN" altLang="en-US" sz="2800">
                <a:solidFill>
                  <a:srgbClr val="538ED5"/>
                </a:solidFill>
                <a:latin typeface="黑体" pitchFamily="2" charset="-122"/>
                <a:ea typeface="黑体" pitchFamily="2" charset="-122"/>
                <a:cs typeface="新細明體" pitchFamily="18" charset="-120"/>
              </a:rPr>
              <a:t>流程说明</a:t>
            </a:r>
            <a:endParaRPr lang="zh-CN" altLang="en-US" sz="2800">
              <a:solidFill>
                <a:srgbClr val="538ED5"/>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基础资料准备</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日常作业操作</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管理报表应用说明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期初开账资料准备说明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实例操作讲解</a:t>
            </a:r>
            <a:endParaRPr lang="zh-CN" altLang="en-US" sz="2800">
              <a:solidFill>
                <a:srgbClr val="0D0D0D"/>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991170728"/>
      </p:ext>
    </p:extLst>
  </p:cSld>
  <p:clrMapOvr>
    <a:masterClrMapping/>
  </p:clrMapOvr>
  <p:transition/>
</p:sld>
</file>

<file path=ppt/slides/slide1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7"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系统</a:t>
            </a:r>
            <a:r>
              <a:rPr lang="zh-CN" altLang="en-US" sz="3600">
                <a:solidFill>
                  <a:srgbClr val="0D0D0D"/>
                </a:solidFill>
                <a:latin typeface="黑体" pitchFamily="2" charset="-122"/>
                <a:ea typeface="黑体" pitchFamily="2" charset="-122"/>
                <a:cs typeface="新細明體" pitchFamily="18" charset="-120"/>
              </a:rPr>
              <a:t>主</a:t>
            </a:r>
            <a:r>
              <a:rPr lang="zh-CN" altLang="en-US" sz="3600">
                <a:solidFill>
                  <a:srgbClr val="0D0D0D"/>
                </a:solidFill>
                <a:latin typeface="黑体" pitchFamily="2" charset="-122"/>
                <a:ea typeface="黑体" pitchFamily="2" charset="-122"/>
                <a:cs typeface="新細明體" pitchFamily="18" charset="-120"/>
              </a:rPr>
              <a:t>作业</a:t>
            </a:r>
            <a:r>
              <a:rPr lang="zh-CN" altLang="en-US" sz="3600">
                <a:solidFill>
                  <a:srgbClr val="0D0D0D"/>
                </a:solidFill>
                <a:latin typeface="黑体" pitchFamily="2" charset="-122"/>
                <a:ea typeface="黑体" pitchFamily="2" charset="-122"/>
                <a:cs typeface="新細明體" pitchFamily="18" charset="-120"/>
              </a:rPr>
              <a:t>流程说明</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88" name="矩形"/>
          <p:cNvSpPr>
            <a:spLocks/>
          </p:cNvSpPr>
          <p:nvPr/>
        </p:nvSpPr>
        <p:spPr>
          <a:xfrm rot="0">
            <a:off x="515937" y="1484312"/>
            <a:ext cx="8135937" cy="5040312"/>
          </a:xfrm>
          <a:prstGeom prst="rect"/>
          <a:noFill/>
          <a:ln w="25400" cmpd="sng" cap="flat">
            <a:solidFill>
              <a:srgbClr val="CE3428"/>
            </a:solidFill>
            <a:prstDash val="sysDot"/>
            <a:miter/>
          </a:ln>
        </p:spPr>
      </p:sp>
      <p:sp>
        <p:nvSpPr>
          <p:cNvPr id="89" name="矩形"/>
          <p:cNvSpPr>
            <a:spLocks/>
          </p:cNvSpPr>
          <p:nvPr/>
        </p:nvSpPr>
        <p:spPr>
          <a:xfrm rot="0">
            <a:off x="944562" y="1557337"/>
            <a:ext cx="7056437" cy="138430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SzPct val="100000"/>
              <a:buFont typeface="Wingdings" pitchFamily="2" charset="2"/>
              <a:buChar char="u"/>
            </a:pPr>
            <a:r>
              <a:rPr lang="zh-CN" altLang="en-US" sz="2800">
                <a:solidFill>
                  <a:schemeClr val="tx1"/>
                </a:solidFill>
                <a:latin typeface="Microsoft JhengHei" pitchFamily="34" charset="-120"/>
                <a:ea typeface="Microsoft JhengHei" pitchFamily="34" charset="-120"/>
                <a:cs typeface="新細明體" pitchFamily="18" charset="-120"/>
              </a:rPr>
              <a:t>系统导航图</a:t>
            </a:r>
            <a:endParaRPr lang="zh-CN" altLang="en-US" sz="2800">
              <a:solidFill>
                <a:schemeClr val="tx1"/>
              </a:solidFill>
              <a:latin typeface="Microsoft JhengHei" pitchFamily="34" charset="-120"/>
              <a:ea typeface="Microsoft JhengHei" pitchFamily="34" charset="-120"/>
              <a:cs typeface="新細明體" pitchFamily="18" charset="-120"/>
            </a:endParaRPr>
          </a:p>
          <a:p>
            <a:pPr marL="0" indent="0" algn="l">
              <a:lnSpc>
                <a:spcPct val="100000"/>
              </a:lnSpc>
              <a:spcBef>
                <a:spcPts val="0"/>
              </a:spcBef>
              <a:spcAft>
                <a:spcPts val="0"/>
              </a:spcAft>
              <a:buSzPct val="100000"/>
              <a:buFont typeface="Wingdings" pitchFamily="2" charset="2"/>
              <a:buChar char="u"/>
            </a:pPr>
            <a:r>
              <a:rPr lang="zh-CN" altLang="en-US" sz="2800">
                <a:solidFill>
                  <a:schemeClr val="tx1"/>
                </a:solidFill>
                <a:latin typeface="Microsoft JhengHei" pitchFamily="34" charset="-120"/>
                <a:ea typeface="Microsoft JhengHei" pitchFamily="34" charset="-120"/>
                <a:cs typeface="新細明體" pitchFamily="18" charset="-120"/>
              </a:rPr>
              <a:t>系统功能图</a:t>
            </a:r>
            <a:endParaRPr lang="zh-CN" altLang="en-US" sz="2800">
              <a:solidFill>
                <a:schemeClr val="tx1"/>
              </a:solidFill>
              <a:latin typeface="Microsoft JhengHei" pitchFamily="34" charset="-120"/>
              <a:ea typeface="Microsoft JhengHei" pitchFamily="34" charset="-120"/>
              <a:cs typeface="新細明體" pitchFamily="18" charset="-120"/>
            </a:endParaRPr>
          </a:p>
          <a:p>
            <a:pPr marL="0" indent="0" algn="l">
              <a:lnSpc>
                <a:spcPct val="100000"/>
              </a:lnSpc>
              <a:spcBef>
                <a:spcPts val="0"/>
              </a:spcBef>
              <a:spcAft>
                <a:spcPts val="0"/>
              </a:spcAft>
              <a:buSzPct val="100000"/>
              <a:buFont typeface="Wingdings" pitchFamily="2" charset="2"/>
              <a:buChar char="u"/>
            </a:pPr>
            <a:r>
              <a:rPr lang="zh-CN" altLang="en-US" sz="2800">
                <a:solidFill>
                  <a:schemeClr val="tx1"/>
                </a:solidFill>
                <a:latin typeface="Microsoft JhengHei" pitchFamily="34" charset="-120"/>
                <a:ea typeface="Microsoft JhengHei" pitchFamily="34" charset="-120"/>
                <a:cs typeface="新細明體" pitchFamily="18" charset="-120"/>
              </a:rPr>
              <a:t>系统主作业说明</a:t>
            </a:r>
            <a:endParaRPr lang="zh-CN" altLang="en-US" sz="2800">
              <a:solidFill>
                <a:schemeClr val="tx1"/>
              </a:solidFill>
              <a:latin typeface="Microsoft JhengHei" pitchFamily="34" charset="-120"/>
              <a:ea typeface="Microsoft JhengHei" pitchFamily="34" charset="-120"/>
              <a:cs typeface="新細明體" pitchFamily="18" charset="-120"/>
            </a:endParaRPr>
          </a:p>
        </p:txBody>
      </p:sp>
    </p:spTree>
    <p:extLst>
      <p:ext uri="{BB962C8B-B14F-4D97-AF65-F5344CB8AC3E}">
        <p14:creationId xmlns:p14="http://schemas.microsoft.com/office/powerpoint/2010/main" val="936343973"/>
      </p:ext>
    </p:extLst>
  </p:cSld>
  <p:clrMapOvr>
    <a:masterClrMapping/>
  </p:clrMapOvr>
  <p:transition/>
</p:sld>
</file>

<file path=ppt/slides/slide1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0"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系统</a:t>
            </a:r>
            <a:r>
              <a:rPr lang="zh-CN" altLang="en-US" sz="3600" b="1">
                <a:solidFill>
                  <a:schemeClr val="tx1"/>
                </a:solidFill>
                <a:latin typeface="Microsoft JhengHei" pitchFamily="34" charset="-120"/>
                <a:ea typeface="Microsoft JhengHei" pitchFamily="34" charset="-120"/>
                <a:cs typeface="新細明體" pitchFamily="18" charset="-120"/>
              </a:rPr>
              <a:t>导航图</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91" name="图片"/>
          <p:cNvPicPr>
            <a:picLocks noChangeAspect="1"/>
          </p:cNvPicPr>
          <p:nvPr/>
        </p:nvPicPr>
        <p:blipFill>
          <a:blip r:embed="rId1" cstate="print"/>
          <a:stretch>
            <a:fillRect/>
          </a:stretch>
        </p:blipFill>
        <p:spPr>
          <a:xfrm rot="0">
            <a:off x="684212" y="1217612"/>
            <a:ext cx="8018463" cy="5514975"/>
          </a:xfrm>
          <a:prstGeom prst="rect"/>
          <a:noFill/>
          <a:ln w="9525" cmpd="sng" cap="flat">
            <a:noFill/>
            <a:prstDash val="solid"/>
            <a:miter/>
          </a:ln>
        </p:spPr>
      </p:pic>
    </p:spTree>
    <p:extLst>
      <p:ext uri="{BB962C8B-B14F-4D97-AF65-F5344CB8AC3E}">
        <p14:creationId xmlns:p14="http://schemas.microsoft.com/office/powerpoint/2010/main" val="46692837"/>
      </p:ext>
    </p:extLst>
  </p:cSld>
  <p:clrMapOvr>
    <a:masterClrMapping/>
  </p:clrMapOvr>
  <p:transition/>
</p:sld>
</file>

<file path=ppt/slides/slide1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92"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系统功能</a:t>
            </a:r>
            <a:r>
              <a:rPr lang="zh-CN" altLang="en-US" sz="3600" b="1">
                <a:solidFill>
                  <a:schemeClr val="tx1"/>
                </a:solidFill>
                <a:latin typeface="Microsoft JhengHei" pitchFamily="34" charset="-120"/>
                <a:ea typeface="Microsoft JhengHei" pitchFamily="34" charset="-120"/>
                <a:cs typeface="新細明體" pitchFamily="18" charset="-120"/>
              </a:rPr>
              <a:t>图</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93" name="圆角矩形"/>
          <p:cNvSpPr>
            <a:spLocks/>
          </p:cNvSpPr>
          <p:nvPr/>
        </p:nvSpPr>
        <p:spPr>
          <a:xfrm rot="0">
            <a:off x="774700" y="1055687"/>
            <a:ext cx="1679575" cy="474662"/>
          </a:xfrm>
          <a:prstGeom prst="roundRect">
            <a:avLst>
              <a:gd name="adj" fmla="val 16666"/>
            </a:avLst>
          </a:prstGeom>
          <a:solidFill>
            <a:schemeClr val="accent1"/>
          </a:solidFill>
          <a:ln w="25400" cmpd="sng" cap="flat">
            <a:solidFill>
              <a:srgbClr val="395E8A"/>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FFFFFF"/>
                </a:solidFill>
                <a:latin typeface="Calibri" pitchFamily="0" charset="0"/>
                <a:ea typeface="PMingLiU" pitchFamily="18" charset="-120"/>
                <a:cs typeface="新細明體" pitchFamily="18" charset="-120"/>
              </a:rPr>
              <a:t>工艺管理</a:t>
            </a:r>
            <a:endParaRPr lang="zh-CN" altLang="en-US" sz="1800">
              <a:solidFill>
                <a:srgbClr val="FFFFFF"/>
              </a:solidFill>
              <a:latin typeface="Calibri" pitchFamily="0" charset="0"/>
              <a:ea typeface="PMingLiU" pitchFamily="18" charset="-120"/>
              <a:cs typeface="新細明體" pitchFamily="18" charset="-120"/>
            </a:endParaRPr>
          </a:p>
        </p:txBody>
      </p:sp>
      <p:sp>
        <p:nvSpPr>
          <p:cNvPr id="94" name="圆角矩形"/>
          <p:cNvSpPr>
            <a:spLocks/>
          </p:cNvSpPr>
          <p:nvPr/>
        </p:nvSpPr>
        <p:spPr>
          <a:xfrm rot="0">
            <a:off x="2527300" y="1712912"/>
            <a:ext cx="1679575" cy="474662"/>
          </a:xfrm>
          <a:prstGeom prst="roundRect">
            <a:avLst>
              <a:gd name="adj" fmla="val 16666"/>
            </a:avLst>
          </a:prstGeom>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基础信息</a:t>
            </a:r>
            <a:endParaRPr lang="zh-CN" altLang="en-US" sz="1800">
              <a:solidFill>
                <a:srgbClr val="000000"/>
              </a:solidFill>
              <a:latin typeface="Calibri" pitchFamily="0" charset="0"/>
              <a:ea typeface="PMingLiU" pitchFamily="18" charset="-120"/>
              <a:cs typeface="新細明體" pitchFamily="18" charset="-120"/>
            </a:endParaRPr>
          </a:p>
        </p:txBody>
      </p:sp>
      <p:sp>
        <p:nvSpPr>
          <p:cNvPr id="95" name="圆角矩形"/>
          <p:cNvSpPr>
            <a:spLocks/>
          </p:cNvSpPr>
          <p:nvPr/>
        </p:nvSpPr>
        <p:spPr>
          <a:xfrm rot="0">
            <a:off x="2563812" y="2735262"/>
            <a:ext cx="1679575" cy="474662"/>
          </a:xfrm>
          <a:prstGeom prst="roundRect">
            <a:avLst>
              <a:gd name="adj" fmla="val 16666"/>
            </a:avLst>
          </a:prstGeom>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工单工艺</a:t>
            </a:r>
            <a:endParaRPr lang="zh-CN" altLang="en-US" sz="1800">
              <a:solidFill>
                <a:srgbClr val="000000"/>
              </a:solidFill>
              <a:latin typeface="Calibri" pitchFamily="0" charset="0"/>
              <a:ea typeface="PMingLiU" pitchFamily="18" charset="-120"/>
              <a:cs typeface="新細明體" pitchFamily="18" charset="-120"/>
            </a:endParaRPr>
          </a:p>
        </p:txBody>
      </p:sp>
      <p:sp>
        <p:nvSpPr>
          <p:cNvPr id="96" name="圆角矩形"/>
          <p:cNvSpPr>
            <a:spLocks/>
          </p:cNvSpPr>
          <p:nvPr/>
        </p:nvSpPr>
        <p:spPr>
          <a:xfrm rot="0">
            <a:off x="2600325" y="3757612"/>
            <a:ext cx="1679574" cy="474662"/>
          </a:xfrm>
          <a:prstGeom prst="roundRect">
            <a:avLst>
              <a:gd name="adj" fmla="val 16666"/>
            </a:avLst>
          </a:prstGeom>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工艺制造</a:t>
            </a:r>
            <a:endParaRPr lang="zh-CN" altLang="en-US" sz="1800">
              <a:solidFill>
                <a:srgbClr val="000000"/>
              </a:solidFill>
              <a:latin typeface="Calibri" pitchFamily="0" charset="0"/>
              <a:ea typeface="PMingLiU" pitchFamily="18" charset="-120"/>
              <a:cs typeface="新細明體" pitchFamily="18" charset="-120"/>
            </a:endParaRPr>
          </a:p>
        </p:txBody>
      </p:sp>
      <p:sp>
        <p:nvSpPr>
          <p:cNvPr id="97" name="圆角矩形"/>
          <p:cNvSpPr>
            <a:spLocks/>
          </p:cNvSpPr>
          <p:nvPr/>
        </p:nvSpPr>
        <p:spPr>
          <a:xfrm rot="0">
            <a:off x="2600325" y="4779962"/>
            <a:ext cx="1679574" cy="474662"/>
          </a:xfrm>
          <a:prstGeom prst="roundRect">
            <a:avLst>
              <a:gd name="adj" fmla="val 16666"/>
            </a:avLst>
          </a:prstGeom>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生产资料收集</a:t>
            </a:r>
            <a:endParaRPr lang="zh-CN" altLang="en-US" sz="1800">
              <a:solidFill>
                <a:srgbClr val="000000"/>
              </a:solidFill>
              <a:latin typeface="Calibri" pitchFamily="0" charset="0"/>
              <a:ea typeface="PMingLiU" pitchFamily="18" charset="-120"/>
              <a:cs typeface="新細明體" pitchFamily="18" charset="-120"/>
            </a:endParaRPr>
          </a:p>
        </p:txBody>
      </p:sp>
      <p:sp>
        <p:nvSpPr>
          <p:cNvPr id="98" name="圆角矩形"/>
          <p:cNvSpPr>
            <a:spLocks/>
          </p:cNvSpPr>
          <p:nvPr/>
        </p:nvSpPr>
        <p:spPr>
          <a:xfrm rot="0">
            <a:off x="2600325" y="5802312"/>
            <a:ext cx="1679574" cy="474662"/>
          </a:xfrm>
          <a:prstGeom prst="roundRect">
            <a:avLst>
              <a:gd name="adj" fmla="val 16666"/>
            </a:avLst>
          </a:prstGeom>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管理报表</a:t>
            </a:r>
            <a:endParaRPr lang="zh-CN" altLang="en-US" sz="1800">
              <a:solidFill>
                <a:srgbClr val="000000"/>
              </a:solidFill>
              <a:latin typeface="Calibri" pitchFamily="0" charset="0"/>
              <a:ea typeface="PMingLiU" pitchFamily="18" charset="-120"/>
              <a:cs typeface="新細明體" pitchFamily="18" charset="-120"/>
            </a:endParaRPr>
          </a:p>
        </p:txBody>
      </p:sp>
      <p:cxnSp>
        <p:nvCxnSpPr>
          <p:cNvPr id="99" name="肘形连接线"/>
          <p:cNvCxnSpPr>
            <a:cxnSpLocks/>
            <a:stCxn id="93" idx="2"/>
            <a:endCxn id="94" idx="1"/>
          </p:cNvCxnSpPr>
          <p:nvPr/>
        </p:nvCxnSpPr>
        <p:spPr>
          <a:xfrm flipH="1" rot="16200000">
            <a:off x="1861343" y="1283493"/>
            <a:ext cx="419100" cy="912812"/>
          </a:xfrm>
          <a:prstGeom prst="bentConnector2"/>
          <a:solidFill>
            <a:srgbClr val="FFFFFF"/>
          </a:solidFill>
          <a:ln w="25400" cmpd="sng" cap="flat">
            <a:solidFill>
              <a:srgbClr val="000000"/>
            </a:solidFill>
            <a:prstDash val="solid"/>
            <a:miter/>
            <a:tailEnd type="arrow" w="med" len="med"/>
          </a:ln>
        </p:spPr>
      </p:cxnSp>
      <p:cxnSp>
        <p:nvCxnSpPr>
          <p:cNvPr id="100" name="肘形连接线"/>
          <p:cNvCxnSpPr>
            <a:cxnSpLocks/>
            <a:stCxn id="93" idx="2"/>
            <a:endCxn id="95" idx="1"/>
          </p:cNvCxnSpPr>
          <p:nvPr/>
        </p:nvCxnSpPr>
        <p:spPr>
          <a:xfrm flipH="1" rot="16200000">
            <a:off x="1368425" y="1776412"/>
            <a:ext cx="1441450" cy="949324"/>
          </a:xfrm>
          <a:prstGeom prst="bentConnector2"/>
          <a:solidFill>
            <a:srgbClr val="FFFFFF"/>
          </a:solidFill>
          <a:ln w="25400" cmpd="sng" cap="flat">
            <a:solidFill>
              <a:srgbClr val="000000"/>
            </a:solidFill>
            <a:prstDash val="solid"/>
            <a:miter/>
            <a:tailEnd type="arrow" w="med" len="med"/>
          </a:ln>
        </p:spPr>
      </p:cxnSp>
      <p:cxnSp>
        <p:nvCxnSpPr>
          <p:cNvPr id="101" name="肘形连接线"/>
          <p:cNvCxnSpPr>
            <a:cxnSpLocks/>
            <a:stCxn id="93" idx="2"/>
            <a:endCxn id="96" idx="1"/>
          </p:cNvCxnSpPr>
          <p:nvPr/>
        </p:nvCxnSpPr>
        <p:spPr>
          <a:xfrm flipH="1" rot="16200000">
            <a:off x="874712" y="2270125"/>
            <a:ext cx="2465387" cy="985837"/>
          </a:xfrm>
          <a:prstGeom prst="bentConnector2"/>
          <a:solidFill>
            <a:srgbClr val="FFFFFF"/>
          </a:solidFill>
          <a:ln w="25400" cmpd="sng" cap="flat">
            <a:solidFill>
              <a:srgbClr val="000000"/>
            </a:solidFill>
            <a:prstDash val="solid"/>
            <a:miter/>
            <a:tailEnd type="arrow" w="med" len="med"/>
          </a:ln>
        </p:spPr>
      </p:cxnSp>
      <p:cxnSp>
        <p:nvCxnSpPr>
          <p:cNvPr id="102" name="肘形连接线"/>
          <p:cNvCxnSpPr>
            <a:cxnSpLocks/>
            <a:stCxn id="93" idx="2"/>
            <a:endCxn id="97" idx="1"/>
          </p:cNvCxnSpPr>
          <p:nvPr/>
        </p:nvCxnSpPr>
        <p:spPr>
          <a:xfrm flipH="1" rot="16200000">
            <a:off x="363537" y="2781300"/>
            <a:ext cx="3487737" cy="985837"/>
          </a:xfrm>
          <a:prstGeom prst="bentConnector2"/>
          <a:solidFill>
            <a:srgbClr val="FFFFFF"/>
          </a:solidFill>
          <a:ln w="25400" cmpd="sng" cap="flat">
            <a:solidFill>
              <a:srgbClr val="000000"/>
            </a:solidFill>
            <a:prstDash val="solid"/>
            <a:miter/>
            <a:tailEnd type="arrow" w="med" len="med"/>
          </a:ln>
        </p:spPr>
      </p:cxnSp>
      <p:cxnSp>
        <p:nvCxnSpPr>
          <p:cNvPr id="103" name="肘形连接线"/>
          <p:cNvCxnSpPr>
            <a:cxnSpLocks/>
            <a:stCxn id="93" idx="2"/>
            <a:endCxn id="98" idx="1"/>
          </p:cNvCxnSpPr>
          <p:nvPr/>
        </p:nvCxnSpPr>
        <p:spPr>
          <a:xfrm flipH="1" rot="16200000">
            <a:off x="-147637" y="3292475"/>
            <a:ext cx="4510087" cy="985837"/>
          </a:xfrm>
          <a:prstGeom prst="bentConnector2"/>
          <a:solidFill>
            <a:srgbClr val="FFFFFF"/>
          </a:solidFill>
          <a:ln w="25400" cmpd="sng" cap="flat">
            <a:solidFill>
              <a:srgbClr val="000000"/>
            </a:solidFill>
            <a:prstDash val="solid"/>
            <a:miter/>
            <a:tailEnd type="arrow" w="med" len="med"/>
          </a:ln>
        </p:spPr>
      </p:cxnSp>
      <p:sp>
        <p:nvSpPr>
          <p:cNvPr id="104" name="流程图: 多文档"/>
          <p:cNvSpPr>
            <a:spLocks/>
          </p:cNvSpPr>
          <p:nvPr/>
        </p:nvSpPr>
        <p:spPr>
          <a:xfrm rot="0">
            <a:off x="5922963" y="1566862"/>
            <a:ext cx="2482850" cy="803274"/>
          </a:xfrm>
          <a:prstGeom prst="flowChartMultidocumen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zh-CN" altLang="en-US" sz="1500">
                <a:solidFill>
                  <a:srgbClr val="000000"/>
                </a:solidFill>
                <a:latin typeface="Calibri" pitchFamily="0" charset="0"/>
                <a:ea typeface="PMingLiU" pitchFamily="18" charset="-120"/>
                <a:cs typeface="新細明體" pitchFamily="18" charset="-120"/>
              </a:rPr>
              <a:t>单据性质、工艺、子工艺、产品工艺路线</a:t>
            </a:r>
            <a:endParaRPr lang="zh-CN" altLang="en-US" sz="1500">
              <a:solidFill>
                <a:srgbClr val="000000"/>
              </a:solidFill>
              <a:latin typeface="Calibri" pitchFamily="0" charset="0"/>
              <a:ea typeface="PMingLiU" pitchFamily="18" charset="-120"/>
              <a:cs typeface="新細明體" pitchFamily="18" charset="-120"/>
            </a:endParaRPr>
          </a:p>
        </p:txBody>
      </p:sp>
      <p:sp>
        <p:nvSpPr>
          <p:cNvPr id="105" name="流程图: 多文档"/>
          <p:cNvSpPr>
            <a:spLocks/>
          </p:cNvSpPr>
          <p:nvPr/>
        </p:nvSpPr>
        <p:spPr>
          <a:xfrm rot="0">
            <a:off x="5849937" y="2589212"/>
            <a:ext cx="2484437" cy="803274"/>
          </a:xfrm>
          <a:prstGeom prst="flowChartMultidocumen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zh-CN" altLang="en-US" sz="1500">
                <a:solidFill>
                  <a:srgbClr val="000000"/>
                </a:solidFill>
                <a:latin typeface="Calibri" pitchFamily="0" charset="0"/>
                <a:ea typeface="PMingLiU" pitchFamily="18" charset="-120"/>
                <a:cs typeface="新細明體" pitchFamily="18" charset="-120"/>
              </a:rPr>
              <a:t>维护工单工艺、工单工艺凭证</a:t>
            </a:r>
            <a:endParaRPr lang="zh-CN" altLang="en-US" sz="1500">
              <a:solidFill>
                <a:srgbClr val="000000"/>
              </a:solidFill>
              <a:latin typeface="Calibri" pitchFamily="0" charset="0"/>
              <a:ea typeface="PMingLiU" pitchFamily="18" charset="-120"/>
              <a:cs typeface="新細明體" pitchFamily="18" charset="-120"/>
            </a:endParaRPr>
          </a:p>
        </p:txBody>
      </p:sp>
      <p:sp>
        <p:nvSpPr>
          <p:cNvPr id="106" name="流程图: 多文档"/>
          <p:cNvSpPr>
            <a:spLocks/>
          </p:cNvSpPr>
          <p:nvPr/>
        </p:nvSpPr>
        <p:spPr>
          <a:xfrm rot="0">
            <a:off x="5922963" y="3611562"/>
            <a:ext cx="2484437" cy="803275"/>
          </a:xfrm>
          <a:prstGeom prst="flowChartMultidocumen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zh-CN" altLang="en-US" sz="1500">
                <a:solidFill>
                  <a:srgbClr val="000000"/>
                </a:solidFill>
                <a:latin typeface="Calibri" pitchFamily="0" charset="0"/>
                <a:ea typeface="PMingLiU" pitchFamily="18" charset="-120"/>
                <a:cs typeface="新細明體" pitchFamily="18" charset="-120"/>
              </a:rPr>
              <a:t>工单投产、工艺派工、工艺转移、工艺入库</a:t>
            </a:r>
            <a:r>
              <a:rPr lang="zh-CN" altLang="en-US" sz="1500">
                <a:solidFill>
                  <a:srgbClr val="000000"/>
                </a:solidFill>
                <a:latin typeface="Calibri" pitchFamily="0" charset="0"/>
                <a:ea typeface="PMingLiU" pitchFamily="18" charset="-120"/>
                <a:cs typeface="新細明體" pitchFamily="18" charset="-120"/>
              </a:rPr>
              <a:t>…</a:t>
            </a:r>
            <a:endParaRPr lang="zh-CN" altLang="en-US" sz="1500">
              <a:solidFill>
                <a:srgbClr val="000000"/>
              </a:solidFill>
              <a:latin typeface="Calibri" pitchFamily="0" charset="0"/>
              <a:ea typeface="PMingLiU" pitchFamily="18" charset="-120"/>
              <a:cs typeface="新細明體" pitchFamily="18" charset="-120"/>
            </a:endParaRPr>
          </a:p>
        </p:txBody>
      </p:sp>
      <p:sp>
        <p:nvSpPr>
          <p:cNvPr id="107" name="流程图: 多文档"/>
          <p:cNvSpPr>
            <a:spLocks/>
          </p:cNvSpPr>
          <p:nvPr/>
        </p:nvSpPr>
        <p:spPr>
          <a:xfrm rot="0">
            <a:off x="5922963" y="4633912"/>
            <a:ext cx="2484437" cy="803275"/>
          </a:xfrm>
          <a:prstGeom prst="flowChartMultidocumen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zh-CN" altLang="en-US" sz="1500">
                <a:solidFill>
                  <a:srgbClr val="000000"/>
                </a:solidFill>
                <a:latin typeface="Calibri" pitchFamily="0" charset="0"/>
                <a:ea typeface="PMingLiU" pitchFamily="18" charset="-120"/>
                <a:cs typeface="新細明體" pitchFamily="18" charset="-120"/>
              </a:rPr>
              <a:t>生产信息项目、生产信息模板、生产信息收集单</a:t>
            </a:r>
            <a:r>
              <a:rPr lang="zh-CN" altLang="en-US" sz="1500">
                <a:solidFill>
                  <a:srgbClr val="000000"/>
                </a:solidFill>
                <a:latin typeface="Calibri" pitchFamily="0" charset="0"/>
                <a:ea typeface="PMingLiU" pitchFamily="18" charset="-120"/>
                <a:cs typeface="新細明體" pitchFamily="18" charset="-120"/>
              </a:rPr>
              <a:t>…</a:t>
            </a:r>
            <a:endParaRPr lang="zh-CN" altLang="en-US" sz="1500">
              <a:solidFill>
                <a:srgbClr val="000000"/>
              </a:solidFill>
              <a:latin typeface="Calibri" pitchFamily="0" charset="0"/>
              <a:ea typeface="PMingLiU" pitchFamily="18" charset="-120"/>
              <a:cs typeface="新細明體" pitchFamily="18" charset="-120"/>
            </a:endParaRPr>
          </a:p>
        </p:txBody>
      </p:sp>
      <p:sp>
        <p:nvSpPr>
          <p:cNvPr id="108" name="流程图: 多文档"/>
          <p:cNvSpPr>
            <a:spLocks/>
          </p:cNvSpPr>
          <p:nvPr/>
        </p:nvSpPr>
        <p:spPr>
          <a:xfrm rot="0">
            <a:off x="5959475" y="5656262"/>
            <a:ext cx="2484437" cy="803274"/>
          </a:xfrm>
          <a:prstGeom prst="flowChartMultidocumen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zh-CN" altLang="en-US" sz="1500">
                <a:solidFill>
                  <a:srgbClr val="000000"/>
                </a:solidFill>
                <a:latin typeface="Calibri" pitchFamily="0" charset="0"/>
                <a:ea typeface="PMingLiU" pitchFamily="18" charset="-120"/>
                <a:cs typeface="新細明體" pitchFamily="18" charset="-120"/>
              </a:rPr>
              <a:t>工单工艺生产状况表、工单工艺数量检核表</a:t>
            </a:r>
            <a:endParaRPr lang="zh-CN" altLang="en-US" sz="1500">
              <a:solidFill>
                <a:srgbClr val="000000"/>
              </a:solidFill>
              <a:latin typeface="Calibri" pitchFamily="0" charset="0"/>
              <a:ea typeface="PMingLiU" pitchFamily="18" charset="-120"/>
              <a:cs typeface="新細明體" pitchFamily="18" charset="-120"/>
            </a:endParaRPr>
          </a:p>
        </p:txBody>
      </p:sp>
      <p:cxnSp>
        <p:nvCxnSpPr>
          <p:cNvPr id="109" name="直线连接线"/>
          <p:cNvCxnSpPr>
            <a:cxnSpLocks/>
            <a:stCxn id="94" idx="3"/>
            <a:endCxn id="104" idx="1"/>
          </p:cNvCxnSpPr>
          <p:nvPr/>
        </p:nvCxnSpPr>
        <p:spPr>
          <a:xfrm rot="0">
            <a:off x="4206875" y="1949450"/>
            <a:ext cx="1716087" cy="19050"/>
          </a:xfrm>
          <a:prstGeom prst="straightConnector1"/>
          <a:solidFill>
            <a:srgbClr val="FFFFFF"/>
          </a:solidFill>
          <a:ln w="25400" cmpd="sng" cap="flat">
            <a:solidFill>
              <a:srgbClr val="000000"/>
            </a:solidFill>
            <a:prstDash val="solid"/>
            <a:miter/>
            <a:tailEnd type="arrow" w="med" len="med"/>
          </a:ln>
        </p:spPr>
      </p:cxnSp>
      <p:cxnSp>
        <p:nvCxnSpPr>
          <p:cNvPr id="110" name="直线连接线"/>
          <p:cNvCxnSpPr>
            <a:cxnSpLocks/>
            <a:stCxn id="95" idx="3"/>
            <a:endCxn id="105" idx="1"/>
          </p:cNvCxnSpPr>
          <p:nvPr/>
        </p:nvCxnSpPr>
        <p:spPr>
          <a:xfrm rot="0">
            <a:off x="4243388" y="2971800"/>
            <a:ext cx="1606549" cy="19050"/>
          </a:xfrm>
          <a:prstGeom prst="straightConnector1"/>
          <a:solidFill>
            <a:srgbClr val="FFFFFF"/>
          </a:solidFill>
          <a:ln w="25400" cmpd="sng" cap="flat">
            <a:solidFill>
              <a:srgbClr val="000000"/>
            </a:solidFill>
            <a:prstDash val="solid"/>
            <a:miter/>
            <a:tailEnd type="arrow" w="med" len="med"/>
          </a:ln>
        </p:spPr>
      </p:cxnSp>
      <p:cxnSp>
        <p:nvCxnSpPr>
          <p:cNvPr id="111" name="直线连接线"/>
          <p:cNvCxnSpPr>
            <a:cxnSpLocks/>
            <a:stCxn id="96" idx="3"/>
            <a:endCxn id="106" idx="1"/>
          </p:cNvCxnSpPr>
          <p:nvPr/>
        </p:nvCxnSpPr>
        <p:spPr>
          <a:xfrm rot="0">
            <a:off x="4279900" y="3995737"/>
            <a:ext cx="1643062" cy="17462"/>
          </a:xfrm>
          <a:prstGeom prst="straightConnector1"/>
          <a:solidFill>
            <a:srgbClr val="FFFFFF"/>
          </a:solidFill>
          <a:ln w="25400" cmpd="sng" cap="flat">
            <a:solidFill>
              <a:srgbClr val="000000"/>
            </a:solidFill>
            <a:prstDash val="solid"/>
            <a:miter/>
            <a:tailEnd type="arrow" w="med" len="med"/>
          </a:ln>
        </p:spPr>
      </p:cxnSp>
      <p:cxnSp>
        <p:nvCxnSpPr>
          <p:cNvPr id="112" name="直线连接线"/>
          <p:cNvCxnSpPr>
            <a:cxnSpLocks/>
            <a:stCxn id="97" idx="3"/>
            <a:endCxn id="107" idx="1"/>
          </p:cNvCxnSpPr>
          <p:nvPr/>
        </p:nvCxnSpPr>
        <p:spPr>
          <a:xfrm rot="0">
            <a:off x="4279900" y="5018087"/>
            <a:ext cx="1643062" cy="17462"/>
          </a:xfrm>
          <a:prstGeom prst="straightConnector1"/>
          <a:solidFill>
            <a:srgbClr val="FFFFFF"/>
          </a:solidFill>
          <a:ln w="25400" cmpd="sng" cap="flat">
            <a:solidFill>
              <a:srgbClr val="000000"/>
            </a:solidFill>
            <a:prstDash val="solid"/>
            <a:miter/>
            <a:tailEnd type="arrow" w="med" len="med"/>
          </a:ln>
        </p:spPr>
      </p:cxnSp>
      <p:cxnSp>
        <p:nvCxnSpPr>
          <p:cNvPr id="113" name="直线连接线"/>
          <p:cNvCxnSpPr>
            <a:cxnSpLocks/>
            <a:stCxn id="98" idx="3"/>
            <a:endCxn id="108" idx="1"/>
          </p:cNvCxnSpPr>
          <p:nvPr/>
        </p:nvCxnSpPr>
        <p:spPr>
          <a:xfrm rot="0">
            <a:off x="4279900" y="6040437"/>
            <a:ext cx="1679575" cy="17462"/>
          </a:xfrm>
          <a:prstGeom prst="straightConnector1"/>
          <a:solidFill>
            <a:srgbClr val="FFFFFF"/>
          </a:solidFill>
          <a:ln w="25400" cmpd="sng" cap="flat">
            <a:solidFill>
              <a:srgbClr val="000000"/>
            </a:solidFill>
            <a:prstDash val="solid"/>
            <a:miter/>
            <a:tailEnd type="arrow" w="med" len="med"/>
          </a:ln>
        </p:spPr>
      </p:cxnSp>
    </p:spTree>
    <p:extLst>
      <p:ext uri="{BB962C8B-B14F-4D97-AF65-F5344CB8AC3E}">
        <p14:creationId xmlns:p14="http://schemas.microsoft.com/office/powerpoint/2010/main" val="1717056755"/>
      </p:ext>
    </p:extLst>
  </p:cSld>
  <p:clrMapOvr>
    <a:masterClrMapping/>
  </p:clrMapOvr>
  <p:transition/>
</p:sld>
</file>

<file path=ppt/slides/slide1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14"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系统主作业</a:t>
            </a:r>
            <a:r>
              <a:rPr lang="zh-CN" altLang="en-US" sz="3600" b="1">
                <a:solidFill>
                  <a:schemeClr val="tx1"/>
                </a:solidFill>
                <a:latin typeface="Microsoft JhengHei" pitchFamily="34" charset="-120"/>
                <a:ea typeface="Microsoft JhengHei" pitchFamily="34" charset="-120"/>
                <a:cs typeface="新細明體" pitchFamily="18" charset="-120"/>
              </a:rPr>
              <a:t>说明</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115" name="矩形"/>
          <p:cNvSpPr>
            <a:spLocks/>
          </p:cNvSpPr>
          <p:nvPr/>
        </p:nvSpPr>
        <p:spPr>
          <a:xfrm rot="0">
            <a:off x="738187" y="1420812"/>
            <a:ext cx="1679575" cy="474662"/>
          </a:xfrm>
          <a:prstGeom prst="rect"/>
          <a:solidFill>
            <a:schemeClr val="accent1"/>
          </a:solidFill>
          <a:ln w="25400" cmpd="sng" cap="flat">
            <a:solidFill>
              <a:srgbClr val="395E8A"/>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FFFFFF"/>
                </a:solidFill>
                <a:latin typeface="Calibri" pitchFamily="0" charset="0"/>
                <a:ea typeface="PMingLiU" pitchFamily="18" charset="-120"/>
                <a:cs typeface="新細明體" pitchFamily="18" charset="-120"/>
              </a:rPr>
              <a:t>录入基础信息</a:t>
            </a:r>
            <a:endParaRPr lang="zh-CN" altLang="en-US" sz="1800">
              <a:solidFill>
                <a:srgbClr val="FFFFFF"/>
              </a:solidFill>
              <a:latin typeface="Calibri" pitchFamily="0" charset="0"/>
              <a:ea typeface="PMingLiU" pitchFamily="18" charset="-120"/>
              <a:cs typeface="新細明體" pitchFamily="18" charset="-120"/>
            </a:endParaRPr>
          </a:p>
        </p:txBody>
      </p:sp>
      <p:sp>
        <p:nvSpPr>
          <p:cNvPr id="116" name="矩形"/>
          <p:cNvSpPr>
            <a:spLocks/>
          </p:cNvSpPr>
          <p:nvPr/>
        </p:nvSpPr>
        <p:spPr>
          <a:xfrm rot="0">
            <a:off x="738187" y="2224087"/>
            <a:ext cx="1679575" cy="474662"/>
          </a:xfrm>
          <a:prstGeom prst="rect"/>
          <a:solidFill>
            <a:schemeClr val="accent1"/>
          </a:solidFill>
          <a:ln w="25400" cmpd="sng" cap="flat">
            <a:solidFill>
              <a:srgbClr val="395E8A"/>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FFFFFF"/>
                </a:solidFill>
                <a:latin typeface="Calibri" pitchFamily="0" charset="0"/>
                <a:ea typeface="PMingLiU" pitchFamily="18" charset="-120"/>
                <a:cs typeface="新細明體" pitchFamily="18" charset="-120"/>
              </a:rPr>
              <a:t>期初数据录入</a:t>
            </a:r>
            <a:endParaRPr lang="zh-CN" altLang="en-US" sz="1800">
              <a:solidFill>
                <a:srgbClr val="FFFFFF"/>
              </a:solidFill>
              <a:latin typeface="Calibri" pitchFamily="0" charset="0"/>
              <a:ea typeface="PMingLiU" pitchFamily="18" charset="-120"/>
              <a:cs typeface="新細明體" pitchFamily="18" charset="-120"/>
            </a:endParaRPr>
          </a:p>
        </p:txBody>
      </p:sp>
      <p:sp>
        <p:nvSpPr>
          <p:cNvPr id="117" name="矩形"/>
          <p:cNvSpPr>
            <a:spLocks/>
          </p:cNvSpPr>
          <p:nvPr/>
        </p:nvSpPr>
        <p:spPr>
          <a:xfrm rot="0">
            <a:off x="738187" y="4448175"/>
            <a:ext cx="1679575" cy="474662"/>
          </a:xfrm>
          <a:prstGeom prst="rect"/>
          <a:solidFill>
            <a:schemeClr val="accent1"/>
          </a:solidFill>
          <a:ln w="25400" cmpd="sng" cap="flat">
            <a:solidFill>
              <a:srgbClr val="395E8A"/>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FFFFFF"/>
                </a:solidFill>
                <a:latin typeface="Calibri" pitchFamily="0" charset="0"/>
                <a:ea typeface="PMingLiU" pitchFamily="18" charset="-120"/>
                <a:cs typeface="新細明體" pitchFamily="18" charset="-120"/>
              </a:rPr>
              <a:t>工艺生产作业</a:t>
            </a:r>
            <a:endParaRPr lang="zh-CN" altLang="en-US" sz="1800">
              <a:solidFill>
                <a:srgbClr val="FFFFFF"/>
              </a:solidFill>
              <a:latin typeface="Calibri" pitchFamily="0" charset="0"/>
              <a:ea typeface="PMingLiU" pitchFamily="18" charset="-120"/>
              <a:cs typeface="新細明體" pitchFamily="18" charset="-120"/>
            </a:endParaRPr>
          </a:p>
        </p:txBody>
      </p:sp>
      <p:sp>
        <p:nvSpPr>
          <p:cNvPr id="118" name="矩形"/>
          <p:cNvSpPr>
            <a:spLocks/>
          </p:cNvSpPr>
          <p:nvPr/>
        </p:nvSpPr>
        <p:spPr>
          <a:xfrm rot="0">
            <a:off x="3403600" y="1420812"/>
            <a:ext cx="5111751" cy="474662"/>
          </a:xfrm>
          <a:prstGeom prst="rec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参数、单据性质、工艺、子工艺、产品工艺路线</a:t>
            </a:r>
            <a:endParaRPr lang="zh-CN" altLang="en-US" sz="1800">
              <a:solidFill>
                <a:srgbClr val="000000"/>
              </a:solidFill>
              <a:latin typeface="Calibri" pitchFamily="0" charset="0"/>
              <a:ea typeface="PMingLiU" pitchFamily="18" charset="-120"/>
              <a:cs typeface="新細明體" pitchFamily="18" charset="-120"/>
            </a:endParaRPr>
          </a:p>
        </p:txBody>
      </p:sp>
      <p:sp>
        <p:nvSpPr>
          <p:cNvPr id="119" name="矩形"/>
          <p:cNvSpPr>
            <a:spLocks/>
          </p:cNvSpPr>
          <p:nvPr/>
        </p:nvSpPr>
        <p:spPr>
          <a:xfrm rot="0">
            <a:off x="3367087" y="2224087"/>
            <a:ext cx="5111749" cy="474662"/>
          </a:xfrm>
          <a:prstGeom prst="rec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未完工的工单</a:t>
            </a:r>
            <a:r>
              <a:rPr lang="zh-CN" altLang="en-US" sz="1800">
                <a:solidFill>
                  <a:srgbClr val="000000"/>
                </a:solidFill>
                <a:latin typeface="Calibri" pitchFamily="0" charset="0"/>
                <a:ea typeface="PMingLiU" pitchFamily="18" charset="-120"/>
                <a:cs typeface="新細明體" pitchFamily="18" charset="-120"/>
              </a:rPr>
              <a:t>&amp;</a:t>
            </a:r>
            <a:r>
              <a:rPr lang="zh-CN" altLang="en-US" sz="1800">
                <a:solidFill>
                  <a:srgbClr val="000000"/>
                </a:solidFill>
                <a:latin typeface="Calibri" pitchFamily="0" charset="0"/>
                <a:ea typeface="PMingLiU" pitchFamily="18" charset="-120"/>
                <a:cs typeface="新細明體" pitchFamily="18" charset="-120"/>
              </a:rPr>
              <a:t>工单工艺</a:t>
            </a:r>
            <a:endParaRPr lang="zh-CN" altLang="en-US" sz="1800">
              <a:solidFill>
                <a:srgbClr val="000000"/>
              </a:solidFill>
              <a:latin typeface="Calibri" pitchFamily="0" charset="0"/>
              <a:ea typeface="PMingLiU" pitchFamily="18" charset="-120"/>
              <a:cs typeface="新細明體" pitchFamily="18" charset="-120"/>
            </a:endParaRPr>
          </a:p>
        </p:txBody>
      </p:sp>
      <p:sp>
        <p:nvSpPr>
          <p:cNvPr id="120" name="矩形"/>
          <p:cNvSpPr>
            <a:spLocks/>
          </p:cNvSpPr>
          <p:nvPr/>
        </p:nvSpPr>
        <p:spPr>
          <a:xfrm rot="0">
            <a:off x="738187" y="5948362"/>
            <a:ext cx="1679575" cy="474662"/>
          </a:xfrm>
          <a:prstGeom prst="rect"/>
          <a:solidFill>
            <a:schemeClr val="accent1"/>
          </a:solidFill>
          <a:ln w="25400" cmpd="sng" cap="flat">
            <a:solidFill>
              <a:srgbClr val="395E8A"/>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FFFFFF"/>
                </a:solidFill>
                <a:latin typeface="Calibri" pitchFamily="0" charset="0"/>
                <a:ea typeface="PMingLiU" pitchFamily="18" charset="-120"/>
                <a:cs typeface="新細明體" pitchFamily="18" charset="-120"/>
              </a:rPr>
              <a:t>转移</a:t>
            </a:r>
            <a:r>
              <a:rPr lang="zh-CN" altLang="en-US" sz="1800">
                <a:solidFill>
                  <a:srgbClr val="FFFFFF"/>
                </a:solidFill>
                <a:latin typeface="Calibri" pitchFamily="0" charset="0"/>
                <a:ea typeface="PMingLiU" pitchFamily="18" charset="-120"/>
                <a:cs typeface="新細明體" pitchFamily="18" charset="-120"/>
              </a:rPr>
              <a:t>/</a:t>
            </a:r>
            <a:r>
              <a:rPr lang="zh-CN" altLang="en-US" sz="1800">
                <a:solidFill>
                  <a:srgbClr val="FFFFFF"/>
                </a:solidFill>
                <a:latin typeface="Calibri" pitchFamily="0" charset="0"/>
                <a:ea typeface="PMingLiU" pitchFamily="18" charset="-120"/>
                <a:cs typeface="新細明體" pitchFamily="18" charset="-120"/>
              </a:rPr>
              <a:t>入库</a:t>
            </a:r>
            <a:endParaRPr lang="zh-CN" altLang="en-US" sz="1800">
              <a:solidFill>
                <a:srgbClr val="FFFFFF"/>
              </a:solidFill>
              <a:latin typeface="Calibri" pitchFamily="0" charset="0"/>
              <a:ea typeface="PMingLiU" pitchFamily="18" charset="-120"/>
              <a:cs typeface="新細明體" pitchFamily="18" charset="-120"/>
            </a:endParaRPr>
          </a:p>
        </p:txBody>
      </p:sp>
      <p:cxnSp>
        <p:nvCxnSpPr>
          <p:cNvPr id="121" name="直线连接线"/>
          <p:cNvCxnSpPr>
            <a:cxnSpLocks/>
            <a:stCxn id="115" idx="3"/>
            <a:endCxn id="118" idx="1"/>
          </p:cNvCxnSpPr>
          <p:nvPr/>
        </p:nvCxnSpPr>
        <p:spPr>
          <a:xfrm rot="0">
            <a:off x="2417762" y="1657350"/>
            <a:ext cx="985837" cy="1587"/>
          </a:xfrm>
          <a:prstGeom prst="straightConnector1"/>
          <a:solidFill>
            <a:srgbClr val="FFFFFF"/>
          </a:solidFill>
          <a:ln w="25400" cmpd="sng" cap="flat">
            <a:solidFill>
              <a:srgbClr val="000000"/>
            </a:solidFill>
            <a:prstDash val="solid"/>
            <a:miter/>
            <a:tailEnd type="arrow" w="med" len="med"/>
          </a:ln>
        </p:spPr>
      </p:cxnSp>
      <p:cxnSp>
        <p:nvCxnSpPr>
          <p:cNvPr id="122" name="直线连接线"/>
          <p:cNvCxnSpPr>
            <a:cxnSpLocks/>
            <a:stCxn id="116" idx="3"/>
            <a:endCxn id="119" idx="1"/>
          </p:cNvCxnSpPr>
          <p:nvPr/>
        </p:nvCxnSpPr>
        <p:spPr>
          <a:xfrm rot="0">
            <a:off x="2417762" y="2460625"/>
            <a:ext cx="949325" cy="1587"/>
          </a:xfrm>
          <a:prstGeom prst="straightConnector1"/>
          <a:solidFill>
            <a:srgbClr val="FFFFFF"/>
          </a:solidFill>
          <a:ln w="25400" cmpd="sng" cap="flat">
            <a:solidFill>
              <a:srgbClr val="000000"/>
            </a:solidFill>
            <a:prstDash val="solid"/>
            <a:miter/>
            <a:tailEnd type="arrow" w="med" len="med"/>
          </a:ln>
        </p:spPr>
      </p:cxnSp>
      <p:sp>
        <p:nvSpPr>
          <p:cNvPr id="123" name="矩形"/>
          <p:cNvSpPr>
            <a:spLocks/>
          </p:cNvSpPr>
          <p:nvPr/>
        </p:nvSpPr>
        <p:spPr>
          <a:xfrm rot="0">
            <a:off x="3367087" y="4056062"/>
            <a:ext cx="1547812" cy="360362"/>
          </a:xfrm>
          <a:prstGeom prst="rec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工单投产</a:t>
            </a:r>
            <a:endParaRPr lang="zh-CN" altLang="en-US" sz="1800">
              <a:solidFill>
                <a:srgbClr val="000000"/>
              </a:solidFill>
              <a:latin typeface="Calibri" pitchFamily="0" charset="0"/>
              <a:ea typeface="PMingLiU" pitchFamily="18" charset="-120"/>
              <a:cs typeface="新細明體" pitchFamily="18" charset="-120"/>
            </a:endParaRPr>
          </a:p>
        </p:txBody>
      </p:sp>
      <p:sp>
        <p:nvSpPr>
          <p:cNvPr id="124" name="矩形"/>
          <p:cNvSpPr>
            <a:spLocks/>
          </p:cNvSpPr>
          <p:nvPr/>
        </p:nvSpPr>
        <p:spPr>
          <a:xfrm rot="0">
            <a:off x="3367087" y="4506912"/>
            <a:ext cx="1547812" cy="360362"/>
          </a:xfrm>
          <a:prstGeom prst="rec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工艺派工</a:t>
            </a:r>
            <a:endParaRPr lang="zh-CN" altLang="en-US" sz="1800">
              <a:solidFill>
                <a:srgbClr val="000000"/>
              </a:solidFill>
              <a:latin typeface="Calibri" pitchFamily="0" charset="0"/>
              <a:ea typeface="PMingLiU" pitchFamily="18" charset="-120"/>
              <a:cs typeface="新細明體" pitchFamily="18" charset="-120"/>
            </a:endParaRPr>
          </a:p>
        </p:txBody>
      </p:sp>
      <p:sp>
        <p:nvSpPr>
          <p:cNvPr id="125" name="矩形"/>
          <p:cNvSpPr>
            <a:spLocks/>
          </p:cNvSpPr>
          <p:nvPr/>
        </p:nvSpPr>
        <p:spPr>
          <a:xfrm rot="0">
            <a:off x="738187" y="3173412"/>
            <a:ext cx="1679575" cy="474662"/>
          </a:xfrm>
          <a:prstGeom prst="rect"/>
          <a:solidFill>
            <a:schemeClr val="accent1"/>
          </a:solidFill>
          <a:ln w="25400" cmpd="sng" cap="flat">
            <a:solidFill>
              <a:srgbClr val="395E8A"/>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FFFFFF"/>
                </a:solidFill>
                <a:latin typeface="Calibri" pitchFamily="0" charset="0"/>
                <a:ea typeface="PMingLiU" pitchFamily="18" charset="-120"/>
                <a:cs typeface="新細明體" pitchFamily="18" charset="-120"/>
              </a:rPr>
              <a:t>维护工单工艺</a:t>
            </a:r>
            <a:endParaRPr lang="zh-CN" altLang="en-US" sz="1800">
              <a:solidFill>
                <a:srgbClr val="FFFFFF"/>
              </a:solidFill>
              <a:latin typeface="Calibri" pitchFamily="0" charset="0"/>
              <a:ea typeface="PMingLiU" pitchFamily="18" charset="-120"/>
              <a:cs typeface="新細明體" pitchFamily="18" charset="-120"/>
            </a:endParaRPr>
          </a:p>
        </p:txBody>
      </p:sp>
      <p:sp>
        <p:nvSpPr>
          <p:cNvPr id="126" name="矩形"/>
          <p:cNvSpPr>
            <a:spLocks/>
          </p:cNvSpPr>
          <p:nvPr/>
        </p:nvSpPr>
        <p:spPr>
          <a:xfrm rot="0">
            <a:off x="3367087" y="3136900"/>
            <a:ext cx="5111749" cy="474662"/>
          </a:xfrm>
          <a:prstGeom prst="rec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工单、工单工艺</a:t>
            </a:r>
            <a:endParaRPr lang="zh-CN" altLang="en-US" sz="1800">
              <a:solidFill>
                <a:srgbClr val="000000"/>
              </a:solidFill>
              <a:latin typeface="Calibri" pitchFamily="0" charset="0"/>
              <a:ea typeface="PMingLiU" pitchFamily="18" charset="-120"/>
              <a:cs typeface="新細明體" pitchFamily="18" charset="-120"/>
            </a:endParaRPr>
          </a:p>
        </p:txBody>
      </p:sp>
      <p:sp>
        <p:nvSpPr>
          <p:cNvPr id="127" name="矩形"/>
          <p:cNvSpPr>
            <a:spLocks/>
          </p:cNvSpPr>
          <p:nvPr/>
        </p:nvSpPr>
        <p:spPr>
          <a:xfrm rot="0">
            <a:off x="3367087" y="4921250"/>
            <a:ext cx="1547812" cy="431800"/>
          </a:xfrm>
          <a:prstGeom prst="rec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500">
                <a:solidFill>
                  <a:srgbClr val="000000"/>
                </a:solidFill>
                <a:latin typeface="Calibri" pitchFamily="0" charset="0"/>
                <a:ea typeface="PMingLiU" pitchFamily="18" charset="-120"/>
                <a:cs typeface="新細明體" pitchFamily="18" charset="-120"/>
              </a:rPr>
              <a:t>补入工艺</a:t>
            </a:r>
            <a:endParaRPr lang="zh-CN" altLang="en-US" sz="1500">
              <a:solidFill>
                <a:srgbClr val="000000"/>
              </a:solidFill>
              <a:latin typeface="Calibri" pitchFamily="0" charset="0"/>
              <a:ea typeface="PMingLiU" pitchFamily="18" charset="-120"/>
              <a:cs typeface="新細明體" pitchFamily="18" charset="-120"/>
            </a:endParaRPr>
          </a:p>
          <a:p>
            <a:pPr marL="0" indent="0" algn="ctr">
              <a:lnSpc>
                <a:spcPct val="100000"/>
              </a:lnSpc>
              <a:spcBef>
                <a:spcPts val="0"/>
              </a:spcBef>
              <a:spcAft>
                <a:spcPts val="0"/>
              </a:spcAft>
              <a:buNone/>
            </a:pPr>
            <a:r>
              <a:rPr lang="zh-CN" altLang="en-US" sz="1500">
                <a:solidFill>
                  <a:srgbClr val="000000"/>
                </a:solidFill>
                <a:latin typeface="Calibri" pitchFamily="0" charset="0"/>
                <a:ea typeface="PMingLiU" pitchFamily="18" charset="-120"/>
                <a:cs typeface="新細明體" pitchFamily="18" charset="-120"/>
              </a:rPr>
              <a:t>质检业务信息</a:t>
            </a:r>
            <a:endParaRPr lang="zh-CN" altLang="en-US" sz="1500">
              <a:solidFill>
                <a:srgbClr val="000000"/>
              </a:solidFill>
              <a:latin typeface="Calibri" pitchFamily="0" charset="0"/>
              <a:ea typeface="PMingLiU" pitchFamily="18" charset="-120"/>
              <a:cs typeface="新細明體" pitchFamily="18" charset="-120"/>
            </a:endParaRPr>
          </a:p>
        </p:txBody>
      </p:sp>
      <p:cxnSp>
        <p:nvCxnSpPr>
          <p:cNvPr id="128" name="肘形连接线"/>
          <p:cNvCxnSpPr>
            <a:cxnSpLocks/>
            <a:stCxn id="117" idx="3"/>
            <a:endCxn id="123" idx="1"/>
          </p:cNvCxnSpPr>
          <p:nvPr/>
        </p:nvCxnSpPr>
        <p:spPr>
          <a:xfrm flipV="1" rot="21600000">
            <a:off x="2417762" y="4237037"/>
            <a:ext cx="949325" cy="447675"/>
          </a:xfrm>
          <a:prstGeom prst="bentConnector3">
            <a:avLst>
              <a:gd name="adj1" fmla="val 49995"/>
            </a:avLst>
          </a:prstGeom>
          <a:solidFill>
            <a:srgbClr val="FFFFFF"/>
          </a:solidFill>
          <a:ln w="25400" cmpd="sng" cap="flat">
            <a:solidFill>
              <a:srgbClr val="000000"/>
            </a:solidFill>
            <a:prstDash val="solid"/>
            <a:miter/>
            <a:tailEnd type="arrow" w="med" len="med"/>
          </a:ln>
        </p:spPr>
      </p:cxnSp>
      <p:cxnSp>
        <p:nvCxnSpPr>
          <p:cNvPr id="129" name="肘形连接线"/>
          <p:cNvCxnSpPr>
            <a:cxnSpLocks/>
            <a:stCxn id="117" idx="3"/>
            <a:endCxn id="124" idx="1"/>
          </p:cNvCxnSpPr>
          <p:nvPr/>
        </p:nvCxnSpPr>
        <p:spPr>
          <a:xfrm rot="0">
            <a:off x="2417762" y="4684713"/>
            <a:ext cx="949325" cy="1587"/>
          </a:xfrm>
          <a:prstGeom prst="bentConnector3">
            <a:avLst>
              <a:gd name="adj1" fmla="val 49995"/>
            </a:avLst>
          </a:prstGeom>
          <a:solidFill>
            <a:srgbClr val="FFFFFF"/>
          </a:solidFill>
          <a:ln w="25400" cmpd="sng" cap="flat">
            <a:solidFill>
              <a:srgbClr val="000000"/>
            </a:solidFill>
            <a:prstDash val="solid"/>
            <a:miter/>
            <a:tailEnd type="arrow" w="med" len="med"/>
          </a:ln>
        </p:spPr>
      </p:cxnSp>
      <p:cxnSp>
        <p:nvCxnSpPr>
          <p:cNvPr id="130" name="肘形连接线"/>
          <p:cNvCxnSpPr>
            <a:cxnSpLocks/>
            <a:stCxn id="117" idx="3"/>
            <a:endCxn id="127" idx="1"/>
          </p:cNvCxnSpPr>
          <p:nvPr/>
        </p:nvCxnSpPr>
        <p:spPr>
          <a:xfrm rot="0">
            <a:off x="2417762" y="4684713"/>
            <a:ext cx="949325" cy="452437"/>
          </a:xfrm>
          <a:prstGeom prst="bentConnector3">
            <a:avLst>
              <a:gd name="adj1" fmla="val 49995"/>
            </a:avLst>
          </a:prstGeom>
          <a:solidFill>
            <a:srgbClr val="FFFFFF"/>
          </a:solidFill>
          <a:ln w="25400" cmpd="sng" cap="flat">
            <a:solidFill>
              <a:srgbClr val="000000"/>
            </a:solidFill>
            <a:prstDash val="solid"/>
            <a:miter/>
            <a:tailEnd type="arrow" w="med" len="med"/>
          </a:ln>
        </p:spPr>
      </p:cxnSp>
      <p:sp>
        <p:nvSpPr>
          <p:cNvPr id="131" name="矩形"/>
          <p:cNvSpPr>
            <a:spLocks/>
          </p:cNvSpPr>
          <p:nvPr/>
        </p:nvSpPr>
        <p:spPr>
          <a:xfrm rot="0">
            <a:off x="3440112" y="5948362"/>
            <a:ext cx="5111750" cy="474662"/>
          </a:xfrm>
          <a:prstGeom prst="rect"/>
          <a:solidFill>
            <a:srgbClr val="FFFFFF"/>
          </a:solidFill>
          <a:ln w="25400" cmpd="sng" cap="flat">
            <a:solidFill>
              <a:srgbClr val="000000"/>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Calibri" pitchFamily="0" charset="0"/>
                <a:ea typeface="PMingLiU" pitchFamily="18" charset="-120"/>
                <a:cs typeface="新細明體" pitchFamily="18" charset="-120"/>
              </a:rPr>
              <a:t>工艺转移单、工艺入库单</a:t>
            </a:r>
            <a:endParaRPr lang="zh-CN" altLang="en-US" sz="1800">
              <a:solidFill>
                <a:srgbClr val="000000"/>
              </a:solidFill>
              <a:latin typeface="Calibri" pitchFamily="0" charset="0"/>
              <a:ea typeface="PMingLiU" pitchFamily="18" charset="-120"/>
              <a:cs typeface="新細明體" pitchFamily="18" charset="-120"/>
            </a:endParaRPr>
          </a:p>
        </p:txBody>
      </p:sp>
      <p:cxnSp>
        <p:nvCxnSpPr>
          <p:cNvPr id="132" name="直线连接线"/>
          <p:cNvCxnSpPr>
            <a:cxnSpLocks/>
            <a:stCxn id="120" idx="3"/>
            <a:endCxn id="131" idx="1"/>
          </p:cNvCxnSpPr>
          <p:nvPr/>
        </p:nvCxnSpPr>
        <p:spPr>
          <a:xfrm rot="0">
            <a:off x="2417762" y="6186487"/>
            <a:ext cx="1022350" cy="1587"/>
          </a:xfrm>
          <a:prstGeom prst="straightConnector1"/>
          <a:solidFill>
            <a:srgbClr val="FFFFFF"/>
          </a:solidFill>
          <a:ln w="25400" cmpd="sng" cap="flat">
            <a:solidFill>
              <a:srgbClr val="000000"/>
            </a:solidFill>
            <a:prstDash val="solid"/>
            <a:miter/>
            <a:tailEnd type="arrow" w="med" len="med"/>
          </a:ln>
        </p:spPr>
      </p:cxnSp>
      <p:cxnSp>
        <p:nvCxnSpPr>
          <p:cNvPr id="133" name="直线连接线"/>
          <p:cNvCxnSpPr>
            <a:cxnSpLocks/>
            <a:stCxn id="115" idx="2"/>
            <a:endCxn id="116" idx="0"/>
          </p:cNvCxnSpPr>
          <p:nvPr/>
        </p:nvCxnSpPr>
        <p:spPr>
          <a:xfrm flipH="1" rot="21600000">
            <a:off x="1576387" y="1895475"/>
            <a:ext cx="1587" cy="328612"/>
          </a:xfrm>
          <a:prstGeom prst="straightConnector1"/>
          <a:solidFill>
            <a:srgbClr val="FFFFFF"/>
          </a:solidFill>
          <a:ln w="25400" cmpd="sng" cap="flat">
            <a:solidFill>
              <a:srgbClr val="000000"/>
            </a:solidFill>
            <a:prstDash val="solid"/>
            <a:miter/>
            <a:tailEnd type="arrow" w="med" len="med"/>
          </a:ln>
        </p:spPr>
      </p:cxnSp>
      <p:cxnSp>
        <p:nvCxnSpPr>
          <p:cNvPr id="134" name="直线连接线"/>
          <p:cNvCxnSpPr>
            <a:cxnSpLocks/>
            <a:stCxn id="116" idx="2"/>
            <a:endCxn id="125" idx="0"/>
          </p:cNvCxnSpPr>
          <p:nvPr/>
        </p:nvCxnSpPr>
        <p:spPr>
          <a:xfrm flipH="1" rot="21600000">
            <a:off x="1576387" y="2698750"/>
            <a:ext cx="1587" cy="474662"/>
          </a:xfrm>
          <a:prstGeom prst="straightConnector1"/>
          <a:solidFill>
            <a:srgbClr val="FFFFFF"/>
          </a:solidFill>
          <a:ln w="25400" cmpd="sng" cap="flat">
            <a:solidFill>
              <a:srgbClr val="000000"/>
            </a:solidFill>
            <a:prstDash val="solid"/>
            <a:miter/>
            <a:tailEnd type="arrow" w="med" len="med"/>
          </a:ln>
        </p:spPr>
      </p:cxnSp>
      <p:cxnSp>
        <p:nvCxnSpPr>
          <p:cNvPr id="135" name="直线连接线"/>
          <p:cNvCxnSpPr>
            <a:cxnSpLocks/>
            <a:stCxn id="125" idx="2"/>
            <a:endCxn id="117" idx="0"/>
          </p:cNvCxnSpPr>
          <p:nvPr/>
        </p:nvCxnSpPr>
        <p:spPr>
          <a:xfrm flipH="1" rot="21600000">
            <a:off x="1576387" y="3649662"/>
            <a:ext cx="1587" cy="798512"/>
          </a:xfrm>
          <a:prstGeom prst="straightConnector1"/>
          <a:solidFill>
            <a:srgbClr val="FFFFFF"/>
          </a:solidFill>
          <a:ln w="25400" cmpd="sng" cap="flat">
            <a:solidFill>
              <a:srgbClr val="000000"/>
            </a:solidFill>
            <a:prstDash val="solid"/>
            <a:miter/>
            <a:tailEnd type="arrow" w="med" len="med"/>
          </a:ln>
        </p:spPr>
      </p:cxnSp>
      <p:cxnSp>
        <p:nvCxnSpPr>
          <p:cNvPr id="136" name="直线连接线"/>
          <p:cNvCxnSpPr>
            <a:cxnSpLocks/>
            <a:stCxn id="117" idx="2"/>
            <a:endCxn id="120" idx="0"/>
          </p:cNvCxnSpPr>
          <p:nvPr/>
        </p:nvCxnSpPr>
        <p:spPr>
          <a:xfrm flipH="1" rot="21600000">
            <a:off x="1576387" y="4922838"/>
            <a:ext cx="1587" cy="1027112"/>
          </a:xfrm>
          <a:prstGeom prst="straightConnector1"/>
          <a:solidFill>
            <a:srgbClr val="FFFFFF"/>
          </a:solidFill>
          <a:ln w="25400" cmpd="sng" cap="flat">
            <a:solidFill>
              <a:srgbClr val="000000"/>
            </a:solidFill>
            <a:prstDash val="solid"/>
            <a:miter/>
            <a:tailEnd type="arrow" w="med" len="med"/>
          </a:ln>
        </p:spPr>
      </p:cxnSp>
    </p:spTree>
    <p:extLst>
      <p:ext uri="{BB962C8B-B14F-4D97-AF65-F5344CB8AC3E}">
        <p14:creationId xmlns:p14="http://schemas.microsoft.com/office/powerpoint/2010/main" val="635494445"/>
      </p:ext>
    </p:extLst>
  </p:cSld>
  <p:clrMapOvr>
    <a:masterClrMapping/>
  </p:clrMapOvr>
  <p:transition/>
</p:sld>
</file>

<file path=ppt/slides/slide1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7" name="矩形"/>
          <p:cNvSpPr>
            <a:spLocks/>
          </p:cNvSpPr>
          <p:nvPr/>
        </p:nvSpPr>
        <p:spPr>
          <a:xfrm rot="0">
            <a:off x="1908175" y="665162"/>
            <a:ext cx="7235824"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3600">
                <a:solidFill>
                  <a:schemeClr val="bg1"/>
                </a:solidFill>
                <a:latin typeface="Microsoft JhengHei" pitchFamily="34" charset="-120"/>
                <a:ea typeface="Microsoft JhengHei" pitchFamily="34" charset="-120"/>
                <a:cs typeface="新細明體" pitchFamily="18" charset="-120"/>
              </a:rPr>
              <a:t>内容大纲</a:t>
            </a:r>
            <a:endParaRPr lang="zh-CN" altLang="en-US" sz="3600">
              <a:solidFill>
                <a:schemeClr val="bg1"/>
              </a:solidFill>
              <a:latin typeface="Microsoft JhengHei" pitchFamily="34" charset="-120"/>
              <a:ea typeface="Microsoft JhengHei" pitchFamily="34" charset="-120"/>
              <a:cs typeface="新細明體" pitchFamily="18" charset="-120"/>
            </a:endParaRPr>
          </a:p>
        </p:txBody>
      </p:sp>
      <p:sp>
        <p:nvSpPr>
          <p:cNvPr id="138" name="矩形"/>
          <p:cNvSpPr>
            <a:spLocks/>
          </p:cNvSpPr>
          <p:nvPr/>
        </p:nvSpPr>
        <p:spPr>
          <a:xfrm rot="0">
            <a:off x="539750" y="1773237"/>
            <a:ext cx="8135937" cy="4751387"/>
          </a:xfrm>
          <a:prstGeom prst="rect"/>
          <a:noFill/>
          <a:ln w="25400" cmpd="sng" cap="flat">
            <a:solidFill>
              <a:srgbClr val="CE3428"/>
            </a:solidFill>
            <a:prstDash val="sysDot"/>
            <a:miter/>
          </a:ln>
        </p:spPr>
      </p:sp>
      <p:pic>
        <p:nvPicPr>
          <p:cNvPr id="139" name="图片" descr="數字價值_P.png"/>
          <p:cNvPicPr>
            <a:picLocks noChangeAspect="1"/>
          </p:cNvPicPr>
          <p:nvPr/>
        </p:nvPicPr>
        <p:blipFill>
          <a:blip r:embed="rId1" cstate="print"/>
          <a:stretch>
            <a:fillRect/>
          </a:stretch>
        </p:blipFill>
        <p:spPr>
          <a:xfrm rot="0">
            <a:off x="4787900" y="4652962"/>
            <a:ext cx="3268662" cy="720725"/>
          </a:xfrm>
          <a:prstGeom prst="rect"/>
          <a:noFill/>
          <a:ln w="9525" cmpd="sng" cap="flat">
            <a:noFill/>
            <a:prstDash val="solid"/>
            <a:miter/>
          </a:ln>
        </p:spPr>
      </p:pic>
      <p:sp>
        <p:nvSpPr>
          <p:cNvPr id="140" name="矩形"/>
          <p:cNvSpPr>
            <a:spLocks/>
          </p:cNvSpPr>
          <p:nvPr/>
        </p:nvSpPr>
        <p:spPr>
          <a:xfrm rot="0">
            <a:off x="1071562" y="1928812"/>
            <a:ext cx="6215062" cy="3108325"/>
          </a:xfrm>
          <a:prstGeom prst="rect"/>
          <a:noFill/>
          <a:ln w="9525" cmpd="sng" cap="flat">
            <a:noFill/>
            <a:prstDash val="solid"/>
            <a:miter/>
          </a:ln>
        </p:spPr>
        <p:txBody>
          <a:bodyPr vert="horz" wrap="square" lIns="91440" tIns="45720" rIns="91440" bIns="45720" anchor="t" anchorCtr="0">
            <a:prstTxWarp prst="textNoShape"/>
          </a:bodyPr>
          <a:lstStyle/>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系统概述</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系统主</a:t>
            </a:r>
            <a:r>
              <a:rPr lang="zh-CN" altLang="en-US" sz="2800">
                <a:solidFill>
                  <a:srgbClr val="0D0D0D"/>
                </a:solidFill>
                <a:latin typeface="黑体" pitchFamily="2" charset="-122"/>
                <a:ea typeface="黑体" pitchFamily="2" charset="-122"/>
                <a:cs typeface="新細明體" pitchFamily="18" charset="-120"/>
              </a:rPr>
              <a:t>作业</a:t>
            </a:r>
            <a:r>
              <a:rPr lang="zh-CN" altLang="en-US" sz="2800">
                <a:solidFill>
                  <a:srgbClr val="0D0D0D"/>
                </a:solidFill>
                <a:latin typeface="黑体" pitchFamily="2" charset="-122"/>
                <a:ea typeface="黑体" pitchFamily="2" charset="-122"/>
                <a:cs typeface="新細明體" pitchFamily="18" charset="-120"/>
              </a:rPr>
              <a:t>流程说明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538ED5"/>
                </a:solidFill>
                <a:latin typeface="黑体" pitchFamily="2" charset="-122"/>
                <a:ea typeface="黑体" pitchFamily="2" charset="-122"/>
                <a:cs typeface="新細明體" pitchFamily="18" charset="-120"/>
              </a:rPr>
              <a:t>基础资料准备</a:t>
            </a:r>
            <a:endParaRPr lang="zh-CN" altLang="en-US" sz="2800">
              <a:solidFill>
                <a:srgbClr val="538ED5"/>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日常作业操作</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管理报表应用说明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期初开账资料准备说明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实例操作讲解</a:t>
            </a:r>
            <a:endParaRPr lang="zh-CN" altLang="en-US" sz="2800">
              <a:solidFill>
                <a:srgbClr val="0D0D0D"/>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838965987"/>
      </p:ext>
    </p:extLst>
  </p:cSld>
  <p:clrMapOvr>
    <a:masterClrMapping/>
  </p:clrMapOvr>
  <p:transition/>
</p:sld>
</file>

<file path=ppt/slides/slide1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id="143" name="组合"/>
          <p:cNvGrpSpPr>
            <a:grpSpLocks/>
          </p:cNvGrpSpPr>
          <p:nvPr/>
        </p:nvGrpSpPr>
        <p:grpSpPr>
          <a:xfrm>
            <a:off x="373062" y="1341437"/>
            <a:ext cx="8024812" cy="1131887"/>
            <a:chOff x="373062" y="1341437"/>
            <a:chExt cx="8024812" cy="1131887"/>
          </a:xfrm>
        </p:grpSpPr>
        <p:sp>
          <p:nvSpPr>
            <p:cNvPr id="141" name="圆角矩形"/>
            <p:cNvSpPr>
              <a:spLocks/>
            </p:cNvSpPr>
            <p:nvPr/>
          </p:nvSpPr>
          <p:spPr>
            <a:xfrm rot="0">
              <a:off x="796925" y="1752600"/>
              <a:ext cx="7600949" cy="720724"/>
            </a:xfrm>
            <a:prstGeom prst="roundRect">
              <a:avLst>
                <a:gd name="adj" fmla="val 16666"/>
              </a:avLst>
            </a:prstGeom>
            <a:solidFill>
              <a:srgbClr val="FFFFFF"/>
            </a:solidFill>
            <a:ln w="25400" cmpd="sng" cap="flat">
              <a:solidFill>
                <a:srgbClr val="4F81BD"/>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车间工艺路线中，是计划排程的对象、需严格控制生产进度并详细记录</a:t>
              </a:r>
              <a:r>
                <a:rPr lang="zh-CN" altLang="en-US" sz="1600">
                  <a:solidFill>
                    <a:srgbClr val="000000"/>
                  </a:solidFill>
                  <a:latin typeface="Calibri" pitchFamily="0" charset="0"/>
                  <a:ea typeface="PMingLiU" pitchFamily="18" charset="-120"/>
                  <a:cs typeface="新細明體" pitchFamily="18" charset="-120"/>
                </a:rPr>
                <a:t>WIP</a:t>
              </a:r>
              <a:r>
                <a:rPr lang="zh-CN" altLang="en-US" sz="1600">
                  <a:solidFill>
                    <a:srgbClr val="000000"/>
                  </a:solidFill>
                  <a:latin typeface="Calibri" pitchFamily="0" charset="0"/>
                  <a:ea typeface="PMingLiU" pitchFamily="18" charset="-120"/>
                  <a:cs typeface="新細明體" pitchFamily="18" charset="-120"/>
                </a:rPr>
                <a:t>情况且需做转移处理的称之为转移工艺。（后续工艺即表示转移工艺）</a:t>
              </a:r>
              <a:endParaRPr lang="zh-CN" altLang="en-US" sz="1600">
                <a:solidFill>
                  <a:srgbClr val="000000"/>
                </a:solidFill>
                <a:latin typeface="Calibri" pitchFamily="0" charset="0"/>
                <a:ea typeface="PMingLiU" pitchFamily="18" charset="-120"/>
                <a:cs typeface="新細明體" pitchFamily="18" charset="-120"/>
              </a:endParaRPr>
            </a:p>
          </p:txBody>
        </p:sp>
        <p:sp>
          <p:nvSpPr>
            <p:cNvPr id="142" name="圆角矩形"/>
            <p:cNvSpPr>
              <a:spLocks/>
            </p:cNvSpPr>
            <p:nvPr/>
          </p:nvSpPr>
          <p:spPr>
            <a:xfrm rot="0">
              <a:off x="373062" y="1341437"/>
              <a:ext cx="1349375" cy="4111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b="1">
                  <a:solidFill>
                    <a:srgbClr val="000000"/>
                  </a:solidFill>
                  <a:latin typeface="Calibri" pitchFamily="0" charset="0"/>
                  <a:ea typeface="PMingLiU" pitchFamily="18" charset="-120"/>
                  <a:cs typeface="新細明體" pitchFamily="18" charset="-120"/>
                </a:rPr>
                <a:t>转移工艺</a:t>
              </a:r>
              <a:endParaRPr lang="zh-CN" altLang="en-US" sz="2000" b="1">
                <a:solidFill>
                  <a:srgbClr val="000000"/>
                </a:solidFill>
                <a:latin typeface="Calibri" pitchFamily="0" charset="0"/>
                <a:ea typeface="PMingLiU" pitchFamily="18" charset="-120"/>
                <a:cs typeface="新細明體" pitchFamily="18" charset="-120"/>
              </a:endParaRPr>
            </a:p>
          </p:txBody>
        </p:sp>
      </p:grpSp>
      <p:sp>
        <p:nvSpPr>
          <p:cNvPr id="144" name="矩形"/>
          <p:cNvSpPr>
            <a:spLocks/>
          </p:cNvSpPr>
          <p:nvPr/>
        </p:nvSpPr>
        <p:spPr>
          <a:xfrm rot="0">
            <a:off x="0" y="476250"/>
            <a:ext cx="9101138"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宋体" pitchFamily="2" charset="-122"/>
                <a:ea typeface="宋体" pitchFamily="2" charset="-122"/>
                <a:cs typeface="新細明體" pitchFamily="18" charset="-120"/>
              </a:rPr>
              <a:t>专有名词</a:t>
            </a:r>
            <a:endParaRPr lang="zh-CN" altLang="en-US" sz="3600" b="1">
              <a:solidFill>
                <a:schemeClr val="tx1"/>
              </a:solidFill>
              <a:latin typeface="宋体" pitchFamily="2" charset="-122"/>
              <a:ea typeface="宋体" pitchFamily="2" charset="-122"/>
              <a:cs typeface="新細明體" pitchFamily="18" charset="-120"/>
            </a:endParaRPr>
          </a:p>
        </p:txBody>
      </p:sp>
      <p:grpSp>
        <p:nvGrpSpPr>
          <p:cNvPr id="147" name="组合"/>
          <p:cNvGrpSpPr>
            <a:grpSpLocks/>
          </p:cNvGrpSpPr>
          <p:nvPr/>
        </p:nvGrpSpPr>
        <p:grpSpPr>
          <a:xfrm>
            <a:off x="373062" y="2640012"/>
            <a:ext cx="8024812" cy="1131887"/>
            <a:chOff x="373062" y="2640012"/>
            <a:chExt cx="8024812" cy="1131887"/>
          </a:xfrm>
        </p:grpSpPr>
        <p:sp>
          <p:nvSpPr>
            <p:cNvPr id="145" name="圆角矩形"/>
            <p:cNvSpPr>
              <a:spLocks/>
            </p:cNvSpPr>
            <p:nvPr/>
          </p:nvSpPr>
          <p:spPr>
            <a:xfrm rot="0">
              <a:off x="796925" y="3051175"/>
              <a:ext cx="7600949" cy="720724"/>
            </a:xfrm>
            <a:prstGeom prst="roundRect">
              <a:avLst>
                <a:gd name="adj" fmla="val 16666"/>
              </a:avLst>
            </a:prstGeom>
            <a:solidFill>
              <a:srgbClr val="FFFFFF"/>
            </a:solidFill>
            <a:ln w="25400" cmpd="sng" cap="flat">
              <a:solidFill>
                <a:srgbClr val="4F81BD"/>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与转移工艺相对的，即仅需收集工时以便统计绩效的称之为子工艺。</a:t>
              </a:r>
              <a:endParaRPr lang="zh-CN" altLang="en-US" sz="1600">
                <a:solidFill>
                  <a:srgbClr val="000000"/>
                </a:solidFill>
                <a:latin typeface="Calibri" pitchFamily="0" charset="0"/>
                <a:ea typeface="PMingLiU" pitchFamily="18" charset="-120"/>
                <a:cs typeface="新細明體" pitchFamily="18" charset="-120"/>
              </a:endParaRPr>
            </a:p>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例如：打磨工艺中的外观检查</a:t>
              </a:r>
              <a:endParaRPr lang="zh-CN" altLang="en-US" sz="1600">
                <a:solidFill>
                  <a:srgbClr val="000000"/>
                </a:solidFill>
                <a:latin typeface="Calibri" pitchFamily="0" charset="0"/>
                <a:ea typeface="PMingLiU" pitchFamily="18" charset="-120"/>
                <a:cs typeface="新細明體" pitchFamily="18" charset="-120"/>
              </a:endParaRPr>
            </a:p>
          </p:txBody>
        </p:sp>
        <p:sp>
          <p:nvSpPr>
            <p:cNvPr id="146" name="圆角矩形"/>
            <p:cNvSpPr>
              <a:spLocks/>
            </p:cNvSpPr>
            <p:nvPr/>
          </p:nvSpPr>
          <p:spPr>
            <a:xfrm rot="0">
              <a:off x="373062" y="2640012"/>
              <a:ext cx="1349375" cy="4111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b="1">
                  <a:solidFill>
                    <a:srgbClr val="000000"/>
                  </a:solidFill>
                  <a:latin typeface="Calibri" pitchFamily="0" charset="0"/>
                  <a:ea typeface="PMingLiU" pitchFamily="18" charset="-120"/>
                  <a:cs typeface="新細明體" pitchFamily="18" charset="-120"/>
                </a:rPr>
                <a:t>子工艺</a:t>
              </a:r>
              <a:endParaRPr lang="zh-CN" altLang="en-US" sz="2000" b="1">
                <a:solidFill>
                  <a:srgbClr val="000000"/>
                </a:solidFill>
                <a:latin typeface="Calibri" pitchFamily="0" charset="0"/>
                <a:ea typeface="PMingLiU" pitchFamily="18" charset="-120"/>
                <a:cs typeface="新細明體" pitchFamily="18" charset="-120"/>
              </a:endParaRPr>
            </a:p>
          </p:txBody>
        </p:sp>
      </p:grpSp>
      <p:grpSp>
        <p:nvGrpSpPr>
          <p:cNvPr id="150" name="组合"/>
          <p:cNvGrpSpPr>
            <a:grpSpLocks/>
          </p:cNvGrpSpPr>
          <p:nvPr/>
        </p:nvGrpSpPr>
        <p:grpSpPr>
          <a:xfrm>
            <a:off x="373062" y="3927475"/>
            <a:ext cx="8024812" cy="1131887"/>
            <a:chOff x="373062" y="3927475"/>
            <a:chExt cx="8024812" cy="1131887"/>
          </a:xfrm>
        </p:grpSpPr>
        <p:sp>
          <p:nvSpPr>
            <p:cNvPr id="148" name="圆角矩形"/>
            <p:cNvSpPr>
              <a:spLocks/>
            </p:cNvSpPr>
            <p:nvPr/>
          </p:nvSpPr>
          <p:spPr>
            <a:xfrm rot="0">
              <a:off x="796925" y="4338638"/>
              <a:ext cx="7600949" cy="720724"/>
            </a:xfrm>
            <a:prstGeom prst="roundRect">
              <a:avLst>
                <a:gd name="adj" fmla="val 16666"/>
              </a:avLst>
            </a:prstGeom>
            <a:solidFill>
              <a:srgbClr val="FFFFFF"/>
            </a:solidFill>
            <a:ln w="25400" cmpd="sng" cap="flat">
              <a:solidFill>
                <a:srgbClr val="4F81BD"/>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为</a:t>
              </a:r>
              <a:r>
                <a:rPr lang="zh-CN" altLang="en-US" sz="1600">
                  <a:solidFill>
                    <a:srgbClr val="000000"/>
                  </a:solidFill>
                  <a:latin typeface="Calibri" pitchFamily="0" charset="0"/>
                  <a:ea typeface="PMingLiU" pitchFamily="18" charset="-120"/>
                  <a:cs typeface="新細明體" pitchFamily="18" charset="-120"/>
                </a:rPr>
                <a:t>工作中心指定待加工的工作任务，便于合理利用资源，记录派工量及派工工时，可用于后续生产资料收集的来源。</a:t>
              </a:r>
              <a:endParaRPr lang="zh-CN" altLang="en-US" sz="1600">
                <a:solidFill>
                  <a:srgbClr val="000000"/>
                </a:solidFill>
                <a:latin typeface="Calibri" pitchFamily="0" charset="0"/>
                <a:ea typeface="PMingLiU" pitchFamily="18" charset="-120"/>
                <a:cs typeface="新細明體" pitchFamily="18" charset="-120"/>
              </a:endParaRPr>
            </a:p>
          </p:txBody>
        </p:sp>
        <p:sp>
          <p:nvSpPr>
            <p:cNvPr id="149" name="圆角矩形"/>
            <p:cNvSpPr>
              <a:spLocks/>
            </p:cNvSpPr>
            <p:nvPr/>
          </p:nvSpPr>
          <p:spPr>
            <a:xfrm rot="0">
              <a:off x="373062" y="3927475"/>
              <a:ext cx="1349375" cy="4111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b="1">
                  <a:solidFill>
                    <a:srgbClr val="000000"/>
                  </a:solidFill>
                  <a:latin typeface="Calibri" pitchFamily="0" charset="0"/>
                  <a:ea typeface="PMingLiU" pitchFamily="18" charset="-120"/>
                  <a:cs typeface="新細明體" pitchFamily="18" charset="-120"/>
                </a:rPr>
                <a:t>派工</a:t>
              </a:r>
              <a:endParaRPr lang="zh-CN" altLang="en-US" sz="2000" b="1">
                <a:solidFill>
                  <a:srgbClr val="000000"/>
                </a:solidFill>
                <a:latin typeface="Calibri" pitchFamily="0" charset="0"/>
                <a:ea typeface="PMingLiU" pitchFamily="18" charset="-120"/>
                <a:cs typeface="新細明體" pitchFamily="18" charset="-120"/>
              </a:endParaRPr>
            </a:p>
          </p:txBody>
        </p:sp>
      </p:grpSp>
      <p:sp>
        <p:nvSpPr>
          <p:cNvPr id="151" name="矩形"/>
          <p:cNvSpPr>
            <a:spLocks/>
          </p:cNvSpPr>
          <p:nvPr/>
        </p:nvSpPr>
        <p:spPr>
          <a:xfrm rot="0">
            <a:off x="8550276" y="6383337"/>
            <a:ext cx="719137" cy="4762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15</a:t>
            </a:r>
            <a:endParaRPr lang="zh-CN" altLang="en-US" sz="1800">
              <a:solidFill>
                <a:schemeClr val="tx1"/>
              </a:solidFill>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605737131"/>
      </p:ext>
    </p:extLst>
  </p:cSld>
  <p:clrMapOvr>
    <a:masterClrMapping/>
  </p:clrMapOvr>
  <p:transition/>
</p:sld>
</file>

<file path=ppt/slides/slide1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id="154" name="组合"/>
          <p:cNvGrpSpPr>
            <a:grpSpLocks/>
          </p:cNvGrpSpPr>
          <p:nvPr/>
        </p:nvGrpSpPr>
        <p:grpSpPr>
          <a:xfrm>
            <a:off x="409575" y="2790825"/>
            <a:ext cx="8024812" cy="1131887"/>
            <a:chOff x="409575" y="2790825"/>
            <a:chExt cx="8024812" cy="1131887"/>
          </a:xfrm>
        </p:grpSpPr>
        <p:sp>
          <p:nvSpPr>
            <p:cNvPr id="152" name="圆角矩形"/>
            <p:cNvSpPr>
              <a:spLocks/>
            </p:cNvSpPr>
            <p:nvPr/>
          </p:nvSpPr>
          <p:spPr>
            <a:xfrm rot="0">
              <a:off x="833437" y="3201987"/>
              <a:ext cx="7600949" cy="720725"/>
            </a:xfrm>
            <a:prstGeom prst="roundRect">
              <a:avLst>
                <a:gd name="adj" fmla="val 16666"/>
              </a:avLst>
            </a:prstGeom>
            <a:solidFill>
              <a:srgbClr val="FFFFFF"/>
            </a:solidFill>
            <a:ln w="25400" cmpd="sng" cap="flat">
              <a:solidFill>
                <a:srgbClr val="4F81BD"/>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多产线的生产模式下，同一道工艺可在不同工作中心进行加工，而事先对可进行加工此工艺的工作中心进行范围定义，如果约束，则表示只能选择此范围的工作中心。</a:t>
              </a:r>
              <a:endParaRPr lang="zh-CN" altLang="en-US" sz="1600">
                <a:solidFill>
                  <a:srgbClr val="000000"/>
                </a:solidFill>
                <a:latin typeface="Calibri" pitchFamily="0" charset="0"/>
                <a:ea typeface="PMingLiU" pitchFamily="18" charset="-120"/>
                <a:cs typeface="新細明體" pitchFamily="18" charset="-120"/>
              </a:endParaRPr>
            </a:p>
          </p:txBody>
        </p:sp>
        <p:sp>
          <p:nvSpPr>
            <p:cNvPr id="153" name="圆角矩形"/>
            <p:cNvSpPr>
              <a:spLocks/>
            </p:cNvSpPr>
            <p:nvPr/>
          </p:nvSpPr>
          <p:spPr>
            <a:xfrm rot="0">
              <a:off x="409575" y="2790825"/>
              <a:ext cx="1862137" cy="4111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b="1">
                  <a:solidFill>
                    <a:srgbClr val="000000"/>
                  </a:solidFill>
                  <a:latin typeface="Calibri" pitchFamily="0" charset="0"/>
                  <a:ea typeface="PMingLiU" pitchFamily="18" charset="-120"/>
                  <a:cs typeface="新細明體" pitchFamily="18" charset="-120"/>
                </a:rPr>
                <a:t>工作中心约束</a:t>
              </a:r>
              <a:endParaRPr lang="zh-CN" altLang="en-US" sz="2000" b="1">
                <a:solidFill>
                  <a:srgbClr val="000000"/>
                </a:solidFill>
                <a:latin typeface="Calibri" pitchFamily="0" charset="0"/>
                <a:ea typeface="PMingLiU" pitchFamily="18" charset="-120"/>
                <a:cs typeface="新細明體" pitchFamily="18" charset="-120"/>
              </a:endParaRPr>
            </a:p>
          </p:txBody>
        </p:sp>
      </p:grpSp>
      <p:grpSp>
        <p:nvGrpSpPr>
          <p:cNvPr id="157" name="组合"/>
          <p:cNvGrpSpPr>
            <a:grpSpLocks/>
          </p:cNvGrpSpPr>
          <p:nvPr/>
        </p:nvGrpSpPr>
        <p:grpSpPr>
          <a:xfrm>
            <a:off x="392112" y="1347787"/>
            <a:ext cx="8024813" cy="1131887"/>
            <a:chOff x="392112" y="1347787"/>
            <a:chExt cx="8024813" cy="1131887"/>
          </a:xfrm>
        </p:grpSpPr>
        <p:sp>
          <p:nvSpPr>
            <p:cNvPr id="155" name="圆角矩形"/>
            <p:cNvSpPr>
              <a:spLocks/>
            </p:cNvSpPr>
            <p:nvPr/>
          </p:nvSpPr>
          <p:spPr>
            <a:xfrm rot="0">
              <a:off x="815975" y="1758950"/>
              <a:ext cx="7600950" cy="720725"/>
            </a:xfrm>
            <a:prstGeom prst="roundRect">
              <a:avLst>
                <a:gd name="adj" fmla="val 16666"/>
              </a:avLst>
            </a:prstGeom>
            <a:solidFill>
              <a:srgbClr val="FFFFFF"/>
            </a:solidFill>
            <a:ln w="25400" cmpd="sng" cap="flat">
              <a:solidFill>
                <a:srgbClr val="4F81BD"/>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工艺一般分为厂内和委外两种性质，当因产能制约或成本因素而有互换的情况发生时，即可设定“二者皆有”的特殊工艺便于生产调度。</a:t>
              </a:r>
              <a:endParaRPr lang="zh-CN" altLang="en-US" sz="1600">
                <a:solidFill>
                  <a:srgbClr val="000000"/>
                </a:solidFill>
                <a:latin typeface="Calibri" pitchFamily="0" charset="0"/>
                <a:ea typeface="PMingLiU" pitchFamily="18" charset="-120"/>
                <a:cs typeface="新細明體" pitchFamily="18" charset="-120"/>
              </a:endParaRPr>
            </a:p>
          </p:txBody>
        </p:sp>
        <p:sp>
          <p:nvSpPr>
            <p:cNvPr id="156" name="圆角矩形"/>
            <p:cNvSpPr>
              <a:spLocks/>
            </p:cNvSpPr>
            <p:nvPr/>
          </p:nvSpPr>
          <p:spPr>
            <a:xfrm rot="0">
              <a:off x="392112" y="1347787"/>
              <a:ext cx="2646362" cy="4111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b="1">
                  <a:solidFill>
                    <a:srgbClr val="000000"/>
                  </a:solidFill>
                  <a:latin typeface="Calibri" pitchFamily="0" charset="0"/>
                  <a:ea typeface="PMingLiU" pitchFamily="18" charset="-120"/>
                  <a:cs typeface="新細明體" pitchFamily="18" charset="-120"/>
                </a:rPr>
                <a:t>工艺性质之二者皆有</a:t>
              </a:r>
              <a:endParaRPr lang="zh-CN" altLang="en-US" sz="2000" b="1">
                <a:solidFill>
                  <a:srgbClr val="000000"/>
                </a:solidFill>
                <a:latin typeface="Calibri" pitchFamily="0" charset="0"/>
                <a:ea typeface="PMingLiU" pitchFamily="18" charset="-120"/>
                <a:cs typeface="新細明體" pitchFamily="18" charset="-120"/>
              </a:endParaRPr>
            </a:p>
          </p:txBody>
        </p:sp>
      </p:grpSp>
      <p:sp>
        <p:nvSpPr>
          <p:cNvPr id="158" name="矩形"/>
          <p:cNvSpPr>
            <a:spLocks/>
          </p:cNvSpPr>
          <p:nvPr/>
        </p:nvSpPr>
        <p:spPr>
          <a:xfrm rot="0">
            <a:off x="8550276" y="6383337"/>
            <a:ext cx="719137" cy="4762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16</a:t>
            </a:r>
            <a:endParaRPr lang="zh-CN" altLang="en-US" sz="1800">
              <a:solidFill>
                <a:schemeClr val="tx1"/>
              </a:solidFill>
              <a:latin typeface="Arial" pitchFamily="34" charset="0"/>
              <a:ea typeface="PMingLiU" pitchFamily="18" charset="-120"/>
              <a:cs typeface="新細明體" pitchFamily="18" charset="-120"/>
            </a:endParaRPr>
          </a:p>
        </p:txBody>
      </p:sp>
      <p:sp>
        <p:nvSpPr>
          <p:cNvPr id="159" name="矩形"/>
          <p:cNvSpPr>
            <a:spLocks/>
          </p:cNvSpPr>
          <p:nvPr/>
        </p:nvSpPr>
        <p:spPr>
          <a:xfrm rot="0">
            <a:off x="0" y="476250"/>
            <a:ext cx="9101138"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宋体" pitchFamily="2" charset="-122"/>
                <a:ea typeface="宋体" pitchFamily="2" charset="-122"/>
                <a:cs typeface="新細明體" pitchFamily="18" charset="-120"/>
              </a:rPr>
              <a:t>专有名词</a:t>
            </a:r>
            <a:endParaRPr lang="zh-CN" altLang="en-US" sz="3600" b="1">
              <a:solidFill>
                <a:schemeClr val="tx1"/>
              </a:solidFill>
              <a:latin typeface="宋体" pitchFamily="2" charset="-122"/>
              <a:ea typeface="宋体" pitchFamily="2" charset="-122"/>
              <a:cs typeface="新細明體" pitchFamily="18" charset="-120"/>
            </a:endParaRPr>
          </a:p>
        </p:txBody>
      </p:sp>
      <p:grpSp>
        <p:nvGrpSpPr>
          <p:cNvPr id="162" name="组合"/>
          <p:cNvGrpSpPr>
            <a:grpSpLocks/>
          </p:cNvGrpSpPr>
          <p:nvPr/>
        </p:nvGrpSpPr>
        <p:grpSpPr>
          <a:xfrm>
            <a:off x="427037" y="4214812"/>
            <a:ext cx="8024812" cy="1131887"/>
            <a:chOff x="427037" y="4214812"/>
            <a:chExt cx="8024812" cy="1131887"/>
          </a:xfrm>
        </p:grpSpPr>
        <p:sp>
          <p:nvSpPr>
            <p:cNvPr id="160" name="圆角矩形"/>
            <p:cNvSpPr>
              <a:spLocks/>
            </p:cNvSpPr>
            <p:nvPr/>
          </p:nvSpPr>
          <p:spPr>
            <a:xfrm rot="0">
              <a:off x="850900" y="4625975"/>
              <a:ext cx="7600949" cy="720725"/>
            </a:xfrm>
            <a:prstGeom prst="roundRect">
              <a:avLst>
                <a:gd name="adj" fmla="val 16666"/>
              </a:avLst>
            </a:prstGeom>
            <a:solidFill>
              <a:srgbClr val="FFFFFF"/>
            </a:solidFill>
            <a:ln w="25400" cmpd="sng" cap="flat">
              <a:solidFill>
                <a:srgbClr val="4F81BD"/>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相对于最常见的一道工序对一道工序的线性工艺路线，一道工序拆分到多道工序、多道工序合并到一道工序、多道工序合并后又拆分为多道工序皆为网状工艺路线。</a:t>
              </a:r>
              <a:endParaRPr lang="zh-CN" altLang="en-US" sz="1600">
                <a:solidFill>
                  <a:srgbClr val="000000"/>
                </a:solidFill>
                <a:latin typeface="Calibri" pitchFamily="0" charset="0"/>
                <a:ea typeface="PMingLiU" pitchFamily="18" charset="-120"/>
                <a:cs typeface="新細明體" pitchFamily="18" charset="-120"/>
              </a:endParaRPr>
            </a:p>
          </p:txBody>
        </p:sp>
        <p:sp>
          <p:nvSpPr>
            <p:cNvPr id="161" name="圆角矩形"/>
            <p:cNvSpPr>
              <a:spLocks/>
            </p:cNvSpPr>
            <p:nvPr/>
          </p:nvSpPr>
          <p:spPr>
            <a:xfrm rot="0">
              <a:off x="427037" y="4214812"/>
              <a:ext cx="1862137" cy="4111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b="1">
                  <a:solidFill>
                    <a:srgbClr val="000000"/>
                  </a:solidFill>
                  <a:latin typeface="Calibri" pitchFamily="0" charset="0"/>
                  <a:ea typeface="PMingLiU" pitchFamily="18" charset="-120"/>
                  <a:cs typeface="新細明體" pitchFamily="18" charset="-120"/>
                </a:rPr>
                <a:t>网状工艺路线</a:t>
              </a:r>
              <a:endParaRPr lang="zh-CN" altLang="en-US" sz="2000" b="1">
                <a:solidFill>
                  <a:srgbClr val="000000"/>
                </a:solidFill>
                <a:latin typeface="Calibri" pitchFamily="0" charset="0"/>
                <a:ea typeface="PMingLiU" pitchFamily="18" charset="-120"/>
                <a:cs typeface="新細明體" pitchFamily="18" charset="-120"/>
              </a:endParaRPr>
            </a:p>
          </p:txBody>
        </p:sp>
      </p:grpSp>
    </p:spTree>
    <p:extLst>
      <p:ext uri="{BB962C8B-B14F-4D97-AF65-F5344CB8AC3E}">
        <p14:creationId xmlns:p14="http://schemas.microsoft.com/office/powerpoint/2010/main" val="1788199494"/>
      </p:ext>
    </p:extLst>
  </p:cSld>
  <p:clrMapOvr>
    <a:masterClrMapping/>
  </p:clrMapOvr>
  <p:transition/>
</p:sld>
</file>

<file path=ppt/slides/slide1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63" name="矩形"/>
          <p:cNvSpPr>
            <a:spLocks/>
          </p:cNvSpPr>
          <p:nvPr/>
        </p:nvSpPr>
        <p:spPr>
          <a:xfrm rot="0">
            <a:off x="8550276" y="6383337"/>
            <a:ext cx="719137" cy="4762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17</a:t>
            </a:r>
            <a:endParaRPr lang="zh-CN" altLang="en-US" sz="1800">
              <a:solidFill>
                <a:schemeClr val="tx1"/>
              </a:solidFill>
              <a:latin typeface="Arial" pitchFamily="34" charset="0"/>
              <a:ea typeface="PMingLiU" pitchFamily="18" charset="-120"/>
              <a:cs typeface="新細明體" pitchFamily="18" charset="-120"/>
            </a:endParaRPr>
          </a:p>
        </p:txBody>
      </p:sp>
      <p:grpSp>
        <p:nvGrpSpPr>
          <p:cNvPr id="166" name="组合"/>
          <p:cNvGrpSpPr>
            <a:grpSpLocks/>
          </p:cNvGrpSpPr>
          <p:nvPr/>
        </p:nvGrpSpPr>
        <p:grpSpPr>
          <a:xfrm>
            <a:off x="363537" y="1525587"/>
            <a:ext cx="8024813" cy="1019175"/>
            <a:chOff x="363537" y="1525587"/>
            <a:chExt cx="8024813" cy="1019175"/>
          </a:xfrm>
        </p:grpSpPr>
        <p:sp>
          <p:nvSpPr>
            <p:cNvPr id="164" name="圆角矩形"/>
            <p:cNvSpPr>
              <a:spLocks/>
            </p:cNvSpPr>
            <p:nvPr/>
          </p:nvSpPr>
          <p:spPr>
            <a:xfrm rot="0">
              <a:off x="788987" y="1938337"/>
              <a:ext cx="7599363" cy="606424"/>
            </a:xfrm>
            <a:prstGeom prst="roundRect">
              <a:avLst>
                <a:gd name="adj" fmla="val 16666"/>
              </a:avLst>
            </a:prstGeom>
            <a:solidFill>
              <a:srgbClr val="FFFFFF"/>
            </a:solidFill>
            <a:ln w="25400" cmpd="sng" cap="flat">
              <a:solidFill>
                <a:srgbClr val="4F81BD"/>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        生产过程中所需耗用的人员、机台、设备等。本系统将：班组、员工、机器、机器组等视为资源。</a:t>
              </a:r>
              <a:endParaRPr lang="zh-CN" altLang="en-US" sz="1600">
                <a:solidFill>
                  <a:srgbClr val="000000"/>
                </a:solidFill>
                <a:latin typeface="Calibri" pitchFamily="0" charset="0"/>
                <a:ea typeface="PMingLiU" pitchFamily="18" charset="-120"/>
                <a:cs typeface="新細明體" pitchFamily="18" charset="-120"/>
              </a:endParaRPr>
            </a:p>
            <a:p>
              <a:pPr marL="0" indent="0" algn="l">
                <a:lnSpc>
                  <a:spcPct val="100000"/>
                </a:lnSpc>
                <a:spcBef>
                  <a:spcPts val="0"/>
                </a:spcBef>
                <a:spcAft>
                  <a:spcPts val="0"/>
                </a:spcAft>
                <a:buNone/>
              </a:pPr>
              <a:endParaRPr lang="zh-CN" altLang="en-US" sz="1600">
                <a:solidFill>
                  <a:srgbClr val="000000"/>
                </a:solidFill>
                <a:latin typeface="Calibri" pitchFamily="0" charset="0"/>
                <a:ea typeface="PMingLiU" pitchFamily="18" charset="-120"/>
                <a:cs typeface="新細明體" pitchFamily="18" charset="-120"/>
              </a:endParaRPr>
            </a:p>
          </p:txBody>
        </p:sp>
        <p:sp>
          <p:nvSpPr>
            <p:cNvPr id="165" name="圆角矩形"/>
            <p:cNvSpPr>
              <a:spLocks/>
            </p:cNvSpPr>
            <p:nvPr/>
          </p:nvSpPr>
          <p:spPr>
            <a:xfrm rot="0">
              <a:off x="363537" y="1525587"/>
              <a:ext cx="1349375" cy="41275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b="1">
                  <a:solidFill>
                    <a:srgbClr val="000000"/>
                  </a:solidFill>
                  <a:latin typeface="Calibri" pitchFamily="0" charset="0"/>
                  <a:ea typeface="PMingLiU" pitchFamily="18" charset="-120"/>
                  <a:cs typeface="新細明體" pitchFamily="18" charset="-120"/>
                </a:rPr>
                <a:t>资源</a:t>
              </a:r>
              <a:endParaRPr lang="zh-CN" altLang="en-US" sz="2000" b="1">
                <a:solidFill>
                  <a:srgbClr val="000000"/>
                </a:solidFill>
                <a:latin typeface="Calibri" pitchFamily="0" charset="0"/>
                <a:ea typeface="PMingLiU" pitchFamily="18" charset="-120"/>
                <a:cs typeface="新細明體" pitchFamily="18" charset="-120"/>
              </a:endParaRPr>
            </a:p>
          </p:txBody>
        </p:sp>
      </p:grpSp>
      <p:grpSp>
        <p:nvGrpSpPr>
          <p:cNvPr id="169" name="组合"/>
          <p:cNvGrpSpPr>
            <a:grpSpLocks/>
          </p:cNvGrpSpPr>
          <p:nvPr/>
        </p:nvGrpSpPr>
        <p:grpSpPr>
          <a:xfrm>
            <a:off x="409575" y="4114800"/>
            <a:ext cx="8024812" cy="1019175"/>
            <a:chOff x="409575" y="4114800"/>
            <a:chExt cx="8024812" cy="1019175"/>
          </a:xfrm>
        </p:grpSpPr>
        <p:sp>
          <p:nvSpPr>
            <p:cNvPr id="167" name="圆角矩形"/>
            <p:cNvSpPr>
              <a:spLocks/>
            </p:cNvSpPr>
            <p:nvPr/>
          </p:nvSpPr>
          <p:spPr>
            <a:xfrm rot="0">
              <a:off x="835025" y="4525963"/>
              <a:ext cx="7599362" cy="608012"/>
            </a:xfrm>
            <a:prstGeom prst="roundRect">
              <a:avLst>
                <a:gd name="adj" fmla="val 16666"/>
              </a:avLst>
            </a:prstGeom>
            <a:solidFill>
              <a:srgbClr val="FFFFFF"/>
            </a:solidFill>
            <a:ln w="25400" cmpd="sng" cap="flat">
              <a:solidFill>
                <a:srgbClr val="4F81BD"/>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可以依厂别、工作中心、制程、机台等设定所需收集的资料，全程掌握生产资讯</a:t>
              </a:r>
              <a:r>
                <a:rPr lang="zh-CN" altLang="en-US" sz="1600">
                  <a:solidFill>
                    <a:srgbClr val="000000"/>
                  </a:solidFill>
                  <a:latin typeface="Calibri" pitchFamily="0" charset="0"/>
                  <a:ea typeface="PMingLiU" pitchFamily="18" charset="-120"/>
                  <a:cs typeface="新細明體" pitchFamily="18" charset="-120"/>
                </a:rPr>
                <a:t>.</a:t>
              </a:r>
              <a:endParaRPr lang="zh-CN" altLang="en-US" sz="1600">
                <a:solidFill>
                  <a:srgbClr val="000000"/>
                </a:solidFill>
                <a:latin typeface="Calibri" pitchFamily="0" charset="0"/>
                <a:ea typeface="PMingLiU" pitchFamily="18" charset="-120"/>
                <a:cs typeface="新細明體" pitchFamily="18" charset="-120"/>
              </a:endParaRPr>
            </a:p>
            <a:p>
              <a:pPr marL="0" indent="0" algn="l">
                <a:lnSpc>
                  <a:spcPct val="100000"/>
                </a:lnSpc>
                <a:spcBef>
                  <a:spcPts val="0"/>
                </a:spcBef>
                <a:spcAft>
                  <a:spcPts val="0"/>
                </a:spcAft>
                <a:buNone/>
              </a:pPr>
              <a:endParaRPr lang="zh-CN" altLang="en-US" sz="1600">
                <a:solidFill>
                  <a:srgbClr val="000000"/>
                </a:solidFill>
                <a:latin typeface="Calibri" pitchFamily="0" charset="0"/>
                <a:ea typeface="PMingLiU" pitchFamily="18" charset="-120"/>
                <a:cs typeface="新細明體" pitchFamily="18" charset="-120"/>
              </a:endParaRPr>
            </a:p>
          </p:txBody>
        </p:sp>
        <p:sp>
          <p:nvSpPr>
            <p:cNvPr id="168" name="圆角矩形"/>
            <p:cNvSpPr>
              <a:spLocks/>
            </p:cNvSpPr>
            <p:nvPr/>
          </p:nvSpPr>
          <p:spPr>
            <a:xfrm rot="0">
              <a:off x="409575" y="4114800"/>
              <a:ext cx="2640012" cy="4111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b="1">
                  <a:solidFill>
                    <a:srgbClr val="000000"/>
                  </a:solidFill>
                  <a:latin typeface="Calibri" pitchFamily="0" charset="0"/>
                  <a:ea typeface="PMingLiU" pitchFamily="18" charset="-120"/>
                  <a:cs typeface="新細明體" pitchFamily="18" charset="-120"/>
                </a:rPr>
                <a:t>生产信息收集</a:t>
              </a:r>
              <a:endParaRPr lang="zh-CN" altLang="en-US" sz="2000" b="1">
                <a:solidFill>
                  <a:srgbClr val="000000"/>
                </a:solidFill>
                <a:latin typeface="Calibri" pitchFamily="0" charset="0"/>
                <a:ea typeface="PMingLiU" pitchFamily="18" charset="-120"/>
                <a:cs typeface="新細明體" pitchFamily="18" charset="-120"/>
              </a:endParaRPr>
            </a:p>
          </p:txBody>
        </p:sp>
      </p:grpSp>
      <p:sp>
        <p:nvSpPr>
          <p:cNvPr id="170" name="矩形"/>
          <p:cNvSpPr>
            <a:spLocks/>
          </p:cNvSpPr>
          <p:nvPr/>
        </p:nvSpPr>
        <p:spPr>
          <a:xfrm rot="0">
            <a:off x="0" y="476250"/>
            <a:ext cx="9101138"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宋体" pitchFamily="2" charset="-122"/>
                <a:ea typeface="宋体" pitchFamily="2" charset="-122"/>
                <a:cs typeface="新細明體" pitchFamily="18" charset="-120"/>
              </a:rPr>
              <a:t>专有名词</a:t>
            </a:r>
            <a:endParaRPr lang="zh-CN" altLang="en-US" sz="3600" b="1">
              <a:solidFill>
                <a:schemeClr val="tx1"/>
              </a:solidFill>
              <a:latin typeface="宋体" pitchFamily="2" charset="-122"/>
              <a:ea typeface="宋体" pitchFamily="2" charset="-122"/>
              <a:cs typeface="新細明體" pitchFamily="18" charset="-120"/>
            </a:endParaRPr>
          </a:p>
        </p:txBody>
      </p:sp>
      <p:grpSp>
        <p:nvGrpSpPr>
          <p:cNvPr id="173" name="组合"/>
          <p:cNvGrpSpPr>
            <a:grpSpLocks/>
          </p:cNvGrpSpPr>
          <p:nvPr/>
        </p:nvGrpSpPr>
        <p:grpSpPr>
          <a:xfrm>
            <a:off x="373062" y="2808287"/>
            <a:ext cx="8024813" cy="1019175"/>
            <a:chOff x="373062" y="2808287"/>
            <a:chExt cx="8024813" cy="1019175"/>
          </a:xfrm>
        </p:grpSpPr>
        <p:sp>
          <p:nvSpPr>
            <p:cNvPr id="171" name="圆角矩形"/>
            <p:cNvSpPr>
              <a:spLocks/>
            </p:cNvSpPr>
            <p:nvPr/>
          </p:nvSpPr>
          <p:spPr>
            <a:xfrm rot="0">
              <a:off x="798512" y="3219450"/>
              <a:ext cx="7599363" cy="608012"/>
            </a:xfrm>
            <a:prstGeom prst="roundRect">
              <a:avLst>
                <a:gd name="adj" fmla="val 16666"/>
              </a:avLst>
            </a:prstGeom>
            <a:solidFill>
              <a:srgbClr val="FFFFFF"/>
            </a:solidFill>
            <a:ln w="25400" cmpd="sng" cap="flat">
              <a:solidFill>
                <a:srgbClr val="4F81BD"/>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除了常用的产出数量、工时信息外，还根据实际需求定义项目用于生产信息收集，例如：重量、开机温度、停机检修时间等。</a:t>
              </a:r>
              <a:endParaRPr lang="zh-CN" altLang="en-US" sz="1600">
                <a:solidFill>
                  <a:srgbClr val="000000"/>
                </a:solidFill>
                <a:latin typeface="Calibri" pitchFamily="0" charset="0"/>
                <a:ea typeface="PMingLiU" pitchFamily="18" charset="-120"/>
                <a:cs typeface="新細明體" pitchFamily="18" charset="-120"/>
              </a:endParaRPr>
            </a:p>
          </p:txBody>
        </p:sp>
        <p:sp>
          <p:nvSpPr>
            <p:cNvPr id="172" name="圆角矩形"/>
            <p:cNvSpPr>
              <a:spLocks/>
            </p:cNvSpPr>
            <p:nvPr/>
          </p:nvSpPr>
          <p:spPr>
            <a:xfrm rot="0">
              <a:off x="373062" y="2808287"/>
              <a:ext cx="2640012" cy="4111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b="1">
                  <a:solidFill>
                    <a:srgbClr val="000000"/>
                  </a:solidFill>
                  <a:latin typeface="Calibri" pitchFamily="0" charset="0"/>
                  <a:ea typeface="PMingLiU" pitchFamily="18" charset="-120"/>
                  <a:cs typeface="新細明體" pitchFamily="18" charset="-120"/>
                </a:rPr>
                <a:t>自定义生产信息项目</a:t>
              </a:r>
              <a:endParaRPr lang="zh-CN" altLang="en-US" sz="2000" b="1">
                <a:solidFill>
                  <a:srgbClr val="000000"/>
                </a:solidFill>
                <a:latin typeface="Calibri" pitchFamily="0" charset="0"/>
                <a:ea typeface="PMingLiU" pitchFamily="18" charset="-120"/>
                <a:cs typeface="新細明體" pitchFamily="18" charset="-120"/>
              </a:endParaRPr>
            </a:p>
          </p:txBody>
        </p:sp>
      </p:grpSp>
    </p:spTree>
    <p:extLst>
      <p:ext uri="{BB962C8B-B14F-4D97-AF65-F5344CB8AC3E}">
        <p14:creationId xmlns:p14="http://schemas.microsoft.com/office/powerpoint/2010/main" val="13244543"/>
      </p:ext>
    </p:extLst>
  </p:cSld>
  <p:clrMapOvr>
    <a:masterClrMapping/>
  </p:clrMapOvr>
  <p:transition/>
</p:sld>
</file>

<file path=ppt/slides/slide1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4" name="矩形"/>
          <p:cNvSpPr>
            <a:spLocks/>
          </p:cNvSpPr>
          <p:nvPr/>
        </p:nvSpPr>
        <p:spPr>
          <a:xfrm rot="0">
            <a:off x="8550276" y="6383337"/>
            <a:ext cx="719137" cy="4762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18</a:t>
            </a:r>
            <a:endParaRPr lang="zh-CN" altLang="en-US" sz="1800">
              <a:solidFill>
                <a:schemeClr val="tx1"/>
              </a:solidFill>
              <a:latin typeface="Arial" pitchFamily="34" charset="0"/>
              <a:ea typeface="PMingLiU" pitchFamily="18" charset="-120"/>
              <a:cs typeface="新細明體" pitchFamily="18" charset="-120"/>
            </a:endParaRPr>
          </a:p>
        </p:txBody>
      </p:sp>
      <p:grpSp>
        <p:nvGrpSpPr>
          <p:cNvPr id="177" name="组合"/>
          <p:cNvGrpSpPr>
            <a:grpSpLocks/>
          </p:cNvGrpSpPr>
          <p:nvPr/>
        </p:nvGrpSpPr>
        <p:grpSpPr>
          <a:xfrm>
            <a:off x="363537" y="1525587"/>
            <a:ext cx="8024813" cy="1260475"/>
            <a:chOff x="363537" y="1525587"/>
            <a:chExt cx="8024813" cy="1260475"/>
          </a:xfrm>
        </p:grpSpPr>
        <p:sp>
          <p:nvSpPr>
            <p:cNvPr id="175" name="圆角矩形"/>
            <p:cNvSpPr>
              <a:spLocks/>
            </p:cNvSpPr>
            <p:nvPr/>
          </p:nvSpPr>
          <p:spPr>
            <a:xfrm rot="0">
              <a:off x="788987" y="1938337"/>
              <a:ext cx="7599363" cy="847724"/>
            </a:xfrm>
            <a:prstGeom prst="roundRect">
              <a:avLst>
                <a:gd name="adj" fmla="val 16666"/>
              </a:avLst>
            </a:prstGeom>
            <a:solidFill>
              <a:srgbClr val="FFFFFF"/>
            </a:solidFill>
            <a:ln w="25400" cmpd="sng" cap="flat">
              <a:solidFill>
                <a:srgbClr val="4F81BD"/>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600">
                  <a:solidFill>
                    <a:srgbClr val="000000"/>
                  </a:solidFill>
                  <a:latin typeface="Calibri" pitchFamily="0" charset="0"/>
                  <a:ea typeface="PMingLiU" pitchFamily="18" charset="-120"/>
                  <a:cs typeface="新細明體" pitchFamily="18" charset="-120"/>
                </a:rPr>
                <a:t>将工单号，或者工单号</a:t>
              </a:r>
              <a:r>
                <a:rPr lang="zh-CN" altLang="en-US" sz="1600">
                  <a:solidFill>
                    <a:srgbClr val="000000"/>
                  </a:solidFill>
                  <a:latin typeface="Calibri" pitchFamily="0" charset="0"/>
                  <a:ea typeface="PMingLiU" pitchFamily="18" charset="-120"/>
                  <a:cs typeface="新細明體" pitchFamily="18" charset="-120"/>
                </a:rPr>
                <a:t>-</a:t>
              </a:r>
              <a:r>
                <a:rPr lang="zh-CN" altLang="en-US" sz="1600">
                  <a:solidFill>
                    <a:srgbClr val="000000"/>
                  </a:solidFill>
                  <a:latin typeface="Calibri" pitchFamily="0" charset="0"/>
                  <a:ea typeface="PMingLiU" pitchFamily="18" charset="-120"/>
                  <a:cs typeface="新細明體" pitchFamily="18" charset="-120"/>
                </a:rPr>
                <a:t>工序号以条码的形式表达。为实现条码的车间应用提供基础。在车间投产</a:t>
              </a:r>
              <a:r>
                <a:rPr lang="zh-CN" altLang="en-US" sz="1600">
                  <a:solidFill>
                    <a:srgbClr val="000000"/>
                  </a:solidFill>
                  <a:latin typeface="Calibri" pitchFamily="0" charset="0"/>
                  <a:ea typeface="PMingLiU" pitchFamily="18" charset="-120"/>
                  <a:cs typeface="新細明體" pitchFamily="18" charset="-120"/>
                </a:rPr>
                <a:t>/</a:t>
              </a:r>
              <a:r>
                <a:rPr lang="zh-CN" altLang="en-US" sz="1600">
                  <a:solidFill>
                    <a:srgbClr val="000000"/>
                  </a:solidFill>
                  <a:latin typeface="Calibri" pitchFamily="0" charset="0"/>
                  <a:ea typeface="PMingLiU" pitchFamily="18" charset="-120"/>
                  <a:cs typeface="新細明體" pitchFamily="18" charset="-120"/>
                </a:rPr>
                <a:t>取消投产；派工；上线</a:t>
              </a:r>
              <a:r>
                <a:rPr lang="zh-CN" altLang="en-US" sz="1600">
                  <a:solidFill>
                    <a:srgbClr val="000000"/>
                  </a:solidFill>
                  <a:latin typeface="Calibri" pitchFamily="0" charset="0"/>
                  <a:ea typeface="PMingLiU" pitchFamily="18" charset="-120"/>
                  <a:cs typeface="新細明體" pitchFamily="18" charset="-120"/>
                </a:rPr>
                <a:t>/</a:t>
              </a:r>
              <a:r>
                <a:rPr lang="zh-CN" altLang="en-US" sz="1600">
                  <a:solidFill>
                    <a:srgbClr val="000000"/>
                  </a:solidFill>
                  <a:latin typeface="Calibri" pitchFamily="0" charset="0"/>
                  <a:ea typeface="PMingLiU" pitchFamily="18" charset="-120"/>
                  <a:cs typeface="新細明體" pitchFamily="18" charset="-120"/>
                </a:rPr>
                <a:t>取消上线；下线</a:t>
              </a:r>
              <a:r>
                <a:rPr lang="zh-CN" altLang="en-US" sz="1600">
                  <a:solidFill>
                    <a:srgbClr val="000000"/>
                  </a:solidFill>
                  <a:latin typeface="Calibri" pitchFamily="0" charset="0"/>
                  <a:ea typeface="PMingLiU" pitchFamily="18" charset="-120"/>
                  <a:cs typeface="新細明體" pitchFamily="18" charset="-120"/>
                </a:rPr>
                <a:t>/</a:t>
              </a:r>
              <a:r>
                <a:rPr lang="zh-CN" altLang="en-US" sz="1600">
                  <a:solidFill>
                    <a:srgbClr val="000000"/>
                  </a:solidFill>
                  <a:latin typeface="Calibri" pitchFamily="0" charset="0"/>
                  <a:ea typeface="PMingLiU" pitchFamily="18" charset="-120"/>
                  <a:cs typeface="新細明體" pitchFamily="18" charset="-120"/>
                </a:rPr>
                <a:t>取消下线；整批转移刷读工艺条码，以实现便捷作业。</a:t>
              </a:r>
              <a:endParaRPr lang="zh-CN" altLang="en-US" sz="1600">
                <a:solidFill>
                  <a:srgbClr val="000000"/>
                </a:solidFill>
                <a:latin typeface="Calibri" pitchFamily="0" charset="0"/>
                <a:ea typeface="PMingLiU" pitchFamily="18" charset="-120"/>
                <a:cs typeface="新細明體" pitchFamily="18" charset="-120"/>
              </a:endParaRPr>
            </a:p>
          </p:txBody>
        </p:sp>
        <p:sp>
          <p:nvSpPr>
            <p:cNvPr id="176" name="圆角矩形"/>
            <p:cNvSpPr>
              <a:spLocks/>
            </p:cNvSpPr>
            <p:nvPr/>
          </p:nvSpPr>
          <p:spPr>
            <a:xfrm rot="0">
              <a:off x="363537" y="1525587"/>
              <a:ext cx="1349375" cy="412750"/>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b="1">
                  <a:solidFill>
                    <a:srgbClr val="000000"/>
                  </a:solidFill>
                  <a:latin typeface="Calibri" pitchFamily="0" charset="0"/>
                  <a:ea typeface="PMingLiU" pitchFamily="18" charset="-120"/>
                  <a:cs typeface="新細明體" pitchFamily="18" charset="-120"/>
                </a:rPr>
                <a:t>工艺条码</a:t>
              </a:r>
              <a:endParaRPr lang="zh-CN" altLang="en-US" sz="2000" b="1">
                <a:solidFill>
                  <a:srgbClr val="000000"/>
                </a:solidFill>
                <a:latin typeface="Calibri" pitchFamily="0" charset="0"/>
                <a:ea typeface="PMingLiU" pitchFamily="18" charset="-120"/>
                <a:cs typeface="新細明體" pitchFamily="18" charset="-120"/>
              </a:endParaRPr>
            </a:p>
          </p:txBody>
        </p:sp>
      </p:grpSp>
      <p:sp>
        <p:nvSpPr>
          <p:cNvPr id="178" name="矩形"/>
          <p:cNvSpPr>
            <a:spLocks/>
          </p:cNvSpPr>
          <p:nvPr/>
        </p:nvSpPr>
        <p:spPr>
          <a:xfrm rot="0">
            <a:off x="0" y="476250"/>
            <a:ext cx="9101138"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宋体" pitchFamily="2" charset="-122"/>
                <a:ea typeface="宋体" pitchFamily="2" charset="-122"/>
                <a:cs typeface="新細明體" pitchFamily="18" charset="-120"/>
              </a:rPr>
              <a:t>专有名词</a:t>
            </a:r>
            <a:endParaRPr lang="zh-CN" altLang="en-US" sz="3600" b="1">
              <a:solidFill>
                <a:schemeClr val="tx1"/>
              </a:solidFill>
              <a:latin typeface="宋体" pitchFamily="2" charset="-122"/>
              <a:ea typeface="宋体" pitchFamily="2" charset="-122"/>
              <a:cs typeface="新細明體" pitchFamily="18" charset="-120"/>
            </a:endParaRPr>
          </a:p>
        </p:txBody>
      </p:sp>
    </p:spTree>
    <p:extLst>
      <p:ext uri="{BB962C8B-B14F-4D97-AF65-F5344CB8AC3E}">
        <p14:creationId xmlns:p14="http://schemas.microsoft.com/office/powerpoint/2010/main" val="1300564802"/>
      </p:ext>
    </p:extLst>
  </p:cSld>
  <p:clrMapOvr>
    <a:masterClrMapping/>
  </p:clrMapOvr>
  <p:transition/>
</p:sld>
</file>

<file path=ppt/slides/slide1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79" name="图片"/>
          <p:cNvPicPr>
            <a:picLocks noChangeAspect="1"/>
          </p:cNvPicPr>
          <p:nvPr/>
        </p:nvPicPr>
        <p:blipFill>
          <a:blip r:embed="rId1" cstate="print"/>
          <a:stretch>
            <a:fillRect/>
          </a:stretch>
        </p:blipFill>
        <p:spPr>
          <a:xfrm rot="0">
            <a:off x="3476625" y="1724025"/>
            <a:ext cx="5605462" cy="4940300"/>
          </a:xfrm>
          <a:prstGeom prst="rect"/>
          <a:noFill/>
          <a:ln w="9525" cmpd="sng" cap="flat">
            <a:noFill/>
            <a:prstDash val="solid"/>
            <a:miter/>
          </a:ln>
        </p:spPr>
      </p:pic>
      <p:sp>
        <p:nvSpPr>
          <p:cNvPr id="180"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设置</a:t>
            </a:r>
            <a:r>
              <a:rPr lang="zh-CN" altLang="en-US" sz="3600" b="1">
                <a:solidFill>
                  <a:schemeClr val="tx1"/>
                </a:solidFill>
                <a:latin typeface="Microsoft JhengHei" pitchFamily="34" charset="-120"/>
                <a:ea typeface="Microsoft JhengHei" pitchFamily="34" charset="-120"/>
                <a:cs typeface="新細明體" pitchFamily="18" charset="-120"/>
              </a:rPr>
              <a:t>工厂</a:t>
            </a:r>
            <a:r>
              <a:rPr lang="zh-CN" altLang="en-US" sz="3600" b="1">
                <a:solidFill>
                  <a:schemeClr val="tx1"/>
                </a:solidFill>
                <a:latin typeface="Microsoft JhengHei" pitchFamily="34" charset="-120"/>
                <a:ea typeface="Microsoft JhengHei" pitchFamily="34" charset="-120"/>
                <a:cs typeface="新細明體" pitchFamily="18" charset="-120"/>
              </a:rPr>
              <a:t>參数</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181" name="矩形"/>
          <p:cNvSpPr>
            <a:spLocks/>
          </p:cNvSpPr>
          <p:nvPr/>
        </p:nvSpPr>
        <p:spPr>
          <a:xfrm rot="0">
            <a:off x="468312" y="1270000"/>
            <a:ext cx="6840538"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设置工艺管理的</a:t>
            </a:r>
            <a:r>
              <a:rPr lang="zh-CN" altLang="en-US" sz="2000">
                <a:solidFill>
                  <a:schemeClr val="tx1"/>
                </a:solidFill>
                <a:latin typeface="微软雅黑" pitchFamily="34" charset="-122"/>
                <a:ea typeface="微软雅黑" pitchFamily="34" charset="-122"/>
                <a:cs typeface="新細明體" pitchFamily="18" charset="-120"/>
              </a:rPr>
              <a:t>相关参数</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182" name="矩形"/>
          <p:cNvSpPr>
            <a:spLocks/>
          </p:cNvSpPr>
          <p:nvPr/>
        </p:nvSpPr>
        <p:spPr>
          <a:xfrm rot="0">
            <a:off x="71437" y="1770062"/>
            <a:ext cx="3405187" cy="255428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设置工厂内生产单据审核日依据</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设定车间生产信息的收集时机</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设定工厂的工艺生产模式是否支持网状工艺路线</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183" name="圆角矩形标注"/>
          <p:cNvSpPr>
            <a:spLocks/>
          </p:cNvSpPr>
          <p:nvPr/>
        </p:nvSpPr>
        <p:spPr>
          <a:xfrm rot="0">
            <a:off x="7137400" y="2854325"/>
            <a:ext cx="1944687" cy="985837"/>
          </a:xfrm>
          <a:prstGeom prst="wedgeRoundRectCallout">
            <a:avLst>
              <a:gd name="adj1" fmla="val -34805"/>
              <a:gd name="adj2" fmla="val 79569"/>
              <a:gd name="adj3" fmla="val 16667"/>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400" b="1">
                <a:solidFill>
                  <a:srgbClr val="000000"/>
                </a:solidFill>
                <a:latin typeface="Calibri" pitchFamily="0" charset="0"/>
                <a:ea typeface="PMingLiU" pitchFamily="18" charset="-120"/>
                <a:cs typeface="新細明體" pitchFamily="18" charset="-120"/>
              </a:rPr>
              <a:t>对于无平行路线或拆分合并需求的工厂后续作业上简化画面布局</a:t>
            </a:r>
            <a:endParaRPr lang="zh-CN" altLang="en-US" sz="1400" b="1">
              <a:solidFill>
                <a:srgbClr val="000000"/>
              </a:solidFill>
              <a:latin typeface="Calibri" pitchFamily="0" charset="0"/>
              <a:ea typeface="PMingLiU" pitchFamily="18" charset="-120"/>
              <a:cs typeface="新細明體" pitchFamily="18" charset="-120"/>
            </a:endParaRPr>
          </a:p>
        </p:txBody>
      </p:sp>
      <p:sp>
        <p:nvSpPr>
          <p:cNvPr id="184" name="圆角矩形标注"/>
          <p:cNvSpPr>
            <a:spLocks/>
          </p:cNvSpPr>
          <p:nvPr/>
        </p:nvSpPr>
        <p:spPr>
          <a:xfrm rot="0">
            <a:off x="4749800" y="4724400"/>
            <a:ext cx="2433637" cy="1766887"/>
          </a:xfrm>
          <a:prstGeom prst="wedgeRoundRectCallout">
            <a:avLst>
              <a:gd name="adj1" fmla="val -46444"/>
              <a:gd name="adj2" fmla="val -61601"/>
              <a:gd name="adj3" fmla="val 16667"/>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400" b="1">
                <a:solidFill>
                  <a:srgbClr val="000000"/>
                </a:solidFill>
                <a:latin typeface="Calibri" pitchFamily="0" charset="0"/>
                <a:ea typeface="PMingLiU" pitchFamily="18" charset="-120"/>
                <a:cs typeface="新細明體" pitchFamily="18" charset="-120"/>
              </a:rPr>
              <a:t>及时报</a:t>
            </a:r>
            <a:r>
              <a:rPr lang="zh-CN" altLang="en-US" sz="1400" b="1">
                <a:solidFill>
                  <a:srgbClr val="000000"/>
                </a:solidFill>
                <a:latin typeface="Calibri" pitchFamily="0" charset="0"/>
                <a:ea typeface="PMingLiU" pitchFamily="18" charset="-120"/>
                <a:cs typeface="新細明體" pitchFamily="18" charset="-120"/>
              </a:rPr>
              <a:t>工</a:t>
            </a:r>
            <a:endParaRPr lang="zh-CN" altLang="en-US" sz="1400" b="1">
              <a:solidFill>
                <a:srgbClr val="000000"/>
              </a:solidFill>
              <a:latin typeface="Calibri" pitchFamily="0" charset="0"/>
              <a:ea typeface="PMingLiU" pitchFamily="18" charset="-120"/>
              <a:cs typeface="新細明體" pitchFamily="18" charset="-120"/>
            </a:endParaRPr>
          </a:p>
          <a:p>
            <a:pPr marL="0" indent="0" algn="l">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适用于</a:t>
            </a:r>
            <a:r>
              <a:rPr lang="zh-CN" altLang="en-US" sz="1200">
                <a:solidFill>
                  <a:srgbClr val="000000"/>
                </a:solidFill>
                <a:latin typeface="Calibri" pitchFamily="0" charset="0"/>
                <a:ea typeface="PMingLiU" pitchFamily="18" charset="-120"/>
                <a:cs typeface="新細明體" pitchFamily="18" charset="-120"/>
              </a:rPr>
              <a:t>报工内容简单、报工及时的简化</a:t>
            </a:r>
            <a:r>
              <a:rPr lang="zh-CN" altLang="en-US" sz="1200">
                <a:solidFill>
                  <a:srgbClr val="000000"/>
                </a:solidFill>
                <a:latin typeface="Calibri" pitchFamily="0" charset="0"/>
                <a:ea typeface="PMingLiU" pitchFamily="18" charset="-120"/>
                <a:cs typeface="新細明體" pitchFamily="18" charset="-120"/>
              </a:rPr>
              <a:t>操作</a:t>
            </a:r>
            <a:endParaRPr lang="zh-CN" altLang="en-US" sz="1200">
              <a:solidFill>
                <a:srgbClr val="000000"/>
              </a:solidFill>
              <a:latin typeface="Calibri" pitchFamily="0" charset="0"/>
              <a:ea typeface="PMingLiU" pitchFamily="18" charset="-120"/>
              <a:cs typeface="新細明體" pitchFamily="18" charset="-120"/>
            </a:endParaRPr>
          </a:p>
          <a:p>
            <a:pPr marL="0" indent="0" algn="l">
              <a:lnSpc>
                <a:spcPct val="100000"/>
              </a:lnSpc>
              <a:spcBef>
                <a:spcPts val="0"/>
              </a:spcBef>
              <a:spcAft>
                <a:spcPts val="0"/>
              </a:spcAft>
              <a:buNone/>
            </a:pPr>
            <a:r>
              <a:rPr lang="zh-CN" altLang="en-US" sz="1400" b="1">
                <a:solidFill>
                  <a:srgbClr val="000000"/>
                </a:solidFill>
                <a:latin typeface="Calibri" pitchFamily="0" charset="0"/>
                <a:ea typeface="PMingLiU" pitchFamily="18" charset="-120"/>
                <a:cs typeface="新細明體" pitchFamily="18" charset="-120"/>
              </a:rPr>
              <a:t>事后报</a:t>
            </a:r>
            <a:r>
              <a:rPr lang="zh-CN" altLang="en-US" sz="1400" b="1">
                <a:solidFill>
                  <a:srgbClr val="000000"/>
                </a:solidFill>
                <a:latin typeface="Calibri" pitchFamily="0" charset="0"/>
                <a:ea typeface="PMingLiU" pitchFamily="18" charset="-120"/>
                <a:cs typeface="新細明體" pitchFamily="18" charset="-120"/>
              </a:rPr>
              <a:t>工</a:t>
            </a:r>
            <a:endParaRPr lang="zh-CN" altLang="en-US" sz="1400" b="1">
              <a:solidFill>
                <a:srgbClr val="000000"/>
              </a:solidFill>
              <a:latin typeface="Calibri" pitchFamily="0" charset="0"/>
              <a:ea typeface="PMingLiU" pitchFamily="18" charset="-120"/>
              <a:cs typeface="新細明體" pitchFamily="18" charset="-120"/>
            </a:endParaRPr>
          </a:p>
          <a:p>
            <a:pPr marL="0" indent="0" algn="l">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报</a:t>
            </a:r>
            <a:r>
              <a:rPr lang="zh-CN" altLang="en-US" sz="1200">
                <a:solidFill>
                  <a:srgbClr val="000000"/>
                </a:solidFill>
                <a:latin typeface="Calibri" pitchFamily="0" charset="0"/>
                <a:ea typeface="PMingLiU" pitchFamily="18" charset="-120"/>
                <a:cs typeface="新細明體" pitchFamily="18" charset="-120"/>
              </a:rPr>
              <a:t>工内容完善，支持</a:t>
            </a:r>
            <a:r>
              <a:rPr lang="zh-CN" altLang="en-US" sz="1200">
                <a:solidFill>
                  <a:srgbClr val="000000"/>
                </a:solidFill>
                <a:latin typeface="Calibri" pitchFamily="0" charset="0"/>
                <a:ea typeface="PMingLiU" pitchFamily="18" charset="-120"/>
                <a:cs typeface="新細明體" pitchFamily="18" charset="-120"/>
              </a:rPr>
              <a:t>自定义报</a:t>
            </a:r>
            <a:r>
              <a:rPr lang="zh-CN" altLang="en-US" sz="1200">
                <a:solidFill>
                  <a:srgbClr val="000000"/>
                </a:solidFill>
                <a:latin typeface="Calibri" pitchFamily="0" charset="0"/>
                <a:ea typeface="PMingLiU" pitchFamily="18" charset="-120"/>
                <a:cs typeface="新細明體" pitchFamily="18" charset="-120"/>
              </a:rPr>
              <a:t>工，适用于上线一段</a:t>
            </a:r>
            <a:r>
              <a:rPr lang="zh-CN" altLang="en-US" sz="1200">
                <a:solidFill>
                  <a:srgbClr val="000000"/>
                </a:solidFill>
                <a:latin typeface="Calibri" pitchFamily="0" charset="0"/>
                <a:ea typeface="PMingLiU" pitchFamily="18" charset="-120"/>
                <a:cs typeface="新細明體" pitchFamily="18" charset="-120"/>
              </a:rPr>
              <a:t>时间用户</a:t>
            </a:r>
            <a:r>
              <a:rPr lang="zh-CN" altLang="en-US" sz="1200">
                <a:solidFill>
                  <a:srgbClr val="000000"/>
                </a:solidFill>
                <a:latin typeface="Calibri" pitchFamily="0" charset="0"/>
                <a:ea typeface="PMingLiU" pitchFamily="18" charset="-120"/>
                <a:cs typeface="新細明體" pitchFamily="18" charset="-120"/>
              </a:rPr>
              <a:t>对现场资料有一定认识</a:t>
            </a:r>
            <a:r>
              <a:rPr lang="zh-CN" altLang="en-US" sz="1200">
                <a:solidFill>
                  <a:srgbClr val="000000"/>
                </a:solidFill>
                <a:latin typeface="Calibri" pitchFamily="0" charset="0"/>
                <a:ea typeface="PMingLiU" pitchFamily="18" charset="-120"/>
                <a:cs typeface="新細明體" pitchFamily="18" charset="-120"/>
              </a:rPr>
              <a:t>，要求</a:t>
            </a:r>
            <a:r>
              <a:rPr lang="zh-CN" altLang="en-US" sz="1200">
                <a:solidFill>
                  <a:srgbClr val="000000"/>
                </a:solidFill>
                <a:latin typeface="Calibri" pitchFamily="0" charset="0"/>
                <a:ea typeface="PMingLiU" pitchFamily="18" charset="-120"/>
                <a:cs typeface="新細明體" pitchFamily="18" charset="-120"/>
              </a:rPr>
              <a:t>现场管理达更高</a:t>
            </a:r>
            <a:r>
              <a:rPr lang="zh-CN" altLang="en-US" sz="1200">
                <a:solidFill>
                  <a:srgbClr val="000000"/>
                </a:solidFill>
                <a:latin typeface="Calibri" pitchFamily="0" charset="0"/>
                <a:ea typeface="PMingLiU" pitchFamily="18" charset="-120"/>
                <a:cs typeface="新細明體" pitchFamily="18" charset="-120"/>
              </a:rPr>
              <a:t>等级</a:t>
            </a:r>
            <a:endParaRPr lang="zh-CN" altLang="en-US" sz="1200">
              <a:solidFill>
                <a:srgbClr val="000000"/>
              </a:solidFill>
              <a:latin typeface="Calibri" pitchFamily="0" charset="0"/>
              <a:ea typeface="PMingLiU" pitchFamily="18" charset="-120"/>
              <a:cs typeface="新細明體" pitchFamily="18" charset="-120"/>
            </a:endParaRPr>
          </a:p>
          <a:p>
            <a:pPr marL="0" indent="0" algn="l">
              <a:lnSpc>
                <a:spcPct val="100000"/>
              </a:lnSpc>
              <a:spcBef>
                <a:spcPts val="0"/>
              </a:spcBef>
              <a:spcAft>
                <a:spcPts val="0"/>
              </a:spcAft>
              <a:buNone/>
            </a:pPr>
            <a:endParaRPr lang="zh-CN" altLang="en-US" sz="1400" b="1">
              <a:solidFill>
                <a:srgbClr val="000000"/>
              </a:solidFill>
              <a:latin typeface="Calibri" pitchFamily="0" charset="0"/>
              <a:ea typeface="PMingLiU" pitchFamily="18" charset="-120"/>
              <a:cs typeface="新細明體" pitchFamily="18" charset="-120"/>
            </a:endParaRPr>
          </a:p>
        </p:txBody>
      </p:sp>
      <p:sp>
        <p:nvSpPr>
          <p:cNvPr id="185" name="圆角矩形标注"/>
          <p:cNvSpPr>
            <a:spLocks/>
          </p:cNvSpPr>
          <p:nvPr/>
        </p:nvSpPr>
        <p:spPr>
          <a:xfrm rot="0">
            <a:off x="5480050" y="2554287"/>
            <a:ext cx="973137" cy="493712"/>
          </a:xfrm>
          <a:prstGeom prst="wedgeRoundRectCallout">
            <a:avLst>
              <a:gd name="adj1" fmla="val -65421"/>
              <a:gd name="adj2" fmla="val 117546"/>
              <a:gd name="adj3" fmla="val 16667"/>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400" b="1">
                <a:solidFill>
                  <a:srgbClr val="000000"/>
                </a:solidFill>
                <a:latin typeface="Calibri" pitchFamily="0" charset="0"/>
                <a:ea typeface="PMingLiU" pitchFamily="18" charset="-120"/>
                <a:cs typeface="新細明體" pitchFamily="18" charset="-120"/>
              </a:rPr>
              <a:t>系统日</a:t>
            </a:r>
            <a:endParaRPr lang="zh-CN" altLang="en-US" sz="1400" b="1">
              <a:solidFill>
                <a:srgbClr val="000000"/>
              </a:solidFill>
              <a:latin typeface="Calibri" pitchFamily="0" charset="0"/>
              <a:ea typeface="PMingLiU" pitchFamily="18" charset="-120"/>
              <a:cs typeface="新細明體" pitchFamily="18" charset="-120"/>
            </a:endParaRPr>
          </a:p>
          <a:p>
            <a:pPr marL="0" indent="0" algn="l">
              <a:lnSpc>
                <a:spcPct val="100000"/>
              </a:lnSpc>
              <a:spcBef>
                <a:spcPts val="0"/>
              </a:spcBef>
              <a:spcAft>
                <a:spcPts val="0"/>
              </a:spcAft>
              <a:buNone/>
            </a:pPr>
            <a:r>
              <a:rPr lang="zh-CN" altLang="en-US" sz="1400" b="1">
                <a:solidFill>
                  <a:srgbClr val="000000"/>
                </a:solidFill>
                <a:latin typeface="Calibri" pitchFamily="0" charset="0"/>
                <a:ea typeface="PMingLiU" pitchFamily="18" charset="-120"/>
                <a:cs typeface="新細明體" pitchFamily="18" charset="-120"/>
              </a:rPr>
              <a:t>单据日</a:t>
            </a:r>
            <a:endParaRPr lang="zh-CN" altLang="en-US" sz="1400" b="1">
              <a:solidFill>
                <a:srgbClr val="000000"/>
              </a:solidFill>
              <a:latin typeface="Calibri" pitchFamily="0" charset="0"/>
              <a:ea typeface="PMingLiU" pitchFamily="18" charset="-120"/>
              <a:cs typeface="新細明體" pitchFamily="18" charset="-120"/>
            </a:endParaRPr>
          </a:p>
        </p:txBody>
      </p:sp>
    </p:spTree>
    <p:extLst>
      <p:ext uri="{BB962C8B-B14F-4D97-AF65-F5344CB8AC3E}">
        <p14:creationId xmlns:p14="http://schemas.microsoft.com/office/powerpoint/2010/main" val="1142697029"/>
      </p:ext>
    </p:extLst>
  </p:cSld>
  <p:clrMapOvr>
    <a:masterClrMapping/>
  </p:clrMapOvr>
  <p:transition/>
</p:sld>
</file>

<file path=ppt/slides/slide2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86" name="图片"/>
          <p:cNvPicPr>
            <a:picLocks noChangeAspect="1"/>
          </p:cNvPicPr>
          <p:nvPr/>
        </p:nvPicPr>
        <p:blipFill>
          <a:blip r:embed="rId1" cstate="print"/>
          <a:stretch>
            <a:fillRect/>
          </a:stretch>
        </p:blipFill>
        <p:spPr>
          <a:xfrm rot="0">
            <a:off x="3563937" y="1670050"/>
            <a:ext cx="4752975" cy="5062537"/>
          </a:xfrm>
          <a:prstGeom prst="rect"/>
          <a:noFill/>
          <a:ln w="9525" cmpd="sng" cap="flat">
            <a:noFill/>
            <a:prstDash val="solid"/>
            <a:miter/>
          </a:ln>
        </p:spPr>
      </p:pic>
      <p:sp>
        <p:nvSpPr>
          <p:cNvPr id="187"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维护工作中心派工</a:t>
            </a:r>
            <a:r>
              <a:rPr lang="zh-CN" altLang="en-US" sz="3600" b="1">
                <a:solidFill>
                  <a:schemeClr val="tx1"/>
                </a:solidFill>
                <a:latin typeface="Microsoft JhengHei" pitchFamily="34" charset="-120"/>
                <a:ea typeface="Microsoft JhengHei" pitchFamily="34" charset="-120"/>
                <a:cs typeface="新細明體" pitchFamily="18" charset="-120"/>
              </a:rPr>
              <a:t>參数</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188" name="矩形"/>
          <p:cNvSpPr>
            <a:spLocks/>
          </p:cNvSpPr>
          <p:nvPr/>
        </p:nvSpPr>
        <p:spPr>
          <a:xfrm rot="0">
            <a:off x="468312" y="1270000"/>
            <a:ext cx="6840538"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设置工作中心派工的</a:t>
            </a:r>
            <a:r>
              <a:rPr lang="zh-CN" altLang="en-US" sz="2000">
                <a:solidFill>
                  <a:schemeClr val="tx1"/>
                </a:solidFill>
                <a:latin typeface="微软雅黑" pitchFamily="34" charset="-122"/>
                <a:ea typeface="微软雅黑" pitchFamily="34" charset="-122"/>
                <a:cs typeface="新細明體" pitchFamily="18" charset="-120"/>
              </a:rPr>
              <a:t>相关参数</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189" name="矩形"/>
          <p:cNvSpPr>
            <a:spLocks/>
          </p:cNvSpPr>
          <p:nvPr/>
        </p:nvSpPr>
        <p:spPr>
          <a:xfrm rot="0">
            <a:off x="71437" y="1770062"/>
            <a:ext cx="3405187" cy="4708525"/>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设定工作中心是否启用派工管理</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选择工作中心的派工对象</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如果工作中心大部分工艺启用派工，个别工艺不需派工，则启用派工，同时录入相应的不派工工艺。</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工艺委外的供应商皆需产生委外采购订单，等同于派工。</a:t>
            </a:r>
            <a:endParaRPr lang="zh-CN" altLang="en-US" sz="2000">
              <a:solidFill>
                <a:srgbClr val="0D0D0D"/>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p:txBody>
      </p:sp>
      <p:sp>
        <p:nvSpPr>
          <p:cNvPr id="190" name="圆角矩形标注"/>
          <p:cNvSpPr>
            <a:spLocks/>
          </p:cNvSpPr>
          <p:nvPr/>
        </p:nvSpPr>
        <p:spPr>
          <a:xfrm rot="0">
            <a:off x="6300787" y="4292600"/>
            <a:ext cx="1763712" cy="1081087"/>
          </a:xfrm>
          <a:prstGeom prst="wedgeRoundRectCallout">
            <a:avLst>
              <a:gd name="adj1" fmla="val -61916"/>
              <a:gd name="adj2" fmla="val -46648"/>
              <a:gd name="adj3" fmla="val 16667"/>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400" b="1">
                <a:solidFill>
                  <a:srgbClr val="000000"/>
                </a:solidFill>
                <a:latin typeface="Calibri" pitchFamily="0" charset="0"/>
                <a:ea typeface="PMingLiU" pitchFamily="18" charset="-120"/>
                <a:cs typeface="新細明體" pitchFamily="18" charset="-120"/>
              </a:rPr>
              <a:t>派工对象可多选，但班组、人员、班组</a:t>
            </a:r>
            <a:r>
              <a:rPr lang="zh-CN" altLang="en-US" sz="1400" b="1">
                <a:solidFill>
                  <a:srgbClr val="000000"/>
                </a:solidFill>
                <a:latin typeface="Calibri" pitchFamily="0" charset="0"/>
                <a:ea typeface="PMingLiU" pitchFamily="18" charset="-120"/>
                <a:cs typeface="新細明體" pitchFamily="18" charset="-120"/>
              </a:rPr>
              <a:t>/</a:t>
            </a:r>
            <a:r>
              <a:rPr lang="zh-CN" altLang="en-US" sz="1400" b="1">
                <a:solidFill>
                  <a:srgbClr val="000000"/>
                </a:solidFill>
                <a:latin typeface="Calibri" pitchFamily="0" charset="0"/>
                <a:ea typeface="PMingLiU" pitchFamily="18" charset="-120"/>
                <a:cs typeface="新細明體" pitchFamily="18" charset="-120"/>
              </a:rPr>
              <a:t>人员三者只能选其一</a:t>
            </a:r>
            <a:endParaRPr lang="zh-CN" altLang="en-US" sz="1400" b="1">
              <a:solidFill>
                <a:srgbClr val="000000"/>
              </a:solidFill>
              <a:latin typeface="Calibri" pitchFamily="0" charset="0"/>
              <a:ea typeface="PMingLiU" pitchFamily="18" charset="-120"/>
              <a:cs typeface="新細明體" pitchFamily="18" charset="-120"/>
            </a:endParaRPr>
          </a:p>
        </p:txBody>
      </p:sp>
    </p:spTree>
    <p:extLst>
      <p:ext uri="{BB962C8B-B14F-4D97-AF65-F5344CB8AC3E}">
        <p14:creationId xmlns:p14="http://schemas.microsoft.com/office/powerpoint/2010/main" val="13995991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0"/>
                                        </p:tgtEl>
                                        <p:attrNameLst>
                                          <p:attrName>style.visibility</p:attrName>
                                        </p:attrNameLst>
                                      </p:cBhvr>
                                      <p:to>
                                        <p:strVal val="visible"/>
                                      </p:to>
                                    </p:set>
                                    <p:animEffect transition="in" filter="wipe(left)">
                                      <p:cBhvr>
                                        <p:cTn id="7" dur="50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animBg="1"/>
    </p:bldLst>
  </p:timing>
</p:sld>
</file>

<file path=ppt/slides/slide2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91" name="图片"/>
          <p:cNvPicPr>
            <a:picLocks noChangeAspect="1"/>
          </p:cNvPicPr>
          <p:nvPr/>
        </p:nvPicPr>
        <p:blipFill>
          <a:blip r:embed="rId1" cstate="print"/>
          <a:stretch>
            <a:fillRect/>
          </a:stretch>
        </p:blipFill>
        <p:spPr>
          <a:xfrm rot="0">
            <a:off x="3348037" y="1722437"/>
            <a:ext cx="5545137" cy="5033962"/>
          </a:xfrm>
          <a:prstGeom prst="rect"/>
          <a:noFill/>
          <a:ln w="9525" cmpd="sng" cap="flat">
            <a:noFill/>
            <a:prstDash val="solid"/>
            <a:miter/>
          </a:ln>
        </p:spPr>
      </p:pic>
      <p:sp>
        <p:nvSpPr>
          <p:cNvPr id="192"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维护工单单据性质</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193" name="矩形"/>
          <p:cNvSpPr>
            <a:spLocks/>
          </p:cNvSpPr>
          <p:nvPr/>
        </p:nvSpPr>
        <p:spPr>
          <a:xfrm rot="0">
            <a:off x="468312" y="1270000"/>
            <a:ext cx="6840538"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：维护执行工艺管理的工单单据类型</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194" name="矩形"/>
          <p:cNvSpPr>
            <a:spLocks/>
          </p:cNvSpPr>
          <p:nvPr/>
        </p:nvSpPr>
        <p:spPr>
          <a:xfrm rot="0">
            <a:off x="71437" y="1770062"/>
            <a:ext cx="3405187" cy="1631950"/>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工艺管理的工单可选择是否“自动投产”，即工单审核后自动执行工单投产功能</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p:txBody>
      </p:sp>
      <p:sp>
        <p:nvSpPr>
          <p:cNvPr id="195" name="圆角矩形标注"/>
          <p:cNvSpPr>
            <a:spLocks/>
          </p:cNvSpPr>
          <p:nvPr/>
        </p:nvSpPr>
        <p:spPr>
          <a:xfrm rot="0">
            <a:off x="4932363" y="5013325"/>
            <a:ext cx="1600200" cy="461962"/>
          </a:xfrm>
          <a:prstGeom prst="wedgeRoundRectCallout">
            <a:avLst>
              <a:gd name="adj1" fmla="val -35356"/>
              <a:gd name="adj2" fmla="val 107430"/>
              <a:gd name="adj3" fmla="val 16667"/>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400" b="1">
                <a:solidFill>
                  <a:srgbClr val="000000"/>
                </a:solidFill>
                <a:latin typeface="Calibri" pitchFamily="0" charset="0"/>
                <a:ea typeface="PMingLiU" pitchFamily="18" charset="-120"/>
                <a:cs typeface="新細明體" pitchFamily="18" charset="-120"/>
              </a:rPr>
              <a:t>工单审核后自动执行投产操作</a:t>
            </a:r>
            <a:endParaRPr lang="zh-CN" altLang="en-US" sz="1400" b="1">
              <a:solidFill>
                <a:srgbClr val="000000"/>
              </a:solidFill>
              <a:latin typeface="Calibri" pitchFamily="0" charset="0"/>
              <a:ea typeface="PMingLiU" pitchFamily="18" charset="-120"/>
              <a:cs typeface="新細明體" pitchFamily="18" charset="-120"/>
            </a:endParaRPr>
          </a:p>
        </p:txBody>
      </p:sp>
    </p:spTree>
    <p:extLst>
      <p:ext uri="{BB962C8B-B14F-4D97-AF65-F5344CB8AC3E}">
        <p14:creationId xmlns:p14="http://schemas.microsoft.com/office/powerpoint/2010/main" val="17902691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
                                        </p:tgtEl>
                                        <p:attrNameLst>
                                          <p:attrName>style.visibility</p:attrName>
                                        </p:attrNameLst>
                                      </p:cBhvr>
                                      <p:to>
                                        <p:strVal val="visible"/>
                                      </p:to>
                                    </p:set>
                                    <p:animEffect transition="in" filter="wipe(left)">
                                      <p:cBhvr>
                                        <p:cTn id="7" dur="5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animBg="1"/>
    </p:bldLst>
  </p:timing>
</p:sld>
</file>

<file path=ppt/slides/slide2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96"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维护工艺单据性质</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197" name="矩形"/>
          <p:cNvSpPr>
            <a:spLocks/>
          </p:cNvSpPr>
          <p:nvPr/>
        </p:nvSpPr>
        <p:spPr>
          <a:xfrm rot="0">
            <a:off x="468312" y="1270000"/>
            <a:ext cx="6840538"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：维护工艺单据类型</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198" name="矩形"/>
          <p:cNvSpPr>
            <a:spLocks/>
          </p:cNvSpPr>
          <p:nvPr/>
        </p:nvSpPr>
        <p:spPr>
          <a:xfrm rot="0">
            <a:off x="71437" y="1770062"/>
            <a:ext cx="3259137" cy="5016500"/>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建立工艺系统中的单据类型：转移、入库、派工</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可通过“按序转移”设定转移单是否必须按照工艺路线进行转移</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通过设定“委外时产生采购单”、“采购单据类型”和“采购退货单据类型”决定转移单是否自动产生委外采购订单或采购退货单</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设定“生产入库单据类型”用于工艺入库时自动产生生产入库单</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p:txBody>
      </p:sp>
      <p:pic>
        <p:nvPicPr>
          <p:cNvPr id="199" name="图片"/>
          <p:cNvPicPr>
            <a:picLocks noChangeAspect="1"/>
          </p:cNvPicPr>
          <p:nvPr/>
        </p:nvPicPr>
        <p:blipFill>
          <a:blip r:embed="rId1" cstate="print"/>
          <a:stretch>
            <a:fillRect/>
          </a:stretch>
        </p:blipFill>
        <p:spPr>
          <a:xfrm rot="0">
            <a:off x="3203575" y="1722437"/>
            <a:ext cx="5622924" cy="4946650"/>
          </a:xfrm>
          <a:prstGeom prst="rect"/>
          <a:noFill/>
          <a:ln w="9525" cmpd="sng" cap="flat">
            <a:noFill/>
            <a:prstDash val="solid"/>
            <a:miter/>
          </a:ln>
        </p:spPr>
      </p:pic>
    </p:spTree>
    <p:extLst>
      <p:ext uri="{BB962C8B-B14F-4D97-AF65-F5344CB8AC3E}">
        <p14:creationId xmlns:p14="http://schemas.microsoft.com/office/powerpoint/2010/main" val="278469633"/>
      </p:ext>
    </p:extLst>
  </p:cSld>
  <p:clrMapOvr>
    <a:masterClrMapping/>
  </p:clrMapOvr>
  <p:transition/>
</p:sld>
</file>

<file path=ppt/slides/slide2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00"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维护存货单据性质</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201" name="矩形"/>
          <p:cNvSpPr>
            <a:spLocks/>
          </p:cNvSpPr>
          <p:nvPr/>
        </p:nvSpPr>
        <p:spPr>
          <a:xfrm rot="0">
            <a:off x="468312" y="1270000"/>
            <a:ext cx="6840538"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：工艺委外时，对委外入库单据的相关设定</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02" name="矩形"/>
          <p:cNvSpPr>
            <a:spLocks/>
          </p:cNvSpPr>
          <p:nvPr/>
        </p:nvSpPr>
        <p:spPr>
          <a:xfrm rot="0">
            <a:off x="71437" y="1770062"/>
            <a:ext cx="3259137" cy="347821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设定采购入库单是否自动产生工艺转移</a:t>
            </a:r>
            <a:r>
              <a:rPr lang="zh-CN" altLang="en-US" sz="2000">
                <a:solidFill>
                  <a:srgbClr val="0D0D0D"/>
                </a:solidFill>
                <a:latin typeface="宋体" pitchFamily="2" charset="-122"/>
                <a:ea typeface="宋体" pitchFamily="2" charset="-122"/>
                <a:cs typeface="新細明體" pitchFamily="18" charset="-120"/>
              </a:rPr>
              <a:t>/</a:t>
            </a:r>
            <a:r>
              <a:rPr lang="zh-CN" altLang="en-US" sz="2000">
                <a:solidFill>
                  <a:srgbClr val="0D0D0D"/>
                </a:solidFill>
                <a:latin typeface="宋体" pitchFamily="2" charset="-122"/>
                <a:ea typeface="宋体" pitchFamily="2" charset="-122"/>
                <a:cs typeface="新細明體" pitchFamily="18" charset="-120"/>
              </a:rPr>
              <a:t>入库单据。</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工艺委外时，可在采购入库后自动产生工艺转移单，如委外工艺为末道工序则自动产生工艺入库单，缩短工艺委外流程，减少录单工作量。</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p:txBody>
      </p:sp>
      <p:pic>
        <p:nvPicPr>
          <p:cNvPr id="203" name="图片"/>
          <p:cNvPicPr>
            <a:picLocks noChangeAspect="1"/>
          </p:cNvPicPr>
          <p:nvPr/>
        </p:nvPicPr>
        <p:blipFill>
          <a:blip r:embed="rId1" cstate="print"/>
          <a:stretch>
            <a:fillRect/>
          </a:stretch>
        </p:blipFill>
        <p:spPr>
          <a:xfrm rot="0">
            <a:off x="3330575" y="1670050"/>
            <a:ext cx="5543550" cy="4854575"/>
          </a:xfrm>
          <a:prstGeom prst="rect"/>
          <a:noFill/>
          <a:ln w="9525" cmpd="sng" cap="flat">
            <a:noFill/>
            <a:prstDash val="solid"/>
            <a:miter/>
          </a:ln>
        </p:spPr>
      </p:pic>
    </p:spTree>
    <p:extLst>
      <p:ext uri="{BB962C8B-B14F-4D97-AF65-F5344CB8AC3E}">
        <p14:creationId xmlns:p14="http://schemas.microsoft.com/office/powerpoint/2010/main" val="897102322"/>
      </p:ext>
    </p:extLst>
  </p:cSld>
  <p:clrMapOvr>
    <a:masterClrMapping/>
  </p:clrMapOvr>
  <p:transition/>
</p:sld>
</file>

<file path=ppt/slides/slide2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04"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维护工艺信息</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205" name="矩形"/>
          <p:cNvSpPr>
            <a:spLocks/>
          </p:cNvSpPr>
          <p:nvPr/>
        </p:nvSpPr>
        <p:spPr>
          <a:xfrm rot="0">
            <a:off x="468312" y="1270000"/>
            <a:ext cx="7681913"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：建立工艺的基本信息，将其纳入系统管理。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06" name="矩形"/>
          <p:cNvSpPr>
            <a:spLocks/>
          </p:cNvSpPr>
          <p:nvPr/>
        </p:nvSpPr>
        <p:spPr>
          <a:xfrm rot="0">
            <a:off x="71437" y="1770062"/>
            <a:ext cx="3040062" cy="224631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建立各工厂的工艺基本信息</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根据工艺实际状况对其关键属性进行设定</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p:txBody>
      </p:sp>
      <p:pic>
        <p:nvPicPr>
          <p:cNvPr id="207" name="图片"/>
          <p:cNvPicPr>
            <a:picLocks noChangeAspect="1"/>
          </p:cNvPicPr>
          <p:nvPr/>
        </p:nvPicPr>
        <p:blipFill>
          <a:blip r:embed="rId1" cstate="print"/>
          <a:stretch>
            <a:fillRect/>
          </a:stretch>
        </p:blipFill>
        <p:spPr>
          <a:xfrm rot="0">
            <a:off x="3132137" y="1670050"/>
            <a:ext cx="5256213" cy="5116513"/>
          </a:xfrm>
          <a:prstGeom prst="rect"/>
          <a:noFill/>
          <a:ln w="9525" cmpd="sng" cap="flat">
            <a:noFill/>
            <a:prstDash val="solid"/>
            <a:miter/>
          </a:ln>
        </p:spPr>
      </p:pic>
    </p:spTree>
    <p:extLst>
      <p:ext uri="{BB962C8B-B14F-4D97-AF65-F5344CB8AC3E}">
        <p14:creationId xmlns:p14="http://schemas.microsoft.com/office/powerpoint/2010/main" val="880808350"/>
      </p:ext>
    </p:extLst>
  </p:cSld>
  <p:clrMapOvr>
    <a:masterClrMapping/>
  </p:clrMapOvr>
  <p:transition/>
</p:sld>
</file>

<file path=ppt/slides/slide2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08" name="圆角矩形"/>
          <p:cNvSpPr>
            <a:spLocks/>
          </p:cNvSpPr>
          <p:nvPr/>
        </p:nvSpPr>
        <p:spPr>
          <a:xfrm rot="0">
            <a:off x="900112" y="1341437"/>
            <a:ext cx="7343775" cy="4862512"/>
          </a:xfrm>
          <a:prstGeom prst="roundRect">
            <a:avLst>
              <a:gd name="adj" fmla="val 16666"/>
            </a:avLst>
          </a:prstGeom>
          <a:solidFill>
            <a:srgbClr val="DAE5F2"/>
          </a:solidFill>
          <a:ln w="25400" cmpd="sng" cap="flat">
            <a:solidFill>
              <a:srgbClr val="4F81BD"/>
            </a:solidFill>
            <a:prstDash val="dash"/>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重点栏位说明</a:t>
            </a:r>
            <a:endParaRPr lang="zh-CN" altLang="en-US" sz="1800" b="1">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性质</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此工艺的加工性质，厂内、委外及二者皆有。</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加工前</a:t>
            </a: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后单位</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工艺加工前后产品物理形态发生变化，设定对应的实物单位，</a:t>
            </a:r>
            <a:r>
              <a:rPr lang="zh-CN" altLang="en-US" sz="1800">
                <a:solidFill>
                  <a:srgbClr val="0D0D0D"/>
                </a:solidFill>
                <a:latin typeface="宋体" pitchFamily="2" charset="-122"/>
                <a:ea typeface="PMingLiU" pitchFamily="18" charset="-120"/>
                <a:cs typeface="新細明體" pitchFamily="18" charset="-120"/>
              </a:rPr>
              <a:t>让帐务数量与现场实物数量统一。</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超入率</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工序级的超入率。</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工作中心约束</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工艺派工时，可指定的工作中心事先在单身设定定限制，便于现场用户快速准确的派工。</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质检模式</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工艺的质检模式：免检、执行质检流程、仅记录质检结果。</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自动判定</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当检验全为合格时，检验结果自动更新允收量。</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主要</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单身必须要有一笔主要工作中心。</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2000" b="1">
                <a:solidFill>
                  <a:srgbClr val="006600"/>
                </a:solidFill>
                <a:latin typeface="宋体" pitchFamily="2" charset="-122"/>
                <a:ea typeface="宋体" pitchFamily="2" charset="-122"/>
                <a:cs typeface="新細明體" pitchFamily="18" charset="-120"/>
              </a:rPr>
              <a:t>     </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ct val="50000"/>
              </a:spcBef>
              <a:spcAft>
                <a:spcPts val="0"/>
              </a:spcAft>
              <a:buNone/>
            </a:pPr>
            <a:r>
              <a:rPr lang="zh-CN" altLang="en-US" sz="1800" b="1">
                <a:solidFill>
                  <a:schemeClr val="tx1"/>
                </a:solidFill>
                <a:latin typeface="宋体" pitchFamily="2" charset="-122"/>
                <a:ea typeface="宋体" pitchFamily="2" charset="-122"/>
                <a:cs typeface="新細明體" pitchFamily="18" charset="-120"/>
              </a:rPr>
              <a:t> </a:t>
            </a:r>
            <a:endParaRPr lang="zh-CN" altLang="en-US" sz="2000" b="1">
              <a:solidFill>
                <a:srgbClr val="006600"/>
              </a:solidFill>
              <a:latin typeface="宋体" pitchFamily="2" charset="-122"/>
              <a:ea typeface="宋体" pitchFamily="2" charset="-122"/>
              <a:cs typeface="新細明體" pitchFamily="18" charset="-120"/>
            </a:endParaRPr>
          </a:p>
        </p:txBody>
      </p:sp>
      <p:sp>
        <p:nvSpPr>
          <p:cNvPr id="209"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维护工艺信息</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Tree>
    <p:extLst>
      <p:ext uri="{BB962C8B-B14F-4D97-AF65-F5344CB8AC3E}">
        <p14:creationId xmlns:p14="http://schemas.microsoft.com/office/powerpoint/2010/main" val="1873595665"/>
      </p:ext>
    </p:extLst>
  </p:cSld>
  <p:clrMapOvr>
    <a:masterClrMapping/>
  </p:clrMapOvr>
  <p:transition/>
</p:sld>
</file>

<file path=ppt/slides/slide2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10"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维护子工艺信息</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211" name="矩形"/>
          <p:cNvSpPr>
            <a:spLocks/>
          </p:cNvSpPr>
          <p:nvPr/>
        </p:nvSpPr>
        <p:spPr>
          <a:xfrm rot="0">
            <a:off x="468312" y="1270000"/>
            <a:ext cx="826611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：维护子工艺信息。</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12" name="矩形"/>
          <p:cNvSpPr>
            <a:spLocks/>
          </p:cNvSpPr>
          <p:nvPr/>
        </p:nvSpPr>
        <p:spPr>
          <a:xfrm rot="0">
            <a:off x="0" y="1822450"/>
            <a:ext cx="3221037" cy="1631950"/>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微软雅黑" pitchFamily="34" charset="-122"/>
                <a:ea typeface="微软雅黑" pitchFamily="34" charset="-122"/>
                <a:cs typeface="新細明體" pitchFamily="18" charset="-120"/>
              </a:rPr>
              <a:t>对于非关键、无需转移的工艺，单独维护子工艺信息，用于生产报工、绩效统计。</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p:txBody>
      </p:sp>
      <p:pic>
        <p:nvPicPr>
          <p:cNvPr id="213" name="图片"/>
          <p:cNvPicPr>
            <a:picLocks noChangeAspect="1"/>
          </p:cNvPicPr>
          <p:nvPr/>
        </p:nvPicPr>
        <p:blipFill>
          <a:blip r:embed="rId1" cstate="print"/>
          <a:stretch>
            <a:fillRect/>
          </a:stretch>
        </p:blipFill>
        <p:spPr>
          <a:xfrm rot="0">
            <a:off x="3314700" y="1822450"/>
            <a:ext cx="5419725" cy="3314700"/>
          </a:xfrm>
          <a:prstGeom prst="rect"/>
          <a:noFill/>
          <a:ln w="9525" cmpd="sng" cap="flat">
            <a:noFill/>
            <a:prstDash val="solid"/>
            <a:miter/>
          </a:ln>
        </p:spPr>
      </p:pic>
    </p:spTree>
    <p:extLst>
      <p:ext uri="{BB962C8B-B14F-4D97-AF65-F5344CB8AC3E}">
        <p14:creationId xmlns:p14="http://schemas.microsoft.com/office/powerpoint/2010/main" val="1090073106"/>
      </p:ext>
    </p:extLst>
  </p:cSld>
  <p:clrMapOvr>
    <a:masterClrMapping/>
  </p:clrMapOvr>
  <p:transition/>
</p:sld>
</file>

<file path=ppt/slides/slide2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14" name="图片"/>
          <p:cNvPicPr>
            <a:picLocks noChangeAspect="1"/>
          </p:cNvPicPr>
          <p:nvPr/>
        </p:nvPicPr>
        <p:blipFill>
          <a:blip r:embed="rId1" cstate="print"/>
          <a:stretch>
            <a:fillRect/>
          </a:stretch>
        </p:blipFill>
        <p:spPr>
          <a:xfrm rot="0">
            <a:off x="2987675" y="1841500"/>
            <a:ext cx="6008687" cy="4351337"/>
          </a:xfrm>
          <a:prstGeom prst="rect"/>
          <a:noFill/>
          <a:ln w="9525" cmpd="sng" cap="flat">
            <a:noFill/>
            <a:prstDash val="solid"/>
            <a:miter/>
          </a:ln>
        </p:spPr>
      </p:pic>
      <p:sp>
        <p:nvSpPr>
          <p:cNvPr id="215"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维护品号工厂信息</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216" name="矩形"/>
          <p:cNvSpPr>
            <a:spLocks/>
          </p:cNvSpPr>
          <p:nvPr/>
        </p:nvSpPr>
        <p:spPr>
          <a:xfrm rot="0">
            <a:off x="468312" y="1270000"/>
            <a:ext cx="826611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：设定品号的标准工艺路线。</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17" name="圆角矩形标注"/>
          <p:cNvSpPr>
            <a:spLocks/>
          </p:cNvSpPr>
          <p:nvPr/>
        </p:nvSpPr>
        <p:spPr>
          <a:xfrm rot="0">
            <a:off x="5580063" y="2997200"/>
            <a:ext cx="2268537" cy="365125"/>
          </a:xfrm>
          <a:prstGeom prst="wedgeRoundRectCallout">
            <a:avLst>
              <a:gd name="adj1" fmla="val 39745"/>
              <a:gd name="adj2" fmla="val 84004"/>
              <a:gd name="adj3" fmla="val 16667"/>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400" b="1">
                <a:solidFill>
                  <a:srgbClr val="000000"/>
                </a:solidFill>
                <a:latin typeface="Calibri" pitchFamily="0" charset="0"/>
                <a:ea typeface="PMingLiU" pitchFamily="18" charset="-120"/>
                <a:cs typeface="新細明體" pitchFamily="18" charset="-120"/>
              </a:rPr>
              <a:t>按品号设定标准工艺路线</a:t>
            </a:r>
            <a:endParaRPr lang="zh-CN" altLang="en-US" sz="1400" b="1">
              <a:solidFill>
                <a:srgbClr val="000000"/>
              </a:solidFill>
              <a:latin typeface="Calibri" pitchFamily="0" charset="0"/>
              <a:ea typeface="PMingLiU" pitchFamily="18" charset="-120"/>
              <a:cs typeface="新細明體" pitchFamily="18" charset="-120"/>
            </a:endParaRPr>
          </a:p>
        </p:txBody>
      </p:sp>
      <p:sp>
        <p:nvSpPr>
          <p:cNvPr id="218" name="矩形"/>
          <p:cNvSpPr>
            <a:spLocks/>
          </p:cNvSpPr>
          <p:nvPr/>
        </p:nvSpPr>
        <p:spPr>
          <a:xfrm rot="0">
            <a:off x="71437" y="1770062"/>
            <a:ext cx="3040062" cy="378618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品号可设定其他品号的工艺路线为其标准工艺路线</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设定标准工艺路线可到品号级或特征码级</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建品号时，可以先预留工艺管理的类型，不填具体的路线编号，待后续更新</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p:txBody>
      </p:sp>
      <p:sp>
        <p:nvSpPr>
          <p:cNvPr id="219" name="圆角矩形标注"/>
          <p:cNvSpPr>
            <a:spLocks/>
          </p:cNvSpPr>
          <p:nvPr/>
        </p:nvSpPr>
        <p:spPr>
          <a:xfrm rot="0">
            <a:off x="5343525" y="4797425"/>
            <a:ext cx="2505075" cy="412750"/>
          </a:xfrm>
          <a:prstGeom prst="wedgeRoundRectCallout">
            <a:avLst>
              <a:gd name="adj1" fmla="val -46134"/>
              <a:gd name="adj2" fmla="val 100162"/>
              <a:gd name="adj3" fmla="val 16667"/>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400" b="1">
                <a:solidFill>
                  <a:srgbClr val="000000"/>
                </a:solidFill>
                <a:latin typeface="Calibri" pitchFamily="0" charset="0"/>
                <a:ea typeface="PMingLiU" pitchFamily="18" charset="-120"/>
                <a:cs typeface="新細明體" pitchFamily="18" charset="-120"/>
              </a:rPr>
              <a:t>按特征码设定标准工艺路线</a:t>
            </a:r>
            <a:endParaRPr lang="zh-CN" altLang="en-US" sz="1400" b="1">
              <a:solidFill>
                <a:srgbClr val="000000"/>
              </a:solidFill>
              <a:latin typeface="Calibri" pitchFamily="0" charset="0"/>
              <a:ea typeface="PMingLiU" pitchFamily="18" charset="-120"/>
              <a:cs typeface="新細明體" pitchFamily="18" charset="-120"/>
            </a:endParaRPr>
          </a:p>
        </p:txBody>
      </p:sp>
    </p:spTree>
    <p:extLst>
      <p:ext uri="{BB962C8B-B14F-4D97-AF65-F5344CB8AC3E}">
        <p14:creationId xmlns:p14="http://schemas.microsoft.com/office/powerpoint/2010/main" val="1032140031"/>
      </p:ext>
    </p:extLst>
  </p:cSld>
  <p:clrMapOvr>
    <a:masterClrMapping/>
  </p:clrMapOvr>
  <p:transition/>
</p:sld>
</file>

<file path=ppt/slides/slide2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20"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维护产品工艺路线</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221" name="矩形"/>
          <p:cNvSpPr>
            <a:spLocks/>
          </p:cNvSpPr>
          <p:nvPr/>
        </p:nvSpPr>
        <p:spPr>
          <a:xfrm rot="0">
            <a:off x="468312" y="1270000"/>
            <a:ext cx="6840538"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：建立各品号的产品工艺路线信息</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22" name="矩形"/>
          <p:cNvSpPr>
            <a:spLocks/>
          </p:cNvSpPr>
          <p:nvPr/>
        </p:nvSpPr>
        <p:spPr>
          <a:xfrm rot="0">
            <a:off x="71437" y="1770062"/>
            <a:ext cx="3222625" cy="4708525"/>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特征码为空时表示此品号下的各特征码使用相同的产品工艺路线</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图形界面可以以图形形式展示工艺路线</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当使用加工单位时，需设定加工前后单位的转换率</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工作中心约束默认自工艺信息，可修改</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在子工艺中维护当前工艺中的子工艺</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可通过按钮“设定标准工艺路线”更新品号工厂信息的标准工艺路线</a:t>
            </a:r>
            <a:endParaRPr lang="zh-CN" altLang="en-US" sz="2000">
              <a:solidFill>
                <a:srgbClr val="0D0D0D"/>
              </a:solidFill>
              <a:latin typeface="宋体" pitchFamily="2" charset="-122"/>
              <a:ea typeface="宋体" pitchFamily="2" charset="-122"/>
              <a:cs typeface="新細明體" pitchFamily="18" charset="-120"/>
            </a:endParaRPr>
          </a:p>
        </p:txBody>
      </p:sp>
      <p:pic>
        <p:nvPicPr>
          <p:cNvPr id="223" name="图片"/>
          <p:cNvPicPr>
            <a:picLocks noChangeAspect="1"/>
          </p:cNvPicPr>
          <p:nvPr/>
        </p:nvPicPr>
        <p:blipFill>
          <a:blip r:embed="rId1" cstate="print"/>
          <a:stretch>
            <a:fillRect/>
          </a:stretch>
        </p:blipFill>
        <p:spPr>
          <a:xfrm rot="0">
            <a:off x="3240087" y="1770062"/>
            <a:ext cx="5795962" cy="4973637"/>
          </a:xfrm>
          <a:prstGeom prst="rect"/>
          <a:noFill/>
          <a:ln w="9525" cmpd="sng" cap="flat">
            <a:noFill/>
            <a:prstDash val="solid"/>
            <a:miter/>
          </a:ln>
        </p:spPr>
      </p:pic>
    </p:spTree>
    <p:extLst>
      <p:ext uri="{BB962C8B-B14F-4D97-AF65-F5344CB8AC3E}">
        <p14:creationId xmlns:p14="http://schemas.microsoft.com/office/powerpoint/2010/main" val="1701899173"/>
      </p:ext>
    </p:extLst>
  </p:cSld>
  <p:clrMapOvr>
    <a:masterClrMapping/>
  </p:clrMapOvr>
  <p:transition/>
</p:sld>
</file>

<file path=ppt/slides/slide2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24"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维护产品工艺路线</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225" name="矩形"/>
          <p:cNvSpPr>
            <a:spLocks/>
          </p:cNvSpPr>
          <p:nvPr/>
        </p:nvSpPr>
        <p:spPr>
          <a:xfrm rot="0">
            <a:off x="468312" y="1270000"/>
            <a:ext cx="6840538"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：建立各品号的产品工艺路线信息</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26" name="矩形"/>
          <p:cNvSpPr>
            <a:spLocks/>
          </p:cNvSpPr>
          <p:nvPr/>
        </p:nvSpPr>
        <p:spPr>
          <a:xfrm rot="0">
            <a:off x="71437" y="1770062"/>
            <a:ext cx="3222625" cy="347821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可通过按钮“更新工单工艺”更新该产品工艺路线生成的未生产的工单工艺</a:t>
            </a:r>
            <a:endParaRPr lang="zh-CN" altLang="en-US" sz="2000">
              <a:solidFill>
                <a:srgbClr val="0D0D0D"/>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可通过按钮“更新价格信息”更新该产品工艺路线生成的所有工单工艺及生产信息收集单的价格信息</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p:txBody>
      </p:sp>
      <p:pic>
        <p:nvPicPr>
          <p:cNvPr id="227" name="图片"/>
          <p:cNvPicPr>
            <a:picLocks noChangeAspect="1"/>
          </p:cNvPicPr>
          <p:nvPr/>
        </p:nvPicPr>
        <p:blipFill>
          <a:blip r:embed="rId1" cstate="print"/>
          <a:stretch>
            <a:fillRect/>
          </a:stretch>
        </p:blipFill>
        <p:spPr>
          <a:xfrm rot="0">
            <a:off x="3132137" y="1776412"/>
            <a:ext cx="5791200" cy="4968875"/>
          </a:xfrm>
          <a:prstGeom prst="rect"/>
          <a:noFill/>
          <a:ln w="9525" cmpd="sng" cap="flat">
            <a:noFill/>
            <a:prstDash val="solid"/>
            <a:miter/>
          </a:ln>
        </p:spPr>
      </p:pic>
    </p:spTree>
    <p:extLst>
      <p:ext uri="{BB962C8B-B14F-4D97-AF65-F5344CB8AC3E}">
        <p14:creationId xmlns:p14="http://schemas.microsoft.com/office/powerpoint/2010/main" val="119260811"/>
      </p:ext>
    </p:extLst>
  </p:cSld>
  <p:clrMapOvr>
    <a:masterClrMapping/>
  </p:clrMapOvr>
  <p:transition/>
</p:sld>
</file>

<file path=ppt/slides/slide3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28" name="圆角矩形"/>
          <p:cNvSpPr>
            <a:spLocks/>
          </p:cNvSpPr>
          <p:nvPr/>
        </p:nvSpPr>
        <p:spPr>
          <a:xfrm rot="0">
            <a:off x="665162" y="1341437"/>
            <a:ext cx="7923212" cy="5300663"/>
          </a:xfrm>
          <a:prstGeom prst="roundRect">
            <a:avLst>
              <a:gd name="adj" fmla="val 16666"/>
            </a:avLst>
          </a:prstGeom>
          <a:solidFill>
            <a:srgbClr val="DAE5F2"/>
          </a:solidFill>
          <a:ln w="25400" cmpd="sng" cap="flat">
            <a:solidFill>
              <a:srgbClr val="4F81BD"/>
            </a:solidFill>
            <a:prstDash val="dash"/>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重点栏位说明</a:t>
            </a:r>
            <a:endParaRPr lang="zh-CN" altLang="en-US" sz="1800" b="1">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线性工艺</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工厂参数中“仅支持线性工艺”为</a:t>
            </a:r>
            <a:r>
              <a:rPr lang="zh-CN" altLang="en-US" sz="1800">
                <a:solidFill>
                  <a:schemeClr val="tx1"/>
                </a:solidFill>
                <a:latin typeface="宋体" pitchFamily="2" charset="-122"/>
                <a:ea typeface="PMingLiU" pitchFamily="18" charset="-120"/>
                <a:cs typeface="新細明體" pitchFamily="18" charset="-120"/>
              </a:rPr>
              <a:t>N</a:t>
            </a:r>
            <a:r>
              <a:rPr lang="zh-CN" altLang="en-US" sz="1800">
                <a:solidFill>
                  <a:schemeClr val="tx1"/>
                </a:solidFill>
                <a:latin typeface="宋体" pitchFamily="2" charset="-122"/>
                <a:ea typeface="PMingLiU" pitchFamily="18" charset="-120"/>
                <a:cs typeface="新細明體" pitchFamily="18" charset="-120"/>
              </a:rPr>
              <a:t>时，才显示此栏位。勾选时表示当前工艺路线为线性，不可包含拆分、合并、拆并类型的工艺</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控制工序超入</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可设定超入是控制到工序等级还是工单等级</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重设工作中心约束</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勾选表示当前工艺的工作中心约束可与工艺基本信息中设定不同</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拆并方式</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线性、拆分、合并、合并，用于建立多样式的工艺路线</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转换率</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加工前后单位的数量比率，即每产出一加工后单位需要多少加工前单位数量</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底数</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作为转换率的分母，便于直观表达转换率数值</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超入率</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控制工序超入时，每道工序的超入率数值</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后工序</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记录当前工序的下一道工序为何。网状工艺路线时，手工选择，可多笔；线性工艺路线时，无需选择，系统自动按工序号默认</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加工前</a:t>
            </a: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后单位</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拆分、拆并工序的加工后单位在单身默认为空，通过子单身的加工后单位设定；合并、拆并工序的加工前单位在单身默认为空，通过前置工序的加工后单位设定</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组成用量</a:t>
            </a:r>
            <a:r>
              <a:rPr lang="zh-CN" altLang="en-US" sz="1800">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当后工序为合并、拆并工序时，可根据实际组成情况设定组成用量</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2000" b="1">
                <a:solidFill>
                  <a:srgbClr val="006600"/>
                </a:solidFill>
                <a:latin typeface="宋体" pitchFamily="2" charset="-122"/>
                <a:ea typeface="宋体" pitchFamily="2" charset="-122"/>
                <a:cs typeface="新細明體" pitchFamily="18" charset="-120"/>
              </a:rPr>
              <a:t>     </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ct val="50000"/>
              </a:spcBef>
              <a:spcAft>
                <a:spcPts val="0"/>
              </a:spcAft>
              <a:buNone/>
            </a:pPr>
            <a:r>
              <a:rPr lang="zh-CN" altLang="en-US" sz="1800" b="1">
                <a:solidFill>
                  <a:schemeClr val="tx1"/>
                </a:solidFill>
                <a:latin typeface="宋体" pitchFamily="2" charset="-122"/>
                <a:ea typeface="宋体" pitchFamily="2" charset="-122"/>
                <a:cs typeface="新細明體" pitchFamily="18" charset="-120"/>
              </a:rPr>
              <a:t> </a:t>
            </a:r>
            <a:endParaRPr lang="zh-CN" altLang="en-US" sz="2000" b="1">
              <a:solidFill>
                <a:srgbClr val="006600"/>
              </a:solidFill>
              <a:latin typeface="宋体" pitchFamily="2" charset="-122"/>
              <a:ea typeface="宋体" pitchFamily="2" charset="-122"/>
              <a:cs typeface="新細明體" pitchFamily="18" charset="-120"/>
            </a:endParaRPr>
          </a:p>
        </p:txBody>
      </p:sp>
      <p:sp>
        <p:nvSpPr>
          <p:cNvPr id="229"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基础</a:t>
            </a:r>
            <a:r>
              <a:rPr lang="zh-CN" altLang="en-US" sz="3600" b="1">
                <a:solidFill>
                  <a:schemeClr val="tx1"/>
                </a:solidFill>
                <a:latin typeface="黑体" pitchFamily="2" charset="-122"/>
                <a:ea typeface="黑体" pitchFamily="2" charset="-122"/>
                <a:cs typeface="新細明體" pitchFamily="18" charset="-120"/>
              </a:rPr>
              <a:t>资料准备－</a:t>
            </a:r>
            <a:r>
              <a:rPr lang="zh-CN" altLang="en-US" sz="3600" b="1">
                <a:solidFill>
                  <a:schemeClr val="tx1"/>
                </a:solidFill>
                <a:latin typeface="黑体" pitchFamily="2" charset="-122"/>
                <a:ea typeface="黑体" pitchFamily="2" charset="-122"/>
                <a:cs typeface="新細明體" pitchFamily="18" charset="-120"/>
              </a:rPr>
              <a:t>维护产品工艺路线</a:t>
            </a:r>
            <a:endParaRPr lang="zh-CN" altLang="en-US" sz="3600" b="1">
              <a:solidFill>
                <a:schemeClr val="tx1"/>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1646404581"/>
      </p:ext>
    </p:extLst>
  </p:cSld>
  <p:clrMapOvr>
    <a:masterClrMapping/>
  </p:clrMapOvr>
  <p:transition/>
</p:sld>
</file>

<file path=ppt/slides/slide3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30"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维护生产信息项目</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231" name="矩形"/>
          <p:cNvSpPr>
            <a:spLocks/>
          </p:cNvSpPr>
          <p:nvPr/>
        </p:nvSpPr>
        <p:spPr>
          <a:xfrm rot="0">
            <a:off x="468312" y="1270000"/>
            <a:ext cx="6840538"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：用户可自定义项目进行生产资料收集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32" name="矩形"/>
          <p:cNvSpPr>
            <a:spLocks/>
          </p:cNvSpPr>
          <p:nvPr/>
        </p:nvSpPr>
        <p:spPr>
          <a:xfrm rot="0">
            <a:off x="71437" y="1770062"/>
            <a:ext cx="3076575" cy="347821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自定义在生产过程中需采集的生产信息项目</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同时还可设定是否属于成本分配因子，用于维护制造费用分摊公式</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根据实际需求设定项目的数据类型以及取值方式</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p:txBody>
      </p:sp>
      <p:pic>
        <p:nvPicPr>
          <p:cNvPr id="233" name="图片"/>
          <p:cNvPicPr>
            <a:picLocks noChangeAspect="1"/>
          </p:cNvPicPr>
          <p:nvPr/>
        </p:nvPicPr>
        <p:blipFill>
          <a:blip r:embed="rId1" cstate="print"/>
          <a:stretch>
            <a:fillRect/>
          </a:stretch>
        </p:blipFill>
        <p:spPr>
          <a:xfrm rot="0">
            <a:off x="2916237" y="1770062"/>
            <a:ext cx="5989638" cy="4754562"/>
          </a:xfrm>
          <a:prstGeom prst="rect"/>
          <a:noFill/>
          <a:ln w="9525" cmpd="sng" cap="flat">
            <a:noFill/>
            <a:prstDash val="solid"/>
            <a:miter/>
          </a:ln>
        </p:spPr>
      </p:pic>
    </p:spTree>
    <p:extLst>
      <p:ext uri="{BB962C8B-B14F-4D97-AF65-F5344CB8AC3E}">
        <p14:creationId xmlns:p14="http://schemas.microsoft.com/office/powerpoint/2010/main" val="1432909682"/>
      </p:ext>
    </p:extLst>
  </p:cSld>
  <p:clrMapOvr>
    <a:masterClrMapping/>
  </p:clrMapOvr>
  <p:transition/>
</p:sld>
</file>

<file path=ppt/slides/slide3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34"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基础资料准备</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维护生产信息模板</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235" name="矩形"/>
          <p:cNvSpPr>
            <a:spLocks/>
          </p:cNvSpPr>
          <p:nvPr/>
        </p:nvSpPr>
        <p:spPr>
          <a:xfrm rot="0">
            <a:off x="468312" y="1270000"/>
            <a:ext cx="8266112" cy="708024"/>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：提供收集模版，将需要收集的生产信息项目、收集的时机等信息进行汇总，并指给工作中心，用于生产过程的生产信息收集来源</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36" name="矩形"/>
          <p:cNvSpPr>
            <a:spLocks/>
          </p:cNvSpPr>
          <p:nvPr/>
        </p:nvSpPr>
        <p:spPr>
          <a:xfrm rot="0">
            <a:off x="0" y="2005012"/>
            <a:ext cx="3076575" cy="19383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可指定收集的生产环节：投产、</a:t>
            </a:r>
            <a:r>
              <a:rPr lang="zh-CN" altLang="en-US" sz="2000">
                <a:solidFill>
                  <a:srgbClr val="0D0D0D"/>
                </a:solidFill>
                <a:latin typeface="宋体" pitchFamily="2" charset="-122"/>
                <a:ea typeface="宋体" pitchFamily="2" charset="-122"/>
                <a:cs typeface="新細明體" pitchFamily="18" charset="-120"/>
              </a:rPr>
              <a:t>转移</a:t>
            </a:r>
            <a:r>
              <a:rPr lang="zh-CN" altLang="en-US" sz="2000">
                <a:solidFill>
                  <a:srgbClr val="0D0D0D"/>
                </a:solidFill>
                <a:latin typeface="宋体" pitchFamily="2" charset="-122"/>
                <a:ea typeface="宋体" pitchFamily="2" charset="-122"/>
                <a:cs typeface="新細明體" pitchFamily="18" charset="-120"/>
              </a:rPr>
              <a:t>…</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None/>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维护完模板后可分配给工作中心，作为默认收集模板</a:t>
            </a:r>
            <a:endParaRPr lang="zh-CN" altLang="en-US" sz="2000">
              <a:solidFill>
                <a:srgbClr val="0D0D0D"/>
              </a:solidFill>
              <a:latin typeface="宋体" pitchFamily="2" charset="-122"/>
              <a:ea typeface="宋体" pitchFamily="2" charset="-122"/>
              <a:cs typeface="新細明體" pitchFamily="18" charset="-120"/>
            </a:endParaRPr>
          </a:p>
        </p:txBody>
      </p:sp>
      <p:pic>
        <p:nvPicPr>
          <p:cNvPr id="237" name="图片"/>
          <p:cNvPicPr>
            <a:picLocks noChangeAspect="1"/>
          </p:cNvPicPr>
          <p:nvPr/>
        </p:nvPicPr>
        <p:blipFill>
          <a:blip r:embed="rId1" cstate="print"/>
          <a:stretch>
            <a:fillRect/>
          </a:stretch>
        </p:blipFill>
        <p:spPr>
          <a:xfrm rot="0">
            <a:off x="2917825" y="1978025"/>
            <a:ext cx="5816600" cy="4692650"/>
          </a:xfrm>
          <a:prstGeom prst="rect"/>
          <a:noFill/>
          <a:ln w="9525" cmpd="sng" cap="flat">
            <a:noFill/>
            <a:prstDash val="solid"/>
            <a:miter/>
          </a:ln>
        </p:spPr>
      </p:pic>
    </p:spTree>
    <p:extLst>
      <p:ext uri="{BB962C8B-B14F-4D97-AF65-F5344CB8AC3E}">
        <p14:creationId xmlns:p14="http://schemas.microsoft.com/office/powerpoint/2010/main" val="1002273667"/>
      </p:ext>
    </p:extLst>
  </p:cSld>
  <p:clrMapOvr>
    <a:masterClrMapping/>
  </p:clrMapOvr>
  <p:transition/>
</p:sld>
</file>

<file path=ppt/slides/slide3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38" name="圆角矩形"/>
          <p:cNvSpPr>
            <a:spLocks/>
          </p:cNvSpPr>
          <p:nvPr/>
        </p:nvSpPr>
        <p:spPr>
          <a:xfrm rot="0">
            <a:off x="900112" y="1341437"/>
            <a:ext cx="7343775" cy="4059237"/>
          </a:xfrm>
          <a:prstGeom prst="roundRect">
            <a:avLst>
              <a:gd name="adj" fmla="val 16666"/>
            </a:avLst>
          </a:prstGeom>
          <a:solidFill>
            <a:srgbClr val="DAE5F2"/>
          </a:solidFill>
          <a:ln w="25400" cmpd="sng" cap="flat">
            <a:solidFill>
              <a:srgbClr val="4F81BD"/>
            </a:solidFill>
            <a:prstDash val="dash"/>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重点栏位说明</a:t>
            </a:r>
            <a:endParaRPr lang="zh-CN" altLang="en-US" sz="1800" b="1">
              <a:solidFill>
                <a:schemeClr val="tx1"/>
              </a:solidFill>
              <a:latin typeface="宋体" pitchFamily="2" charset="-122"/>
              <a:ea typeface="PMingLiU" pitchFamily="18" charset="-120"/>
              <a:cs typeface="新細明體" pitchFamily="18" charset="-120"/>
            </a:endParaRPr>
          </a:p>
          <a:p>
            <a:pPr lvl="1"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收集维度</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当前模板收集生产信息的等级：</a:t>
            </a:r>
            <a:r>
              <a:rPr lang="zh-CN" altLang="en-US" sz="1800">
                <a:solidFill>
                  <a:srgbClr val="0D0D0D"/>
                </a:solidFill>
                <a:latin typeface="宋体" pitchFamily="2" charset="-122"/>
                <a:ea typeface="PMingLiU" pitchFamily="18" charset="-120"/>
                <a:cs typeface="新細明體" pitchFamily="18" charset="-120"/>
              </a:rPr>
              <a:t>工单、工序、子工序、通用</a:t>
            </a:r>
            <a:endParaRPr lang="zh-CN" altLang="en-US" sz="1800">
              <a:solidFill>
                <a:srgbClr val="0D0D0D"/>
              </a:solidFill>
              <a:latin typeface="宋体" pitchFamily="2" charset="-122"/>
              <a:ea typeface="PMingLiU" pitchFamily="18" charset="-120"/>
              <a:cs typeface="新細明體" pitchFamily="18" charset="-120"/>
            </a:endParaRPr>
          </a:p>
          <a:p>
            <a:pPr lvl="1" marL="0" indent="0" algn="l">
              <a:lnSpc>
                <a:spcPct val="100000"/>
              </a:lnSpc>
              <a:spcBef>
                <a:spcPts val="0"/>
              </a:spcBef>
              <a:spcAft>
                <a:spcPts val="0"/>
              </a:spcAft>
              <a:buNone/>
            </a:pPr>
            <a:r>
              <a:rPr lang="zh-CN" altLang="en-US" sz="1800">
                <a:solidFill>
                  <a:srgbClr val="0D0D0D"/>
                </a:solidFill>
                <a:latin typeface="宋体" pitchFamily="2" charset="-122"/>
                <a:ea typeface="PMingLiU" pitchFamily="18" charset="-120"/>
                <a:cs typeface="新細明體" pitchFamily="18" charset="-120"/>
              </a:rPr>
              <a:t>【</a:t>
            </a:r>
            <a:r>
              <a:rPr lang="zh-CN" altLang="en-US" sz="1800" b="1">
                <a:solidFill>
                  <a:srgbClr val="0D0D0D"/>
                </a:solidFill>
                <a:latin typeface="宋体" pitchFamily="2" charset="-122"/>
                <a:ea typeface="PMingLiU" pitchFamily="18" charset="-120"/>
                <a:cs typeface="新細明體" pitchFamily="18" charset="-120"/>
              </a:rPr>
              <a:t>班组成员报工</a:t>
            </a:r>
            <a:r>
              <a:rPr lang="zh-CN" altLang="en-US" sz="1800">
                <a:solidFill>
                  <a:srgbClr val="0D0D0D"/>
                </a:solidFill>
                <a:latin typeface="宋体" pitchFamily="2" charset="-122"/>
                <a:ea typeface="PMingLiU" pitchFamily="18" charset="-120"/>
                <a:cs typeface="新細明體" pitchFamily="18" charset="-120"/>
              </a:rPr>
              <a:t>】</a:t>
            </a:r>
            <a:r>
              <a:rPr lang="zh-CN" altLang="en-US" sz="1800">
                <a:solidFill>
                  <a:srgbClr val="0D0D0D"/>
                </a:solidFill>
                <a:latin typeface="宋体" pitchFamily="2" charset="-122"/>
                <a:ea typeface="PMingLiU" pitchFamily="18" charset="-120"/>
                <a:cs typeface="新細明體" pitchFamily="18" charset="-120"/>
              </a:rPr>
              <a:t>选择报工对象是班组还是员工</a:t>
            </a:r>
            <a:endParaRPr lang="zh-CN" altLang="en-US" sz="1800">
              <a:solidFill>
                <a:srgbClr val="0D0D0D"/>
              </a:solidFill>
              <a:latin typeface="宋体" pitchFamily="2" charset="-122"/>
              <a:ea typeface="PMingLiU" pitchFamily="18" charset="-120"/>
              <a:cs typeface="新細明體" pitchFamily="18" charset="-120"/>
            </a:endParaRPr>
          </a:p>
          <a:p>
            <a:pPr lvl="1" marL="0" indent="0" algn="l">
              <a:lnSpc>
                <a:spcPct val="100000"/>
              </a:lnSpc>
              <a:spcBef>
                <a:spcPts val="0"/>
              </a:spcBef>
              <a:spcAft>
                <a:spcPts val="0"/>
              </a:spcAft>
              <a:buNone/>
            </a:pPr>
            <a:r>
              <a:rPr lang="zh-CN" altLang="en-US" sz="1800">
                <a:solidFill>
                  <a:srgbClr val="0D0D0D"/>
                </a:solidFill>
                <a:latin typeface="宋体" pitchFamily="2" charset="-122"/>
                <a:ea typeface="PMingLiU" pitchFamily="18" charset="-120"/>
                <a:cs typeface="新細明體" pitchFamily="18" charset="-120"/>
              </a:rPr>
              <a:t>【</a:t>
            </a:r>
            <a:r>
              <a:rPr lang="zh-CN" altLang="en-US" sz="1800" b="1">
                <a:solidFill>
                  <a:srgbClr val="0D0D0D"/>
                </a:solidFill>
                <a:latin typeface="宋体" pitchFamily="2" charset="-122"/>
                <a:ea typeface="PMingLiU" pitchFamily="18" charset="-120"/>
                <a:cs typeface="新細明體" pitchFamily="18" charset="-120"/>
              </a:rPr>
              <a:t>类型编码</a:t>
            </a:r>
            <a:r>
              <a:rPr lang="zh-CN" altLang="en-US" sz="1800" b="1">
                <a:solidFill>
                  <a:srgbClr val="0D0D0D"/>
                </a:solidFill>
                <a:latin typeface="宋体" pitchFamily="2" charset="-122"/>
                <a:ea typeface="PMingLiU" pitchFamily="18" charset="-120"/>
                <a:cs typeface="新細明體" pitchFamily="18" charset="-120"/>
              </a:rPr>
              <a:t>/</a:t>
            </a:r>
            <a:r>
              <a:rPr lang="zh-CN" altLang="en-US" sz="1800" b="1">
                <a:solidFill>
                  <a:srgbClr val="0D0D0D"/>
                </a:solidFill>
                <a:latin typeface="宋体" pitchFamily="2" charset="-122"/>
                <a:ea typeface="PMingLiU" pitchFamily="18" charset="-120"/>
                <a:cs typeface="新細明體" pitchFamily="18" charset="-120"/>
              </a:rPr>
              <a:t>名称</a:t>
            </a:r>
            <a:r>
              <a:rPr lang="zh-CN" altLang="en-US" sz="1800">
                <a:solidFill>
                  <a:srgbClr val="0D0D0D"/>
                </a:solidFill>
                <a:latin typeface="宋体" pitchFamily="2" charset="-122"/>
                <a:ea typeface="PMingLiU" pitchFamily="18" charset="-120"/>
                <a:cs typeface="新細明體" pitchFamily="18" charset="-120"/>
              </a:rPr>
              <a:t>】</a:t>
            </a:r>
            <a:r>
              <a:rPr lang="zh-CN" altLang="en-US" sz="1800">
                <a:solidFill>
                  <a:srgbClr val="0D0D0D"/>
                </a:solidFill>
                <a:latin typeface="宋体" pitchFamily="2" charset="-122"/>
                <a:ea typeface="PMingLiU" pitchFamily="18" charset="-120"/>
                <a:cs typeface="新細明體" pitchFamily="18" charset="-120"/>
              </a:rPr>
              <a:t>在模板中将需收集的项目区分类别，便于后续按类型分别查询统计</a:t>
            </a:r>
            <a:endParaRPr lang="zh-CN" altLang="en-US" sz="1800">
              <a:solidFill>
                <a:srgbClr val="0D0D0D"/>
              </a:solidFill>
              <a:latin typeface="宋体" pitchFamily="2" charset="-122"/>
              <a:ea typeface="PMingLiU" pitchFamily="18" charset="-120"/>
              <a:cs typeface="新細明體" pitchFamily="18" charset="-120"/>
            </a:endParaRPr>
          </a:p>
          <a:p>
            <a:pPr lvl="1" marL="0" indent="0" algn="l">
              <a:lnSpc>
                <a:spcPct val="100000"/>
              </a:lnSpc>
              <a:spcBef>
                <a:spcPts val="0"/>
              </a:spcBef>
              <a:spcAft>
                <a:spcPts val="0"/>
              </a:spcAft>
              <a:buNone/>
            </a:pPr>
            <a:r>
              <a:rPr lang="zh-CN" altLang="en-US" sz="1800">
                <a:solidFill>
                  <a:srgbClr val="0D0D0D"/>
                </a:solidFill>
                <a:latin typeface="宋体" pitchFamily="2" charset="-122"/>
                <a:ea typeface="PMingLiU" pitchFamily="18" charset="-120"/>
                <a:cs typeface="新細明體" pitchFamily="18" charset="-120"/>
              </a:rPr>
              <a:t>【</a:t>
            </a:r>
            <a:r>
              <a:rPr lang="zh-CN" altLang="en-US" sz="1800" b="1">
                <a:solidFill>
                  <a:srgbClr val="0D0D0D"/>
                </a:solidFill>
                <a:latin typeface="宋体" pitchFamily="2" charset="-122"/>
                <a:ea typeface="PMingLiU" pitchFamily="18" charset="-120"/>
                <a:cs typeface="新細明體" pitchFamily="18" charset="-120"/>
              </a:rPr>
              <a:t>强制收集</a:t>
            </a:r>
            <a:r>
              <a:rPr lang="zh-CN" altLang="en-US" sz="1800">
                <a:solidFill>
                  <a:srgbClr val="0D0D0D"/>
                </a:solidFill>
                <a:latin typeface="宋体" pitchFamily="2" charset="-122"/>
                <a:ea typeface="PMingLiU" pitchFamily="18" charset="-120"/>
                <a:cs typeface="新細明體" pitchFamily="18" charset="-120"/>
              </a:rPr>
              <a:t>】</a:t>
            </a:r>
            <a:r>
              <a:rPr lang="zh-CN" altLang="en-US" sz="1800">
                <a:solidFill>
                  <a:srgbClr val="0D0D0D"/>
                </a:solidFill>
                <a:latin typeface="宋体" pitchFamily="2" charset="-122"/>
                <a:ea typeface="PMingLiU" pitchFamily="18" charset="-120"/>
                <a:cs typeface="新細明體" pitchFamily="18" charset="-120"/>
              </a:rPr>
              <a:t>此类信息是否必需信息，缺少则不可继续执行</a:t>
            </a:r>
            <a:endParaRPr lang="zh-CN" altLang="en-US" sz="1800">
              <a:solidFill>
                <a:srgbClr val="0D0D0D"/>
              </a:solidFill>
              <a:latin typeface="宋体" pitchFamily="2" charset="-122"/>
              <a:ea typeface="PMingLiU" pitchFamily="18" charset="-120"/>
              <a:cs typeface="新細明體" pitchFamily="18" charset="-120"/>
            </a:endParaRPr>
          </a:p>
          <a:p>
            <a:pPr lvl="1" marL="0" indent="0" algn="l">
              <a:lnSpc>
                <a:spcPct val="100000"/>
              </a:lnSpc>
              <a:spcBef>
                <a:spcPts val="0"/>
              </a:spcBef>
              <a:spcAft>
                <a:spcPts val="0"/>
              </a:spcAft>
              <a:buNone/>
            </a:pPr>
            <a:endParaRPr lang="zh-CN" altLang="en-US" sz="1800">
              <a:solidFill>
                <a:srgbClr val="0D0D0D"/>
              </a:solidFill>
              <a:latin typeface="宋体" pitchFamily="2" charset="-122"/>
              <a:ea typeface="PMingLiU" pitchFamily="18" charset="-120"/>
              <a:cs typeface="新細明體" pitchFamily="18" charset="-120"/>
            </a:endParaRPr>
          </a:p>
          <a:p>
            <a:pPr lvl="1" marL="0" indent="0" algn="l">
              <a:lnSpc>
                <a:spcPct val="100000"/>
              </a:lnSpc>
              <a:spcBef>
                <a:spcPts val="0"/>
              </a:spcBef>
              <a:spcAft>
                <a:spcPts val="0"/>
              </a:spcAft>
              <a:buNone/>
            </a:pPr>
            <a:endParaRPr lang="zh-CN" altLang="en-US" sz="1800">
              <a:solidFill>
                <a:srgbClr val="0D0D0D"/>
              </a:solidFill>
              <a:latin typeface="宋体" pitchFamily="2" charset="-122"/>
              <a:ea typeface="PMingLiU" pitchFamily="18" charset="-120"/>
              <a:cs typeface="新細明體" pitchFamily="18" charset="-120"/>
            </a:endParaRPr>
          </a:p>
          <a:p>
            <a:pPr lvl="1" marL="0" indent="0" algn="l">
              <a:lnSpc>
                <a:spcPct val="100000"/>
              </a:lnSpc>
              <a:spcBef>
                <a:spcPts val="0"/>
              </a:spcBef>
              <a:spcAft>
                <a:spcPts val="0"/>
              </a:spcAft>
              <a:buNone/>
            </a:pPr>
            <a:endParaRPr lang="zh-CN" altLang="en-US" sz="1800">
              <a:solidFill>
                <a:srgbClr val="0D0D0D"/>
              </a:solidFill>
              <a:latin typeface="宋体" pitchFamily="2" charset="-122"/>
              <a:ea typeface="PMingLiU" pitchFamily="18" charset="-120"/>
              <a:cs typeface="新細明體" pitchFamily="18" charset="-120"/>
            </a:endParaRPr>
          </a:p>
          <a:p>
            <a:pPr lvl="1" marL="0" indent="0" algn="l">
              <a:lnSpc>
                <a:spcPct val="100000"/>
              </a:lnSpc>
              <a:spcBef>
                <a:spcPts val="0"/>
              </a:spcBef>
              <a:spcAft>
                <a:spcPts val="0"/>
              </a:spcAft>
              <a:buNone/>
            </a:pPr>
            <a:endParaRPr lang="zh-CN" altLang="en-US" sz="1800">
              <a:solidFill>
                <a:srgbClr val="0D0D0D"/>
              </a:solidFill>
              <a:latin typeface="宋体" pitchFamily="2" charset="-122"/>
              <a:ea typeface="PMingLiU" pitchFamily="18" charset="-120"/>
              <a:cs typeface="新細明體" pitchFamily="18" charset="-120"/>
            </a:endParaRPr>
          </a:p>
          <a:p>
            <a:pPr lvl="1" marL="0" indent="0" algn="l">
              <a:lnSpc>
                <a:spcPct val="100000"/>
              </a:lnSpc>
              <a:spcBef>
                <a:spcPts val="0"/>
              </a:spcBef>
              <a:spcAft>
                <a:spcPts val="0"/>
              </a:spcAft>
              <a:buNone/>
            </a:pPr>
            <a:endParaRPr lang="zh-CN" altLang="en-US" sz="1800">
              <a:solidFill>
                <a:srgbClr val="0D0D0D"/>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2000" b="1">
                <a:solidFill>
                  <a:srgbClr val="006600"/>
                </a:solidFill>
                <a:latin typeface="宋体" pitchFamily="2" charset="-122"/>
                <a:ea typeface="宋体" pitchFamily="2" charset="-122"/>
                <a:cs typeface="新細明體" pitchFamily="18" charset="-120"/>
              </a:rPr>
              <a:t>     </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ct val="50000"/>
              </a:spcBef>
              <a:spcAft>
                <a:spcPts val="0"/>
              </a:spcAft>
              <a:buNone/>
            </a:pPr>
            <a:r>
              <a:rPr lang="zh-CN" altLang="en-US" sz="1800" b="1">
                <a:solidFill>
                  <a:schemeClr val="tx1"/>
                </a:solidFill>
                <a:latin typeface="宋体" pitchFamily="2" charset="-122"/>
                <a:ea typeface="宋体" pitchFamily="2" charset="-122"/>
                <a:cs typeface="新細明體" pitchFamily="18" charset="-120"/>
              </a:rPr>
              <a:t> </a:t>
            </a:r>
            <a:endParaRPr lang="zh-CN" altLang="en-US" sz="2000" b="1">
              <a:solidFill>
                <a:srgbClr val="006600"/>
              </a:solidFill>
              <a:latin typeface="宋体" pitchFamily="2" charset="-122"/>
              <a:ea typeface="宋体" pitchFamily="2" charset="-122"/>
              <a:cs typeface="新細明體" pitchFamily="18" charset="-120"/>
            </a:endParaRPr>
          </a:p>
        </p:txBody>
      </p:sp>
      <p:sp>
        <p:nvSpPr>
          <p:cNvPr id="239" name="圆角矩形"/>
          <p:cNvSpPr>
            <a:spLocks/>
          </p:cNvSpPr>
          <p:nvPr/>
        </p:nvSpPr>
        <p:spPr>
          <a:xfrm rot="0">
            <a:off x="854075" y="5692775"/>
            <a:ext cx="7396162" cy="976312"/>
          </a:xfrm>
          <a:prstGeom prst="roundRect">
            <a:avLst>
              <a:gd name="adj" fmla="val 16666"/>
            </a:avLst>
          </a:prstGeom>
          <a:solidFill>
            <a:srgbClr val="D7E4BC"/>
          </a:solidFill>
          <a:ln w="25400" cmpd="sng" cap="flat">
            <a:solidFill>
              <a:srgbClr val="4F81BD"/>
            </a:solidFill>
            <a:prstDash val="dash"/>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应用注意事项</a:t>
            </a:r>
            <a:endParaRPr lang="zh-CN" altLang="en-US" sz="1800" b="1">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SzPct val="100000"/>
              <a:buFont typeface="Wingdings" pitchFamily="2" charset="2"/>
              <a:buChar char="u"/>
            </a:pPr>
            <a:r>
              <a:rPr lang="zh-CN" altLang="en-US" sz="1800">
                <a:solidFill>
                  <a:schemeClr val="tx1"/>
                </a:solidFill>
                <a:latin typeface="宋体" pitchFamily="2" charset="-122"/>
                <a:ea typeface="PMingLiU" pitchFamily="18" charset="-120"/>
                <a:cs typeface="新細明體" pitchFamily="18" charset="-120"/>
              </a:rPr>
              <a:t>当客户只做简单的产量、工时收集，无需自定义项目时，可不建立模板，直接使用“维护标准生产信息收集”即可</a:t>
            </a:r>
            <a:endParaRPr lang="zh-CN" altLang="en-US" sz="1800">
              <a:solidFill>
                <a:schemeClr val="tx1"/>
              </a:solidFill>
              <a:latin typeface="宋体" pitchFamily="2" charset="-122"/>
              <a:ea typeface="PMingLiU" pitchFamily="18" charset="-120"/>
              <a:cs typeface="新細明體" pitchFamily="18" charset="-120"/>
            </a:endParaRPr>
          </a:p>
        </p:txBody>
      </p:sp>
      <p:sp>
        <p:nvSpPr>
          <p:cNvPr id="240"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基础</a:t>
            </a:r>
            <a:r>
              <a:rPr lang="zh-CN" altLang="en-US" sz="3600" b="1">
                <a:solidFill>
                  <a:schemeClr val="tx1"/>
                </a:solidFill>
                <a:latin typeface="黑体" pitchFamily="2" charset="-122"/>
                <a:ea typeface="黑体" pitchFamily="2" charset="-122"/>
                <a:cs typeface="新細明體" pitchFamily="18" charset="-120"/>
              </a:rPr>
              <a:t>资料准备－</a:t>
            </a:r>
            <a:r>
              <a:rPr lang="zh-CN" altLang="en-US" sz="3600" b="1">
                <a:solidFill>
                  <a:schemeClr val="tx1"/>
                </a:solidFill>
                <a:latin typeface="黑体" pitchFamily="2" charset="-122"/>
                <a:ea typeface="黑体" pitchFamily="2" charset="-122"/>
                <a:cs typeface="新細明體" pitchFamily="18" charset="-120"/>
              </a:rPr>
              <a:t>维护生产信息模板</a:t>
            </a:r>
            <a:endParaRPr lang="zh-CN" altLang="en-US" sz="3600" b="1">
              <a:solidFill>
                <a:schemeClr val="tx1"/>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397276802"/>
      </p:ext>
    </p:extLst>
  </p:cSld>
  <p:clrMapOvr>
    <a:masterClrMapping/>
  </p:clrMapOvr>
  <p:transition/>
</p:sld>
</file>

<file path=ppt/slides/slide3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41" name="矩形"/>
          <p:cNvSpPr>
            <a:spLocks/>
          </p:cNvSpPr>
          <p:nvPr/>
        </p:nvSpPr>
        <p:spPr>
          <a:xfrm rot="0">
            <a:off x="1908175" y="665162"/>
            <a:ext cx="7235824"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3600">
                <a:solidFill>
                  <a:schemeClr val="bg1"/>
                </a:solidFill>
                <a:latin typeface="Microsoft JhengHei" pitchFamily="34" charset="-120"/>
                <a:ea typeface="Microsoft JhengHei" pitchFamily="34" charset="-120"/>
                <a:cs typeface="新細明體" pitchFamily="18" charset="-120"/>
              </a:rPr>
              <a:t>内容大纲</a:t>
            </a:r>
            <a:endParaRPr lang="zh-CN" altLang="en-US" sz="3600">
              <a:solidFill>
                <a:schemeClr val="bg1"/>
              </a:solidFill>
              <a:latin typeface="Microsoft JhengHei" pitchFamily="34" charset="-120"/>
              <a:ea typeface="Microsoft JhengHei" pitchFamily="34" charset="-120"/>
              <a:cs typeface="新細明體" pitchFamily="18" charset="-120"/>
            </a:endParaRPr>
          </a:p>
        </p:txBody>
      </p:sp>
      <p:sp>
        <p:nvSpPr>
          <p:cNvPr id="242" name="矩形"/>
          <p:cNvSpPr>
            <a:spLocks/>
          </p:cNvSpPr>
          <p:nvPr/>
        </p:nvSpPr>
        <p:spPr>
          <a:xfrm rot="0">
            <a:off x="539750" y="1773237"/>
            <a:ext cx="8135937" cy="4751387"/>
          </a:xfrm>
          <a:prstGeom prst="rect"/>
          <a:noFill/>
          <a:ln w="25400" cmpd="sng" cap="flat">
            <a:solidFill>
              <a:srgbClr val="CE3428"/>
            </a:solidFill>
            <a:prstDash val="sysDot"/>
            <a:miter/>
          </a:ln>
        </p:spPr>
      </p:sp>
      <p:pic>
        <p:nvPicPr>
          <p:cNvPr id="243" name="图片" descr="數字價值_P.png"/>
          <p:cNvPicPr>
            <a:picLocks noChangeAspect="1"/>
          </p:cNvPicPr>
          <p:nvPr/>
        </p:nvPicPr>
        <p:blipFill>
          <a:blip r:embed="rId1" cstate="print"/>
          <a:stretch>
            <a:fillRect/>
          </a:stretch>
        </p:blipFill>
        <p:spPr>
          <a:xfrm rot="0">
            <a:off x="4787900" y="4652962"/>
            <a:ext cx="3268662" cy="720725"/>
          </a:xfrm>
          <a:prstGeom prst="rect"/>
          <a:noFill/>
          <a:ln w="9525" cmpd="sng" cap="flat">
            <a:noFill/>
            <a:prstDash val="solid"/>
            <a:miter/>
          </a:ln>
        </p:spPr>
      </p:pic>
      <p:sp>
        <p:nvSpPr>
          <p:cNvPr id="244" name="矩形"/>
          <p:cNvSpPr>
            <a:spLocks/>
          </p:cNvSpPr>
          <p:nvPr/>
        </p:nvSpPr>
        <p:spPr>
          <a:xfrm rot="0">
            <a:off x="1071562" y="1928812"/>
            <a:ext cx="6215062" cy="3108325"/>
          </a:xfrm>
          <a:prstGeom prst="rect"/>
          <a:noFill/>
          <a:ln w="9525" cmpd="sng" cap="flat">
            <a:noFill/>
            <a:prstDash val="solid"/>
            <a:miter/>
          </a:ln>
        </p:spPr>
        <p:txBody>
          <a:bodyPr vert="horz" wrap="square" lIns="91440" tIns="45720" rIns="91440" bIns="45720" anchor="t" anchorCtr="0">
            <a:prstTxWarp prst="textNoShape"/>
          </a:bodyPr>
          <a:lstStyle/>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系统概述</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系统主</a:t>
            </a:r>
            <a:r>
              <a:rPr lang="zh-CN" altLang="en-US" sz="2800">
                <a:solidFill>
                  <a:srgbClr val="0D0D0D"/>
                </a:solidFill>
                <a:latin typeface="黑体" pitchFamily="2" charset="-122"/>
                <a:ea typeface="黑体" pitchFamily="2" charset="-122"/>
                <a:cs typeface="新細明體" pitchFamily="18" charset="-120"/>
              </a:rPr>
              <a:t>作业</a:t>
            </a:r>
            <a:r>
              <a:rPr lang="zh-CN" altLang="en-US" sz="2800">
                <a:solidFill>
                  <a:srgbClr val="0D0D0D"/>
                </a:solidFill>
                <a:latin typeface="黑体" pitchFamily="2" charset="-122"/>
                <a:ea typeface="黑体" pitchFamily="2" charset="-122"/>
                <a:cs typeface="新細明體" pitchFamily="18" charset="-120"/>
              </a:rPr>
              <a:t>流程说明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基础资料准备</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538ED5"/>
                </a:solidFill>
                <a:latin typeface="黑体" pitchFamily="2" charset="-122"/>
                <a:ea typeface="黑体" pitchFamily="2" charset="-122"/>
                <a:cs typeface="新細明體" pitchFamily="18" charset="-120"/>
              </a:rPr>
              <a:t>日常作业操作</a:t>
            </a:r>
            <a:endParaRPr lang="zh-CN" altLang="en-US" sz="2800">
              <a:solidFill>
                <a:srgbClr val="538ED5"/>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管理报表应用说明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期初开账资料准备说明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实例操作讲解</a:t>
            </a:r>
            <a:endParaRPr lang="zh-CN" altLang="en-US" sz="2800">
              <a:solidFill>
                <a:srgbClr val="0D0D0D"/>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1377928642"/>
      </p:ext>
    </p:extLst>
  </p:cSld>
  <p:clrMapOvr>
    <a:masterClrMapping/>
  </p:clrMapOvr>
  <p:transition/>
</p:sld>
</file>

<file path=ppt/slides/slide3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45" name="矩形"/>
          <p:cNvSpPr>
            <a:spLocks/>
          </p:cNvSpPr>
          <p:nvPr/>
        </p:nvSpPr>
        <p:spPr>
          <a:xfrm rot="0">
            <a:off x="280987" y="476250"/>
            <a:ext cx="8820151" cy="646112"/>
          </a:xfrm>
          <a:prstGeom prst="rect"/>
          <a:noFill/>
          <a:ln w="9525" cmpd="sng" cap="flat">
            <a:noFill/>
            <a:prstDash val="solid"/>
            <a:miter/>
          </a:ln>
        </p:spPr>
        <p:txBody>
          <a:bodyPr vert="horz" wrap="square" lIns="91440" tIns="45720" rIns="91440" bIns="45720" anchor="t" anchorCtr="0">
            <a:prstTxWarp prst="textNoShape"/>
          </a:bodyPr>
          <a:lstStyle/>
          <a:p>
            <a:pPr lvl="1" marL="0" indent="0" algn="l">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日常单据录入</a:t>
            </a:r>
            <a:r>
              <a:rPr lang="zh-CN" altLang="en-US" sz="3600" b="1">
                <a:solidFill>
                  <a:schemeClr val="tx1"/>
                </a:solidFill>
                <a:latin typeface="黑体" pitchFamily="2" charset="-122"/>
                <a:ea typeface="黑体" pitchFamily="2" charset="-122"/>
                <a:cs typeface="新細明體" pitchFamily="18" charset="-120"/>
              </a:rPr>
              <a:t>-</a:t>
            </a:r>
            <a:r>
              <a:rPr lang="zh-CN" altLang="en-US" sz="3600" b="1">
                <a:solidFill>
                  <a:schemeClr val="tx1"/>
                </a:solidFill>
                <a:latin typeface="黑体" pitchFamily="2" charset="-122"/>
                <a:ea typeface="黑体" pitchFamily="2" charset="-122"/>
                <a:cs typeface="新細明體" pitchFamily="18" charset="-120"/>
              </a:rPr>
              <a:t>相关</a:t>
            </a:r>
            <a:r>
              <a:rPr lang="zh-CN" altLang="en-US" sz="3600" b="1">
                <a:solidFill>
                  <a:schemeClr val="tx1"/>
                </a:solidFill>
                <a:latin typeface="黑体" pitchFamily="2" charset="-122"/>
                <a:ea typeface="黑体" pitchFamily="2" charset="-122"/>
                <a:cs typeface="新細明體" pitchFamily="18" charset="-120"/>
              </a:rPr>
              <a:t>子流程</a:t>
            </a:r>
            <a:endParaRPr lang="zh-CN" altLang="en-US" sz="3600" b="1">
              <a:solidFill>
                <a:schemeClr val="tx1"/>
              </a:solidFill>
              <a:latin typeface="黑体" pitchFamily="2" charset="-122"/>
              <a:ea typeface="黑体" pitchFamily="2" charset="-122"/>
              <a:cs typeface="新細明體" pitchFamily="18" charset="-120"/>
            </a:endParaRPr>
          </a:p>
        </p:txBody>
      </p:sp>
      <p:sp>
        <p:nvSpPr>
          <p:cNvPr id="246" name="直线"/>
          <p:cNvSpPr>
            <a:spLocks/>
          </p:cNvSpPr>
          <p:nvPr/>
        </p:nvSpPr>
        <p:spPr>
          <a:xfrm rot="0">
            <a:off x="396875" y="1125537"/>
            <a:ext cx="6804025" cy="0"/>
          </a:xfrm>
          <a:prstGeom prst="line"/>
          <a:noFill/>
          <a:ln w="28575" cmpd="sng" cap="flat">
            <a:solidFill>
              <a:srgbClr val="4B7EBB"/>
            </a:solidFill>
            <a:prstDash val="solid"/>
            <a:miter/>
          </a:ln>
        </p:spPr>
      </p:sp>
      <p:sp>
        <p:nvSpPr>
          <p:cNvPr id="247" name="矩形"/>
          <p:cNvSpPr>
            <a:spLocks/>
          </p:cNvSpPr>
          <p:nvPr/>
        </p:nvSpPr>
        <p:spPr>
          <a:xfrm rot="0">
            <a:off x="1187450" y="1412875"/>
            <a:ext cx="6408737" cy="3492500"/>
          </a:xfrm>
          <a:prstGeom prst="rect"/>
          <a:noFill/>
          <a:ln w="9525" cmpd="sng" cap="flat">
            <a:noFill/>
            <a:prstDash val="solid"/>
            <a:miter/>
          </a:ln>
        </p:spPr>
        <p:txBody>
          <a:bodyPr vert="horz" wrap="square" lIns="91440" tIns="45720" rIns="91440" bIns="45720" anchor="t" anchorCtr="0">
            <a:prstTxWarp prst="textNoShape"/>
          </a:bodyPr>
          <a:lstStyle/>
          <a:p>
            <a:pPr marL="457200" indent="-457200" algn="l" eaLnBrk="0" latinLnBrk="0" hangingPunct="0">
              <a:lnSpc>
                <a:spcPct val="150000"/>
              </a:lnSpc>
              <a:spcBef>
                <a:spcPts val="0"/>
              </a:spcBef>
              <a:spcAft>
                <a:spcPts val="0"/>
              </a:spcAft>
              <a:buSzPct val="100000"/>
              <a:buFont typeface="Arial" pitchFamily="34" charset="0"/>
              <a:buChar char="•"/>
            </a:pPr>
            <a:r>
              <a:rPr lang="zh-CN" altLang="en-US" sz="2600">
                <a:solidFill>
                  <a:schemeClr val="tx1"/>
                </a:solidFill>
                <a:latin typeface="宋体" pitchFamily="2" charset="-122"/>
                <a:ea typeface="宋体" pitchFamily="2" charset="-122"/>
                <a:cs typeface="新細明體" pitchFamily="18" charset="-120"/>
              </a:rPr>
              <a:t>工单工艺生产</a:t>
            </a:r>
            <a:r>
              <a:rPr lang="zh-CN" altLang="en-US" sz="2600">
                <a:solidFill>
                  <a:schemeClr val="tx1"/>
                </a:solidFill>
                <a:latin typeface="宋体" pitchFamily="2" charset="-122"/>
                <a:ea typeface="宋体" pitchFamily="2" charset="-122"/>
                <a:cs typeface="新細明體" pitchFamily="18" charset="-120"/>
              </a:rPr>
              <a:t>(</a:t>
            </a:r>
            <a:r>
              <a:rPr lang="zh-CN" altLang="en-US" sz="2600">
                <a:solidFill>
                  <a:schemeClr val="tx1"/>
                </a:solidFill>
                <a:latin typeface="宋体" pitchFamily="2" charset="-122"/>
                <a:ea typeface="宋体" pitchFamily="2" charset="-122"/>
                <a:cs typeface="新細明體" pitchFamily="18" charset="-120"/>
              </a:rPr>
              <a:t>一般生产</a:t>
            </a:r>
            <a:r>
              <a:rPr lang="zh-CN" altLang="en-US" sz="2600">
                <a:solidFill>
                  <a:schemeClr val="tx1"/>
                </a:solidFill>
                <a:latin typeface="宋体" pitchFamily="2" charset="-122"/>
                <a:ea typeface="宋体" pitchFamily="2" charset="-122"/>
                <a:cs typeface="新細明體" pitchFamily="18" charset="-120"/>
              </a:rPr>
              <a:t>)</a:t>
            </a:r>
            <a:endParaRPr lang="zh-CN" altLang="en-US" sz="2600">
              <a:solidFill>
                <a:schemeClr val="tx1"/>
              </a:solidFill>
              <a:latin typeface="宋体" pitchFamily="2" charset="-122"/>
              <a:ea typeface="宋体" pitchFamily="2" charset="-122"/>
              <a:cs typeface="新細明體" pitchFamily="18" charset="-120"/>
            </a:endParaRPr>
          </a:p>
          <a:p>
            <a:pPr marL="457200" indent="-457200" algn="l" eaLnBrk="0" latinLnBrk="0" hangingPunct="0">
              <a:lnSpc>
                <a:spcPct val="150000"/>
              </a:lnSpc>
              <a:spcBef>
                <a:spcPts val="0"/>
              </a:spcBef>
              <a:spcAft>
                <a:spcPts val="0"/>
              </a:spcAft>
              <a:buSzPct val="100000"/>
              <a:buFont typeface="Arial" pitchFamily="34" charset="0"/>
              <a:buChar char="•"/>
            </a:pPr>
            <a:r>
              <a:rPr lang="zh-CN" altLang="en-US" sz="2600">
                <a:solidFill>
                  <a:schemeClr val="tx1"/>
                </a:solidFill>
                <a:latin typeface="宋体" pitchFamily="2" charset="-122"/>
                <a:ea typeface="宋体" pitchFamily="2" charset="-122"/>
                <a:cs typeface="新細明體" pitchFamily="18" charset="-120"/>
              </a:rPr>
              <a:t>条码在工艺生产中的应用</a:t>
            </a:r>
            <a:endParaRPr lang="zh-CN" altLang="en-US" sz="2600">
              <a:solidFill>
                <a:schemeClr val="tx1"/>
              </a:solidFill>
              <a:latin typeface="宋体" pitchFamily="2" charset="-122"/>
              <a:ea typeface="宋体" pitchFamily="2" charset="-122"/>
              <a:cs typeface="新細明體" pitchFamily="18" charset="-120"/>
            </a:endParaRPr>
          </a:p>
          <a:p>
            <a:pPr marL="457200" indent="-457200" algn="l" eaLnBrk="0" latinLnBrk="0" hangingPunct="0">
              <a:lnSpc>
                <a:spcPct val="150000"/>
              </a:lnSpc>
              <a:spcBef>
                <a:spcPts val="0"/>
              </a:spcBef>
              <a:spcAft>
                <a:spcPts val="0"/>
              </a:spcAft>
              <a:buSzPct val="100000"/>
              <a:buFont typeface="Arial" pitchFamily="34" charset="0"/>
              <a:buChar char="•"/>
            </a:pPr>
            <a:r>
              <a:rPr lang="zh-CN" altLang="en-US" sz="2600">
                <a:solidFill>
                  <a:schemeClr val="tx1"/>
                </a:solidFill>
                <a:latin typeface="宋体" pitchFamily="2" charset="-122"/>
                <a:ea typeface="宋体" pitchFamily="2" charset="-122"/>
                <a:cs typeface="新細明體" pitchFamily="18" charset="-120"/>
              </a:rPr>
              <a:t>工艺整批转移执行委外收货</a:t>
            </a:r>
            <a:endParaRPr lang="zh-CN" altLang="en-US" sz="2600">
              <a:solidFill>
                <a:schemeClr val="tx1"/>
              </a:solidFill>
              <a:latin typeface="宋体" pitchFamily="2" charset="-122"/>
              <a:ea typeface="宋体" pitchFamily="2" charset="-122"/>
              <a:cs typeface="新細明體" pitchFamily="18" charset="-120"/>
            </a:endParaRPr>
          </a:p>
          <a:p>
            <a:pPr marL="457200" indent="-457200" algn="l" eaLnBrk="0" latinLnBrk="0" hangingPunct="0">
              <a:lnSpc>
                <a:spcPct val="150000"/>
              </a:lnSpc>
              <a:spcBef>
                <a:spcPts val="0"/>
              </a:spcBef>
              <a:spcAft>
                <a:spcPts val="0"/>
              </a:spcAft>
              <a:buSzPct val="100000"/>
              <a:buFont typeface="Arial" pitchFamily="34" charset="0"/>
              <a:buChar char="•"/>
            </a:pPr>
            <a:r>
              <a:rPr lang="zh-CN" altLang="en-US" sz="2600">
                <a:solidFill>
                  <a:schemeClr val="tx1"/>
                </a:solidFill>
                <a:latin typeface="宋体" pitchFamily="2" charset="-122"/>
                <a:ea typeface="宋体" pitchFamily="2" charset="-122"/>
                <a:cs typeface="新細明體" pitchFamily="18" charset="-120"/>
              </a:rPr>
              <a:t>集团内跨公司工艺委外</a:t>
            </a:r>
            <a:endParaRPr lang="zh-CN" altLang="en-US" sz="2600">
              <a:solidFill>
                <a:schemeClr val="tx1"/>
              </a:solidFill>
              <a:latin typeface="宋体" pitchFamily="2" charset="-122"/>
              <a:ea typeface="宋体" pitchFamily="2" charset="-122"/>
              <a:cs typeface="新細明體" pitchFamily="18" charset="-120"/>
            </a:endParaRPr>
          </a:p>
          <a:p>
            <a:pPr marL="457200" indent="-457200" algn="l" eaLnBrk="0" latinLnBrk="0" hangingPunct="0">
              <a:lnSpc>
                <a:spcPct val="150000"/>
              </a:lnSpc>
              <a:spcBef>
                <a:spcPts val="0"/>
              </a:spcBef>
              <a:spcAft>
                <a:spcPts val="0"/>
              </a:spcAft>
              <a:buSzPct val="100000"/>
              <a:buFont typeface="Arial" pitchFamily="34" charset="0"/>
              <a:buChar char="•"/>
            </a:pPr>
            <a:r>
              <a:rPr lang="zh-CN" altLang="en-US" sz="2600">
                <a:solidFill>
                  <a:schemeClr val="tx1"/>
                </a:solidFill>
                <a:latin typeface="宋体" pitchFamily="2" charset="-122"/>
                <a:ea typeface="宋体" pitchFamily="2" charset="-122"/>
                <a:cs typeface="新細明體" pitchFamily="18" charset="-120"/>
              </a:rPr>
              <a:t>集团内跨工厂工艺委外</a:t>
            </a:r>
            <a:endParaRPr lang="zh-CN" altLang="en-US" sz="2600">
              <a:solidFill>
                <a:schemeClr val="tx1"/>
              </a:solidFill>
              <a:latin typeface="宋体" pitchFamily="2" charset="-122"/>
              <a:ea typeface="宋体" pitchFamily="2" charset="-122"/>
              <a:cs typeface="新細明體" pitchFamily="18" charset="-120"/>
            </a:endParaRPr>
          </a:p>
          <a:p>
            <a:pPr marL="457200" indent="-457200" algn="l" eaLnBrk="0" latinLnBrk="0" hangingPunct="0">
              <a:lnSpc>
                <a:spcPct val="100000"/>
              </a:lnSpc>
              <a:spcBef>
                <a:spcPts val="0"/>
              </a:spcBef>
              <a:spcAft>
                <a:spcPts val="0"/>
              </a:spcAft>
              <a:buSzPct val="100000"/>
              <a:buFont typeface="Arial" pitchFamily="34" charset="0"/>
              <a:buChar char="•"/>
            </a:pPr>
            <a:endParaRPr lang="zh-CN" altLang="en-US" sz="2600">
              <a:solidFill>
                <a:schemeClr val="tx1"/>
              </a:solidFill>
              <a:latin typeface="宋体" pitchFamily="2" charset="-122"/>
              <a:ea typeface="宋体" pitchFamily="2" charset="-122"/>
              <a:cs typeface="新細明體" pitchFamily="18" charset="-120"/>
            </a:endParaRPr>
          </a:p>
        </p:txBody>
      </p:sp>
      <p:sp>
        <p:nvSpPr>
          <p:cNvPr id="248" name="矩形"/>
          <p:cNvSpPr>
            <a:spLocks/>
          </p:cNvSpPr>
          <p:nvPr/>
        </p:nvSpPr>
        <p:spPr>
          <a:xfrm rot="0">
            <a:off x="8550276" y="6383337"/>
            <a:ext cx="719137" cy="4762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35</a:t>
            </a:r>
            <a:endParaRPr lang="zh-CN" altLang="en-US" sz="1800">
              <a:solidFill>
                <a:schemeClr val="tx1"/>
              </a:solidFill>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2016963597"/>
      </p:ext>
    </p:extLst>
  </p:cSld>
  <p:clrMapOvr>
    <a:masterClrMapping/>
  </p:clrMapOvr>
  <p:transition/>
</p:sld>
</file>

<file path=ppt/slides/slide3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49"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工单工艺生产流程</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250" name="圆角矩形"/>
          <p:cNvSpPr>
            <a:spLocks/>
          </p:cNvSpPr>
          <p:nvPr/>
        </p:nvSpPr>
        <p:spPr>
          <a:xfrm rot="0">
            <a:off x="2386012" y="2232025"/>
            <a:ext cx="2160587" cy="503237"/>
          </a:xfrm>
          <a:prstGeom prst="roundRect">
            <a:avLst>
              <a:gd name="adj" fmla="val 16666"/>
            </a:avLst>
          </a:prstGeom>
          <a:solidFill>
            <a:schemeClr val="accent1"/>
          </a:solidFill>
          <a:ln w="9525" cmpd="sng" cap="flat">
            <a:solidFill>
              <a:srgbClr val="4B7EBB"/>
            </a:solidFill>
            <a:prstDash val="solid"/>
            <a:miter/>
          </a:ln>
        </p:spPr>
        <p:txBody>
          <a:bodyPr vert="horz" wrap="non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宋体" pitchFamily="2" charset="-122"/>
                <a:ea typeface="宋体" pitchFamily="2" charset="-122"/>
                <a:cs typeface="新細明體" pitchFamily="18" charset="-120"/>
              </a:rPr>
              <a:t>维护工单信息</a:t>
            </a:r>
            <a:endParaRPr lang="zh-CN" altLang="en-US" sz="1800">
              <a:solidFill>
                <a:srgbClr val="000000"/>
              </a:solidFill>
              <a:latin typeface="宋体" pitchFamily="2" charset="-122"/>
              <a:ea typeface="宋体" pitchFamily="2" charset="-122"/>
              <a:cs typeface="新細明體" pitchFamily="18" charset="-120"/>
            </a:endParaRPr>
          </a:p>
        </p:txBody>
      </p:sp>
      <p:sp>
        <p:nvSpPr>
          <p:cNvPr id="251" name="圆角矩形"/>
          <p:cNvSpPr>
            <a:spLocks/>
          </p:cNvSpPr>
          <p:nvPr/>
        </p:nvSpPr>
        <p:spPr>
          <a:xfrm rot="0">
            <a:off x="2381250" y="3130550"/>
            <a:ext cx="2160587" cy="503237"/>
          </a:xfrm>
          <a:prstGeom prst="roundRect">
            <a:avLst>
              <a:gd name="adj" fmla="val 16666"/>
            </a:avLst>
          </a:prstGeom>
          <a:solidFill>
            <a:schemeClr val="accent1"/>
          </a:solidFill>
          <a:ln w="9525" cmpd="sng" cap="flat">
            <a:solidFill>
              <a:srgbClr val="4B7EBB"/>
            </a:solidFill>
            <a:prstDash val="solid"/>
            <a:miter/>
          </a:ln>
        </p:spPr>
        <p:txBody>
          <a:bodyPr vert="horz" wrap="non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宋体" pitchFamily="2" charset="-122"/>
                <a:ea typeface="宋体" pitchFamily="2" charset="-122"/>
                <a:cs typeface="新細明體" pitchFamily="18" charset="-120"/>
              </a:rPr>
              <a:t>维护工单工艺信息</a:t>
            </a:r>
            <a:endParaRPr lang="zh-CN" altLang="en-US" sz="1800">
              <a:solidFill>
                <a:srgbClr val="000000"/>
              </a:solidFill>
              <a:latin typeface="宋体" pitchFamily="2" charset="-122"/>
              <a:ea typeface="宋体" pitchFamily="2" charset="-122"/>
              <a:cs typeface="新細明體" pitchFamily="18" charset="-120"/>
            </a:endParaRPr>
          </a:p>
        </p:txBody>
      </p:sp>
      <p:sp>
        <p:nvSpPr>
          <p:cNvPr id="252" name="流程图: 准备"/>
          <p:cNvSpPr>
            <a:spLocks/>
          </p:cNvSpPr>
          <p:nvPr/>
        </p:nvSpPr>
        <p:spPr>
          <a:xfrm rot="0">
            <a:off x="2419350" y="1198562"/>
            <a:ext cx="2084387" cy="657225"/>
          </a:xfrm>
          <a:prstGeom prst="flowChartPreparation"/>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eaLnBrk="0" latinLnBrk="0" hangingPunct="0">
              <a:lnSpc>
                <a:spcPct val="100000"/>
              </a:lnSpc>
              <a:spcBef>
                <a:spcPts val="0"/>
              </a:spcBef>
              <a:spcAft>
                <a:spcPts val="0"/>
              </a:spcAft>
              <a:buNone/>
            </a:pPr>
            <a:r>
              <a:rPr lang="zh-CN" altLang="en-US" sz="1800">
                <a:solidFill>
                  <a:schemeClr val="tx1"/>
                </a:solidFill>
                <a:latin typeface="Calibri" pitchFamily="0" charset="0"/>
                <a:ea typeface="PMingLiU" pitchFamily="18" charset="-120"/>
                <a:cs typeface="新細明體" pitchFamily="18" charset="-120"/>
              </a:rPr>
              <a:t>START</a:t>
            </a:r>
            <a:endParaRPr lang="zh-CN" altLang="en-US" sz="1800">
              <a:solidFill>
                <a:schemeClr val="tx1"/>
              </a:solidFill>
              <a:latin typeface="Calibri" pitchFamily="0" charset="0"/>
              <a:ea typeface="PMingLiU" pitchFamily="18" charset="-120"/>
              <a:cs typeface="新細明體" pitchFamily="18" charset="-120"/>
            </a:endParaRPr>
          </a:p>
          <a:p>
            <a:pPr marL="0" indent="0" algn="ctr" eaLnBrk="0" latinLnBrk="0" hangingPunct="0">
              <a:lnSpc>
                <a:spcPct val="100000"/>
              </a:lnSpc>
              <a:spcBef>
                <a:spcPts val="0"/>
              </a:spcBef>
              <a:spcAft>
                <a:spcPts val="0"/>
              </a:spcAft>
              <a:buNone/>
            </a:pPr>
            <a:endParaRPr lang="zh-CN" altLang="en-US" sz="1800">
              <a:solidFill>
                <a:srgbClr val="000000"/>
              </a:solidFill>
              <a:latin typeface="Calibri" pitchFamily="0" charset="0"/>
              <a:ea typeface="PMingLiU" pitchFamily="18" charset="-120"/>
              <a:cs typeface="新細明體" pitchFamily="18" charset="-120"/>
            </a:endParaRPr>
          </a:p>
        </p:txBody>
      </p:sp>
      <p:cxnSp>
        <p:nvCxnSpPr>
          <p:cNvPr id="253" name="直线连接线"/>
          <p:cNvCxnSpPr>
            <a:cxnSpLocks/>
            <a:stCxn id="252" idx="2"/>
            <a:endCxn id="250" idx="0"/>
          </p:cNvCxnSpPr>
          <p:nvPr/>
        </p:nvCxnSpPr>
        <p:spPr>
          <a:xfrm rot="0">
            <a:off x="3462337" y="1855787"/>
            <a:ext cx="3175" cy="376237"/>
          </a:xfrm>
          <a:prstGeom prst="straightConnector1"/>
          <a:noFill/>
          <a:ln w="38100" cmpd="sng" cap="flat">
            <a:solidFill>
              <a:srgbClr val="C0504D"/>
            </a:solidFill>
            <a:prstDash val="solid"/>
            <a:miter/>
            <a:tailEnd type="triangle" w="med" len="med"/>
          </a:ln>
        </p:spPr>
      </p:cxnSp>
      <p:cxnSp>
        <p:nvCxnSpPr>
          <p:cNvPr id="254" name="直线连接线"/>
          <p:cNvCxnSpPr>
            <a:cxnSpLocks/>
            <a:stCxn id="250" idx="2"/>
            <a:endCxn id="251" idx="0"/>
          </p:cNvCxnSpPr>
          <p:nvPr/>
        </p:nvCxnSpPr>
        <p:spPr>
          <a:xfrm flipH="1" rot="21600000">
            <a:off x="3460750" y="2735262"/>
            <a:ext cx="4762" cy="395287"/>
          </a:xfrm>
          <a:prstGeom prst="straightConnector1"/>
          <a:noFill/>
          <a:ln w="38100" cmpd="sng" cap="flat">
            <a:solidFill>
              <a:srgbClr val="C0504D"/>
            </a:solidFill>
            <a:prstDash val="solid"/>
            <a:miter/>
            <a:tailEnd type="triangle" w="med" len="med"/>
          </a:ln>
        </p:spPr>
      </p:cxnSp>
      <p:sp>
        <p:nvSpPr>
          <p:cNvPr id="255" name="流程图: 文档"/>
          <p:cNvSpPr>
            <a:spLocks/>
          </p:cNvSpPr>
          <p:nvPr/>
        </p:nvSpPr>
        <p:spPr>
          <a:xfrm rot="0">
            <a:off x="5703888" y="3128962"/>
            <a:ext cx="1943100" cy="504825"/>
          </a:xfrm>
          <a:prstGeom prst="flowChartDocument"/>
          <a:solidFill>
            <a:schemeClr val="accent1"/>
          </a:solidFill>
          <a:ln w="9525" cmpd="sng" cap="flat">
            <a:solidFill>
              <a:srgbClr val="97B854"/>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FFFFFF"/>
                </a:solidFill>
                <a:latin typeface="Calibri" pitchFamily="0" charset="0"/>
                <a:ea typeface="PMingLiU" pitchFamily="18" charset="-120"/>
                <a:cs typeface="新細明體" pitchFamily="18" charset="-120"/>
              </a:rPr>
              <a:t>打印工单工艺</a:t>
            </a:r>
            <a:endParaRPr lang="zh-CN" altLang="en-US" sz="1800">
              <a:solidFill>
                <a:srgbClr val="FFFFFF"/>
              </a:solidFill>
              <a:latin typeface="Calibri" pitchFamily="0" charset="0"/>
              <a:ea typeface="PMingLiU" pitchFamily="18" charset="-120"/>
              <a:cs typeface="新細明體" pitchFamily="18" charset="-120"/>
            </a:endParaRPr>
          </a:p>
        </p:txBody>
      </p:sp>
      <p:cxnSp>
        <p:nvCxnSpPr>
          <p:cNvPr id="256" name="直线连接线"/>
          <p:cNvCxnSpPr>
            <a:cxnSpLocks/>
            <a:stCxn id="251" idx="3"/>
            <a:endCxn id="255" idx="1"/>
          </p:cNvCxnSpPr>
          <p:nvPr/>
        </p:nvCxnSpPr>
        <p:spPr>
          <a:xfrm flipV="1" rot="21600000">
            <a:off x="4541837" y="3381375"/>
            <a:ext cx="1162050" cy="1587"/>
          </a:xfrm>
          <a:prstGeom prst="straightConnector1"/>
          <a:noFill/>
          <a:ln w="38100" cmpd="sng" cap="flat">
            <a:solidFill>
              <a:srgbClr val="C0504D"/>
            </a:solidFill>
            <a:prstDash val="solid"/>
            <a:miter/>
            <a:tailEnd type="triangle" w="med" len="med"/>
          </a:ln>
        </p:spPr>
      </p:cxnSp>
      <p:sp>
        <p:nvSpPr>
          <p:cNvPr id="257" name="圆角矩形"/>
          <p:cNvSpPr>
            <a:spLocks/>
          </p:cNvSpPr>
          <p:nvPr/>
        </p:nvSpPr>
        <p:spPr>
          <a:xfrm rot="0">
            <a:off x="2381250" y="3976687"/>
            <a:ext cx="2160587" cy="503237"/>
          </a:xfrm>
          <a:prstGeom prst="roundRect">
            <a:avLst>
              <a:gd name="adj" fmla="val 16666"/>
            </a:avLst>
          </a:prstGeom>
          <a:solidFill>
            <a:schemeClr val="accent1"/>
          </a:solidFill>
          <a:ln w="9525" cmpd="sng" cap="flat">
            <a:solidFill>
              <a:srgbClr val="4B7EBB"/>
            </a:solidFill>
            <a:prstDash val="solid"/>
            <a:miter/>
          </a:ln>
        </p:spPr>
        <p:txBody>
          <a:bodyPr vert="horz" wrap="non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宋体" pitchFamily="2" charset="-122"/>
                <a:ea typeface="宋体" pitchFamily="2" charset="-122"/>
                <a:cs typeface="新細明體" pitchFamily="18" charset="-120"/>
              </a:rPr>
              <a:t>工单投产</a:t>
            </a:r>
            <a:endParaRPr lang="zh-CN" altLang="en-US" sz="1800">
              <a:solidFill>
                <a:srgbClr val="000000"/>
              </a:solidFill>
              <a:latin typeface="宋体" pitchFamily="2" charset="-122"/>
              <a:ea typeface="宋体" pitchFamily="2" charset="-122"/>
              <a:cs typeface="新細明體" pitchFamily="18" charset="-120"/>
            </a:endParaRPr>
          </a:p>
        </p:txBody>
      </p:sp>
      <p:sp>
        <p:nvSpPr>
          <p:cNvPr id="258" name="圆角矩形"/>
          <p:cNvSpPr>
            <a:spLocks/>
          </p:cNvSpPr>
          <p:nvPr/>
        </p:nvSpPr>
        <p:spPr>
          <a:xfrm rot="0">
            <a:off x="2417762" y="4852988"/>
            <a:ext cx="2160587" cy="503237"/>
          </a:xfrm>
          <a:prstGeom prst="roundRect">
            <a:avLst>
              <a:gd name="adj" fmla="val 16666"/>
            </a:avLst>
          </a:prstGeom>
          <a:solidFill>
            <a:schemeClr val="accent1"/>
          </a:solidFill>
          <a:ln w="9525" cmpd="sng" cap="flat">
            <a:solidFill>
              <a:srgbClr val="4B7EBB"/>
            </a:solidFill>
            <a:prstDash val="solid"/>
            <a:miter/>
          </a:ln>
        </p:spPr>
        <p:txBody>
          <a:bodyPr vert="horz" wrap="none" lIns="91440" tIns="45720" rIns="91440" bIns="45720" anchor="ctr" anchorCtr="0">
            <a:prstTxWarp prst="textNoShape"/>
          </a:bodyPr>
          <a:lstStyle/>
          <a:p>
            <a:pPr marL="0" indent="0" algn="ctr">
              <a:lnSpc>
                <a:spcPct val="100000"/>
              </a:lnSpc>
              <a:spcBef>
                <a:spcPts val="0"/>
              </a:spcBef>
              <a:spcAft>
                <a:spcPts val="0"/>
              </a:spcAft>
              <a:buNone/>
            </a:pPr>
            <a:r>
              <a:rPr lang="zh-CN" altLang="en-US" sz="1800">
                <a:solidFill>
                  <a:srgbClr val="000000"/>
                </a:solidFill>
                <a:latin typeface="宋体" pitchFamily="2" charset="-122"/>
                <a:ea typeface="宋体" pitchFamily="2" charset="-122"/>
                <a:cs typeface="新細明體" pitchFamily="18" charset="-120"/>
              </a:rPr>
              <a:t>工艺派工</a:t>
            </a:r>
            <a:endParaRPr lang="zh-CN" altLang="en-US" sz="1800">
              <a:solidFill>
                <a:srgbClr val="000000"/>
              </a:solidFill>
              <a:latin typeface="宋体" pitchFamily="2" charset="-122"/>
              <a:ea typeface="宋体" pitchFamily="2" charset="-122"/>
              <a:cs typeface="新細明體" pitchFamily="18" charset="-120"/>
            </a:endParaRPr>
          </a:p>
        </p:txBody>
      </p:sp>
      <p:cxnSp>
        <p:nvCxnSpPr>
          <p:cNvPr id="259" name="直线连接线"/>
          <p:cNvCxnSpPr>
            <a:cxnSpLocks/>
            <a:stCxn id="251" idx="2"/>
            <a:endCxn id="257" idx="0"/>
          </p:cNvCxnSpPr>
          <p:nvPr/>
        </p:nvCxnSpPr>
        <p:spPr>
          <a:xfrm rot="0">
            <a:off x="3460750" y="3633787"/>
            <a:ext cx="1587" cy="342900"/>
          </a:xfrm>
          <a:prstGeom prst="straightConnector1"/>
          <a:noFill/>
          <a:ln w="38100" cmpd="sng" cap="flat">
            <a:solidFill>
              <a:srgbClr val="C0504D"/>
            </a:solidFill>
            <a:prstDash val="solid"/>
            <a:miter/>
            <a:tailEnd type="triangle" w="med" len="med"/>
          </a:ln>
        </p:spPr>
      </p:cxnSp>
    </p:spTree>
    <p:extLst>
      <p:ext uri="{BB962C8B-B14F-4D97-AF65-F5344CB8AC3E}">
        <p14:creationId xmlns:p14="http://schemas.microsoft.com/office/powerpoint/2010/main" val="91799369"/>
      </p:ext>
    </p:extLst>
  </p:cSld>
  <p:clrMapOvr>
    <a:masterClrMapping/>
  </p:clrMapOvr>
  <p:transition/>
</p:sld>
</file>

<file path=ppt/slides/slide3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60"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：维护工单信息</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61" name="矩形"/>
          <p:cNvSpPr>
            <a:spLocks/>
          </p:cNvSpPr>
          <p:nvPr/>
        </p:nvSpPr>
        <p:spPr>
          <a:xfrm rot="0">
            <a:off x="109537" y="2041525"/>
            <a:ext cx="2859087" cy="19383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工艺管理、工艺路线可通过品号工厂信息默认，可修改</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工单保存后即根据工艺路线产生工单工艺</a:t>
            </a:r>
            <a:endParaRPr lang="zh-CN" altLang="en-US" sz="2000">
              <a:solidFill>
                <a:srgbClr val="0D0D0D"/>
              </a:solidFill>
              <a:latin typeface="宋体" pitchFamily="2" charset="-122"/>
              <a:ea typeface="宋体" pitchFamily="2" charset="-122"/>
              <a:cs typeface="新細明體" pitchFamily="18" charset="-120"/>
            </a:endParaRPr>
          </a:p>
        </p:txBody>
      </p:sp>
      <p:sp>
        <p:nvSpPr>
          <p:cNvPr id="262"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维护工单</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263" name="图片"/>
          <p:cNvPicPr>
            <a:picLocks noChangeAspect="1"/>
          </p:cNvPicPr>
          <p:nvPr/>
        </p:nvPicPr>
        <p:blipFill>
          <a:blip r:embed="rId1" cstate="print"/>
          <a:stretch>
            <a:fillRect/>
          </a:stretch>
        </p:blipFill>
        <p:spPr>
          <a:xfrm rot="0">
            <a:off x="2967037" y="2000250"/>
            <a:ext cx="6032500" cy="4452937"/>
          </a:xfrm>
          <a:prstGeom prst="rect"/>
          <a:noFill/>
          <a:ln w="9525" cmpd="sng" cap="flat">
            <a:noFill/>
            <a:prstDash val="solid"/>
            <a:miter/>
          </a:ln>
        </p:spPr>
      </p:pic>
    </p:spTree>
    <p:extLst>
      <p:ext uri="{BB962C8B-B14F-4D97-AF65-F5344CB8AC3E}">
        <p14:creationId xmlns:p14="http://schemas.microsoft.com/office/powerpoint/2010/main" val="761444778"/>
      </p:ext>
    </p:extLst>
  </p:cSld>
  <p:clrMapOvr>
    <a:masterClrMapping/>
  </p:clrMapOvr>
  <p:transition/>
</p:sld>
</file>

<file path=ppt/slides/slide3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64" name="矩形"/>
          <p:cNvSpPr>
            <a:spLocks/>
          </p:cNvSpPr>
          <p:nvPr/>
        </p:nvSpPr>
        <p:spPr>
          <a:xfrm rot="0">
            <a:off x="468312" y="1341437"/>
            <a:ext cx="8424862" cy="708025"/>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：可查看工单产生的工单工艺信息，并可对没进行生产的工单工艺信息进行修改</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65" name="矩形"/>
          <p:cNvSpPr>
            <a:spLocks/>
          </p:cNvSpPr>
          <p:nvPr/>
        </p:nvSpPr>
        <p:spPr>
          <a:xfrm rot="0">
            <a:off x="109537" y="2041525"/>
            <a:ext cx="2859087" cy="4708525"/>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工单工艺的数量信息皆由工艺相关作业更新，不可手动修改</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工作中心生产信息中记录了各工作中心</a:t>
            </a:r>
            <a:r>
              <a:rPr lang="zh-CN" altLang="en-US" sz="2000">
                <a:solidFill>
                  <a:srgbClr val="0D0D0D"/>
                </a:solidFill>
                <a:latin typeface="宋体" pitchFamily="2" charset="-122"/>
                <a:ea typeface="宋体" pitchFamily="2" charset="-122"/>
                <a:cs typeface="新細明體" pitchFamily="18" charset="-120"/>
              </a:rPr>
              <a:t>/</a:t>
            </a:r>
            <a:r>
              <a:rPr lang="zh-CN" altLang="en-US" sz="2000">
                <a:solidFill>
                  <a:srgbClr val="0D0D0D"/>
                </a:solidFill>
                <a:latin typeface="宋体" pitchFamily="2" charset="-122"/>
                <a:ea typeface="宋体" pitchFamily="2" charset="-122"/>
                <a:cs typeface="新細明體" pitchFamily="18" charset="-120"/>
              </a:rPr>
              <a:t>供应商的生产进度</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可通过查看待处理的各状态数量，指导用户执行下一步操作</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可通过工具栏按钮“工单投产”执行投产处理</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可通过工具栏按钮“重新更新待投入量”刷新首道工序数量</a:t>
            </a:r>
            <a:endParaRPr lang="zh-CN" altLang="en-US" sz="2000">
              <a:solidFill>
                <a:srgbClr val="0D0D0D"/>
              </a:solidFill>
              <a:latin typeface="宋体" pitchFamily="2" charset="-122"/>
              <a:ea typeface="宋体" pitchFamily="2" charset="-122"/>
              <a:cs typeface="新細明體" pitchFamily="18" charset="-120"/>
            </a:endParaRPr>
          </a:p>
        </p:txBody>
      </p:sp>
      <p:sp>
        <p:nvSpPr>
          <p:cNvPr id="266"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维护工单工艺</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267" name="图片"/>
          <p:cNvPicPr>
            <a:picLocks noChangeAspect="1"/>
          </p:cNvPicPr>
          <p:nvPr/>
        </p:nvPicPr>
        <p:blipFill>
          <a:blip r:embed="rId1" cstate="print"/>
          <a:stretch>
            <a:fillRect/>
          </a:stretch>
        </p:blipFill>
        <p:spPr>
          <a:xfrm rot="0">
            <a:off x="2968625" y="2041525"/>
            <a:ext cx="5981701" cy="4267200"/>
          </a:xfrm>
          <a:prstGeom prst="rect"/>
          <a:noFill/>
          <a:ln w="9525" cmpd="sng" cap="flat">
            <a:noFill/>
            <a:prstDash val="solid"/>
            <a:miter/>
          </a:ln>
        </p:spPr>
      </p:pic>
    </p:spTree>
    <p:extLst>
      <p:ext uri="{BB962C8B-B14F-4D97-AF65-F5344CB8AC3E}">
        <p14:creationId xmlns:p14="http://schemas.microsoft.com/office/powerpoint/2010/main" val="427142013"/>
      </p:ext>
    </p:extLst>
  </p:cSld>
  <p:clrMapOvr>
    <a:masterClrMapping/>
  </p:clrMapOvr>
  <p:transition/>
</p:sld>
</file>

<file path=ppt/slides/slide3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68" name="圆角矩形"/>
          <p:cNvSpPr>
            <a:spLocks/>
          </p:cNvSpPr>
          <p:nvPr/>
        </p:nvSpPr>
        <p:spPr>
          <a:xfrm rot="0">
            <a:off x="900112" y="1177925"/>
            <a:ext cx="7343775" cy="5419725"/>
          </a:xfrm>
          <a:prstGeom prst="roundRect">
            <a:avLst>
              <a:gd name="adj" fmla="val 16666"/>
            </a:avLst>
          </a:prstGeom>
          <a:solidFill>
            <a:srgbClr val="DAE5F2"/>
          </a:solidFill>
          <a:ln w="25400" cmpd="sng" cap="flat">
            <a:solidFill>
              <a:srgbClr val="4F81BD"/>
            </a:solidFill>
            <a:prstDash val="dash"/>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重点栏位说明</a:t>
            </a:r>
            <a:endParaRPr lang="zh-CN" altLang="en-US" sz="1800" b="1">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待投入量</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工单审核后，更新首道工序的待投入量。当预计产量变动或首道工序调整时，可通过按钮“重新更新待投入量”处理。</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正常投入</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工单投产或上一道工序转入的数量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返工投入</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后工序退回返工更新的数量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投入调整</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现场异常数量调整，通过维护工艺操作记录更新</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待</a:t>
            </a:r>
            <a:r>
              <a:rPr lang="zh-CN" altLang="en-US" sz="1800" b="1">
                <a:solidFill>
                  <a:schemeClr val="tx1"/>
                </a:solidFill>
                <a:latin typeface="宋体" pitchFamily="2" charset="-122"/>
                <a:ea typeface="宋体" pitchFamily="2" charset="-122"/>
                <a:cs typeface="新細明體" pitchFamily="18" charset="-120"/>
              </a:rPr>
              <a:t>派工</a:t>
            </a:r>
            <a:r>
              <a:rPr lang="zh-CN" altLang="en-US" sz="1800" b="1">
                <a:solidFill>
                  <a:schemeClr val="tx1"/>
                </a:solidFill>
                <a:latin typeface="宋体" pitchFamily="2" charset="-122"/>
                <a:ea typeface="宋体" pitchFamily="2" charset="-122"/>
                <a:cs typeface="新細明體" pitchFamily="18" charset="-120"/>
              </a:rPr>
              <a:t>量</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工作中心启用派工时，工序有投入未派工的数量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委</a:t>
            </a:r>
            <a:r>
              <a:rPr lang="zh-CN" altLang="en-US" sz="1800" b="1">
                <a:solidFill>
                  <a:schemeClr val="tx1"/>
                </a:solidFill>
                <a:latin typeface="宋体" pitchFamily="2" charset="-122"/>
                <a:ea typeface="宋体" pitchFamily="2" charset="-122"/>
                <a:cs typeface="新細明體" pitchFamily="18" charset="-120"/>
              </a:rPr>
              <a:t>外待收货量</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工艺委外时，供应商已委外未收货的数量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跳站转出</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工序未进行生产，通过“跳站”转移的数量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转出调整</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现场异常数量调整，通过维护工艺操作记录更新</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待检验量</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工序非免检时，加工完成等待检验的数量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待判定量</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工序非免检时，送检后等待判定结果的数量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待转移量</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工序加工完成后，等待转移下道工序的数量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完成数量</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工序通过转移单正常完成的数量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超入量</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工序生产多出预计产出的数量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返工数量</a:t>
            </a:r>
            <a:r>
              <a:rPr lang="zh-CN" altLang="en-US" sz="1800" b="1">
                <a:solidFill>
                  <a:schemeClr val="tx1"/>
                </a:solidFill>
                <a:latin typeface="宋体" pitchFamily="2" charset="-122"/>
                <a:ea typeface="宋体" pitchFamily="2" charset="-122"/>
                <a:cs typeface="新細明體" pitchFamily="18" charset="-120"/>
              </a:rPr>
              <a:t>】</a:t>
            </a:r>
            <a:r>
              <a:rPr lang="zh-CN" altLang="en-US" sz="1800">
                <a:solidFill>
                  <a:schemeClr val="tx1"/>
                </a:solidFill>
                <a:latin typeface="宋体" pitchFamily="2" charset="-122"/>
                <a:ea typeface="宋体" pitchFamily="2" charset="-122"/>
                <a:cs typeface="新細明體" pitchFamily="18" charset="-120"/>
              </a:rPr>
              <a:t>工序通过转移单退回返工的数量</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最早上线时间</a:t>
            </a: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记录首次上线的时间</a:t>
            </a:r>
            <a:endParaRPr lang="zh-CN" altLang="en-US" sz="1800" b="1">
              <a:solidFill>
                <a:schemeClr val="tx1"/>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最晚下线时间</a:t>
            </a:r>
            <a:r>
              <a:rPr lang="zh-CN" altLang="en-US" sz="1800" b="1">
                <a:solidFill>
                  <a:schemeClr val="tx1"/>
                </a:solidFill>
                <a:latin typeface="宋体" pitchFamily="2" charset="-122"/>
                <a:ea typeface="宋体" pitchFamily="2" charset="-122"/>
                <a:cs typeface="新細明體" pitchFamily="18" charset="-120"/>
              </a:rPr>
              <a:t>】</a:t>
            </a:r>
            <a:r>
              <a:rPr lang="zh-CN" altLang="en-US" sz="1800" b="1">
                <a:solidFill>
                  <a:schemeClr val="tx1"/>
                </a:solidFill>
                <a:latin typeface="宋体" pitchFamily="2" charset="-122"/>
                <a:ea typeface="宋体" pitchFamily="2" charset="-122"/>
                <a:cs typeface="新細明體" pitchFamily="18" charset="-120"/>
              </a:rPr>
              <a:t>记录最晚下线的时间</a:t>
            </a: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2000" b="1">
                <a:solidFill>
                  <a:srgbClr val="006600"/>
                </a:solidFill>
                <a:latin typeface="宋体" pitchFamily="2" charset="-122"/>
                <a:ea typeface="宋体" pitchFamily="2" charset="-122"/>
                <a:cs typeface="新細明體" pitchFamily="18" charset="-120"/>
              </a:rPr>
              <a:t>     </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ct val="50000"/>
              </a:spcBef>
              <a:spcAft>
                <a:spcPts val="0"/>
              </a:spcAft>
              <a:buNone/>
            </a:pPr>
            <a:r>
              <a:rPr lang="zh-CN" altLang="en-US" sz="1800" b="1">
                <a:solidFill>
                  <a:schemeClr val="tx1"/>
                </a:solidFill>
                <a:latin typeface="宋体" pitchFamily="2" charset="-122"/>
                <a:ea typeface="宋体" pitchFamily="2" charset="-122"/>
                <a:cs typeface="新細明體" pitchFamily="18" charset="-120"/>
              </a:rPr>
              <a:t> </a:t>
            </a:r>
            <a:endParaRPr lang="zh-CN" altLang="en-US" sz="2000" b="1">
              <a:solidFill>
                <a:srgbClr val="006600"/>
              </a:solidFill>
              <a:latin typeface="宋体" pitchFamily="2" charset="-122"/>
              <a:ea typeface="宋体" pitchFamily="2" charset="-122"/>
              <a:cs typeface="新細明體" pitchFamily="18" charset="-120"/>
            </a:endParaRPr>
          </a:p>
        </p:txBody>
      </p:sp>
      <p:sp>
        <p:nvSpPr>
          <p:cNvPr id="269"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日常作业操作</a:t>
            </a:r>
            <a:r>
              <a:rPr lang="zh-CN" altLang="en-US" sz="3600" b="1">
                <a:solidFill>
                  <a:schemeClr val="tx1"/>
                </a:solidFill>
                <a:latin typeface="黑体" pitchFamily="2" charset="-122"/>
                <a:ea typeface="黑体" pitchFamily="2" charset="-122"/>
                <a:cs typeface="新細明體" pitchFamily="18" charset="-120"/>
              </a:rPr>
              <a:t>－</a:t>
            </a:r>
            <a:r>
              <a:rPr lang="zh-CN" altLang="en-US" sz="3600" b="1">
                <a:solidFill>
                  <a:schemeClr val="tx1"/>
                </a:solidFill>
                <a:latin typeface="黑体" pitchFamily="2" charset="-122"/>
                <a:ea typeface="黑体" pitchFamily="2" charset="-122"/>
                <a:cs typeface="新細明體" pitchFamily="18" charset="-120"/>
              </a:rPr>
              <a:t>维护工单工艺</a:t>
            </a:r>
            <a:endParaRPr lang="zh-CN" altLang="en-US" sz="3600" b="1">
              <a:solidFill>
                <a:schemeClr val="tx1"/>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1831018203"/>
      </p:ext>
    </p:extLst>
  </p:cSld>
  <p:clrMapOvr>
    <a:masterClrMapping/>
  </p:clrMapOvr>
  <p:transition/>
</p:sld>
</file>

<file path=ppt/slides/slide4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70" name="圆角矩形"/>
          <p:cNvSpPr>
            <a:spLocks/>
          </p:cNvSpPr>
          <p:nvPr/>
        </p:nvSpPr>
        <p:spPr>
          <a:xfrm rot="0">
            <a:off x="900112" y="1484312"/>
            <a:ext cx="7343775" cy="679450"/>
          </a:xfrm>
          <a:prstGeom prst="roundRect">
            <a:avLst>
              <a:gd name="adj" fmla="val 16666"/>
            </a:avLst>
          </a:prstGeom>
          <a:solidFill>
            <a:srgbClr val="D7E4BC"/>
          </a:solidFill>
          <a:ln w="25400" cmpd="sng" cap="flat">
            <a:solidFill>
              <a:srgbClr val="4F81BD"/>
            </a:solidFill>
            <a:prstDash val="dash"/>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应用注意事项</a:t>
            </a:r>
            <a:endParaRPr lang="zh-CN" altLang="en-US" sz="1800" b="1">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SzPct val="100000"/>
              <a:buFont typeface="Wingdings" pitchFamily="2" charset="2"/>
              <a:buChar char="u"/>
            </a:pPr>
            <a:r>
              <a:rPr lang="zh-CN" altLang="en-US" sz="1800">
                <a:solidFill>
                  <a:schemeClr val="tx1"/>
                </a:solidFill>
                <a:latin typeface="宋体" pitchFamily="2" charset="-122"/>
                <a:ea typeface="PMingLiU" pitchFamily="18" charset="-120"/>
                <a:cs typeface="新細明體" pitchFamily="18" charset="-120"/>
              </a:rPr>
              <a:t>工单工艺信息已有生产信息时，不可修改</a:t>
            </a:r>
            <a:endParaRPr lang="zh-CN" altLang="en-US" sz="1800">
              <a:solidFill>
                <a:schemeClr val="tx1"/>
              </a:solidFill>
              <a:latin typeface="宋体" pitchFamily="2" charset="-122"/>
              <a:ea typeface="PMingLiU" pitchFamily="18" charset="-120"/>
              <a:cs typeface="新細明體" pitchFamily="18" charset="-120"/>
            </a:endParaRPr>
          </a:p>
        </p:txBody>
      </p:sp>
      <p:sp>
        <p:nvSpPr>
          <p:cNvPr id="271"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日常作业操作</a:t>
            </a:r>
            <a:r>
              <a:rPr lang="zh-CN" altLang="en-US" sz="3600" b="1">
                <a:solidFill>
                  <a:schemeClr val="tx1"/>
                </a:solidFill>
                <a:latin typeface="黑体" pitchFamily="2" charset="-122"/>
                <a:ea typeface="黑体" pitchFamily="2" charset="-122"/>
                <a:cs typeface="新細明體" pitchFamily="18" charset="-120"/>
              </a:rPr>
              <a:t>－</a:t>
            </a:r>
            <a:r>
              <a:rPr lang="zh-CN" altLang="en-US" sz="3600" b="1">
                <a:solidFill>
                  <a:schemeClr val="tx1"/>
                </a:solidFill>
                <a:latin typeface="黑体" pitchFamily="2" charset="-122"/>
                <a:ea typeface="黑体" pitchFamily="2" charset="-122"/>
                <a:cs typeface="新細明體" pitchFamily="18" charset="-120"/>
              </a:rPr>
              <a:t>维护工单工艺</a:t>
            </a:r>
            <a:endParaRPr lang="zh-CN" altLang="en-US" sz="3600" b="1">
              <a:solidFill>
                <a:schemeClr val="tx1"/>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1441170014"/>
      </p:ext>
    </p:extLst>
  </p:cSld>
  <p:clrMapOvr>
    <a:masterClrMapping/>
  </p:clrMapOvr>
  <p:transition/>
</p:sld>
</file>

<file path=ppt/slides/slide4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72"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：对启用工艺管理的工单进行投产处理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73" name="矩形"/>
          <p:cNvSpPr>
            <a:spLocks/>
          </p:cNvSpPr>
          <p:nvPr/>
        </p:nvSpPr>
        <p:spPr>
          <a:xfrm rot="0">
            <a:off x="109537" y="2041525"/>
            <a:ext cx="2859087" cy="286226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查询待投产的工单工艺信息，勾选后执行投产</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可修改数量分批投产</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可在投入地</a:t>
            </a:r>
            <a:r>
              <a:rPr lang="zh-CN" altLang="en-US" sz="2000">
                <a:solidFill>
                  <a:srgbClr val="0D0D0D"/>
                </a:solidFill>
                <a:latin typeface="宋体" pitchFamily="2" charset="-122"/>
                <a:ea typeface="宋体" pitchFamily="2" charset="-122"/>
                <a:cs typeface="新細明體" pitchFamily="18" charset="-120"/>
              </a:rPr>
              <a:t>F3</a:t>
            </a:r>
            <a:r>
              <a:rPr lang="zh-CN" altLang="en-US" sz="2000">
                <a:solidFill>
                  <a:srgbClr val="0D0D0D"/>
                </a:solidFill>
                <a:latin typeface="宋体" pitchFamily="2" charset="-122"/>
                <a:ea typeface="宋体" pitchFamily="2" charset="-122"/>
                <a:cs typeface="新細明體" pitchFamily="18" charset="-120"/>
              </a:rPr>
              <a:t>进行拆分，用于同时投产多个工作中心</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执行后更新工单工艺信息</a:t>
            </a:r>
            <a:endParaRPr lang="zh-CN" altLang="en-US" sz="2000">
              <a:solidFill>
                <a:srgbClr val="0D0D0D"/>
              </a:solidFill>
              <a:latin typeface="宋体" pitchFamily="2" charset="-122"/>
              <a:ea typeface="宋体" pitchFamily="2" charset="-122"/>
              <a:cs typeface="新細明體" pitchFamily="18" charset="-120"/>
            </a:endParaRPr>
          </a:p>
        </p:txBody>
      </p:sp>
      <p:sp>
        <p:nvSpPr>
          <p:cNvPr id="274"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工单投产</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275" name="图片"/>
          <p:cNvPicPr>
            <a:picLocks noChangeAspect="1"/>
          </p:cNvPicPr>
          <p:nvPr/>
        </p:nvPicPr>
        <p:blipFill>
          <a:blip r:embed="rId1" cstate="print"/>
          <a:stretch>
            <a:fillRect/>
          </a:stretch>
        </p:blipFill>
        <p:spPr>
          <a:xfrm rot="0">
            <a:off x="2974975" y="2133600"/>
            <a:ext cx="6083300" cy="3600450"/>
          </a:xfrm>
          <a:prstGeom prst="rect"/>
          <a:noFill/>
          <a:ln w="9525" cmpd="sng" cap="flat">
            <a:noFill/>
            <a:prstDash val="solid"/>
            <a:miter/>
          </a:ln>
        </p:spPr>
      </p:pic>
    </p:spTree>
    <p:extLst>
      <p:ext uri="{BB962C8B-B14F-4D97-AF65-F5344CB8AC3E}">
        <p14:creationId xmlns:p14="http://schemas.microsoft.com/office/powerpoint/2010/main" val="905628250"/>
      </p:ext>
    </p:extLst>
  </p:cSld>
  <p:clrMapOvr>
    <a:masterClrMapping/>
  </p:clrMapOvr>
  <p:transition/>
</p:sld>
</file>

<file path=ppt/slides/slide4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76"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：对投产做取消处理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77" name="矩形"/>
          <p:cNvSpPr>
            <a:spLocks/>
          </p:cNvSpPr>
          <p:nvPr/>
        </p:nvSpPr>
        <p:spPr>
          <a:xfrm rot="0">
            <a:off x="109537" y="2041525"/>
            <a:ext cx="2859087" cy="1016000"/>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取消工单投产为逆反操作，用于撤销原操作</a:t>
            </a:r>
            <a:endParaRPr lang="zh-CN" altLang="en-US" sz="2000">
              <a:solidFill>
                <a:srgbClr val="0D0D0D"/>
              </a:solidFill>
              <a:latin typeface="宋体" pitchFamily="2" charset="-122"/>
              <a:ea typeface="宋体" pitchFamily="2" charset="-122"/>
              <a:cs typeface="新細明體" pitchFamily="18" charset="-120"/>
            </a:endParaRPr>
          </a:p>
        </p:txBody>
      </p:sp>
      <p:sp>
        <p:nvSpPr>
          <p:cNvPr id="278"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取消投产作业</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279" name="图片"/>
          <p:cNvPicPr>
            <a:picLocks noChangeAspect="1"/>
          </p:cNvPicPr>
          <p:nvPr/>
        </p:nvPicPr>
        <p:blipFill>
          <a:blip r:embed="rId1" cstate="print"/>
          <a:stretch>
            <a:fillRect/>
          </a:stretch>
        </p:blipFill>
        <p:spPr>
          <a:xfrm rot="0">
            <a:off x="2995612" y="2041525"/>
            <a:ext cx="5897563" cy="3475037"/>
          </a:xfrm>
          <a:prstGeom prst="rect"/>
          <a:noFill/>
          <a:ln w="9525" cmpd="sng" cap="flat">
            <a:noFill/>
            <a:prstDash val="solid"/>
            <a:miter/>
          </a:ln>
        </p:spPr>
      </p:pic>
    </p:spTree>
    <p:extLst>
      <p:ext uri="{BB962C8B-B14F-4D97-AF65-F5344CB8AC3E}">
        <p14:creationId xmlns:p14="http://schemas.microsoft.com/office/powerpoint/2010/main" val="1822997118"/>
      </p:ext>
    </p:extLst>
  </p:cSld>
  <p:clrMapOvr>
    <a:masterClrMapping/>
  </p:clrMapOvr>
  <p:transition/>
</p:sld>
</file>

<file path=ppt/slides/slide4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80" name="矩形"/>
          <p:cNvSpPr>
            <a:spLocks/>
          </p:cNvSpPr>
          <p:nvPr/>
        </p:nvSpPr>
        <p:spPr>
          <a:xfrm rot="0">
            <a:off x="360362" y="1093787"/>
            <a:ext cx="8423275" cy="401637"/>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：对启用派工的工作中心做派工处理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81"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工艺派工</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282" name="图片"/>
          <p:cNvPicPr>
            <a:picLocks noChangeAspect="1"/>
          </p:cNvPicPr>
          <p:nvPr/>
        </p:nvPicPr>
        <p:blipFill>
          <a:blip r:embed="rId1" cstate="print"/>
          <a:stretch>
            <a:fillRect/>
          </a:stretch>
        </p:blipFill>
        <p:spPr>
          <a:xfrm rot="0">
            <a:off x="2968625" y="1812925"/>
            <a:ext cx="6067425" cy="4495800"/>
          </a:xfrm>
          <a:prstGeom prst="rect"/>
          <a:noFill/>
          <a:ln w="9525" cmpd="sng" cap="flat">
            <a:noFill/>
            <a:prstDash val="solid"/>
            <a:miter/>
          </a:ln>
        </p:spPr>
      </p:pic>
      <p:pic>
        <p:nvPicPr>
          <p:cNvPr id="283" name="图片"/>
          <p:cNvPicPr>
            <a:picLocks noChangeAspect="1"/>
          </p:cNvPicPr>
          <p:nvPr/>
        </p:nvPicPr>
        <p:blipFill>
          <a:blip r:embed="rId2" cstate="print"/>
          <a:stretch>
            <a:fillRect/>
          </a:stretch>
        </p:blipFill>
        <p:spPr>
          <a:xfrm rot="0">
            <a:off x="4338638" y="2565400"/>
            <a:ext cx="4654550" cy="4032250"/>
          </a:xfrm>
          <a:prstGeom prst="rect"/>
          <a:noFill/>
          <a:ln w="9525" cmpd="sng" cap="flat">
            <a:noFill/>
            <a:prstDash val="solid"/>
            <a:miter/>
          </a:ln>
        </p:spPr>
      </p:pic>
      <p:sp>
        <p:nvSpPr>
          <p:cNvPr id="284" name="矩形"/>
          <p:cNvSpPr>
            <a:spLocks/>
          </p:cNvSpPr>
          <p:nvPr/>
        </p:nvSpPr>
        <p:spPr>
          <a:xfrm rot="0">
            <a:off x="109537" y="2041525"/>
            <a:ext cx="2859087" cy="255428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工厂参数中设定是否启用预派工</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不</a:t>
            </a:r>
            <a:r>
              <a:rPr lang="zh-CN" altLang="en-US" sz="2000">
                <a:solidFill>
                  <a:srgbClr val="0D0D0D"/>
                </a:solidFill>
                <a:latin typeface="宋体" pitchFamily="2" charset="-122"/>
                <a:ea typeface="宋体" pitchFamily="2" charset="-122"/>
                <a:cs typeface="新細明體" pitchFamily="18" charset="-120"/>
              </a:rPr>
              <a:t>启用预派工时，只有本道有待派工量才可以派工</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启用预派工时，可在工单开立后做所有工序的派工动作。</a:t>
            </a:r>
            <a:endParaRPr lang="zh-CN" altLang="en-US" sz="2000">
              <a:solidFill>
                <a:srgbClr val="0D0D0D"/>
              </a:solidFill>
              <a:latin typeface="宋体" pitchFamily="2" charset="-122"/>
              <a:ea typeface="宋体" pitchFamily="2" charset="-122"/>
              <a:cs typeface="新細明體" pitchFamily="18" charset="-120"/>
            </a:endParaRPr>
          </a:p>
        </p:txBody>
      </p:sp>
    </p:spTree>
    <p:extLst>
      <p:ext uri="{BB962C8B-B14F-4D97-AF65-F5344CB8AC3E}">
        <p14:creationId xmlns:p14="http://schemas.microsoft.com/office/powerpoint/2010/main" val="9638879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3"/>
                                        </p:tgtEl>
                                        <p:attrNameLst>
                                          <p:attrName>style.visibility</p:attrName>
                                        </p:attrNameLst>
                                      </p:cBhvr>
                                      <p:to>
                                        <p:strVal val="visible"/>
                                      </p:to>
                                    </p:set>
                                    <p:anim calcmode="lin" valueType="num">
                                      <p:cBhvr additive="base">
                                        <p:cTn id="7" dur="500" fill="hold"/>
                                        <p:tgtEl>
                                          <p:spTgt spid="283"/>
                                        </p:tgtEl>
                                        <p:attrNameLst>
                                          <p:attrName>ppt_x</p:attrName>
                                        </p:attrNameLst>
                                      </p:cBhvr>
                                      <p:tavLst>
                                        <p:tav tm="0">
                                          <p:val>
                                            <p:strVal val="#ppt_x"/>
                                          </p:val>
                                        </p:tav>
                                        <p:tav tm="100000">
                                          <p:val>
                                            <p:strVal val="#ppt_x"/>
                                          </p:val>
                                        </p:tav>
                                      </p:tavLst>
                                    </p:anim>
                                    <p:anim calcmode="lin" valueType="num">
                                      <p:cBhvr additive="base">
                                        <p:cTn id="8" dur="500" fill="hold"/>
                                        <p:tgtEl>
                                          <p:spTgt spid="2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85" name="圆角矩形"/>
          <p:cNvSpPr>
            <a:spLocks/>
          </p:cNvSpPr>
          <p:nvPr/>
        </p:nvSpPr>
        <p:spPr>
          <a:xfrm rot="0">
            <a:off x="900112" y="1341437"/>
            <a:ext cx="7481887" cy="4983163"/>
          </a:xfrm>
          <a:prstGeom prst="roundRect">
            <a:avLst>
              <a:gd name="adj" fmla="val 16666"/>
            </a:avLst>
          </a:prstGeom>
          <a:solidFill>
            <a:srgbClr val="DAE5F2"/>
          </a:solidFill>
          <a:ln w="25400" cmpd="sng" cap="flat">
            <a:solidFill>
              <a:srgbClr val="4F81BD"/>
            </a:solidFill>
            <a:prstDash val="dash"/>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重点栏位说明</a:t>
            </a:r>
            <a:endParaRPr lang="zh-CN" altLang="en-US" sz="1800" b="1">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工作中心</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输入本次需派工的工作中心（已启用派工）。</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工艺、工单</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输入工艺、工单作为派工过滤条件。</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统一派工</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如果本次统一派工的话，则无需针对任务逐笔派工，输入派工对象、机时、人时作为默认派工信息。</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机器、班组、人员</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 </a:t>
            </a:r>
            <a:r>
              <a:rPr lang="zh-CN" altLang="en-US" sz="1800">
                <a:solidFill>
                  <a:schemeClr val="tx1"/>
                </a:solidFill>
                <a:latin typeface="宋体" pitchFamily="2" charset="-122"/>
                <a:ea typeface="PMingLiU" pitchFamily="18" charset="-120"/>
                <a:cs typeface="新細明體" pitchFamily="18" charset="-120"/>
              </a:rPr>
              <a:t>根据工作中心对应</a:t>
            </a:r>
            <a:r>
              <a:rPr lang="zh-CN" altLang="en-US" sz="1800">
                <a:solidFill>
                  <a:schemeClr val="tx1"/>
                </a:solidFill>
                <a:latin typeface="宋体" pitchFamily="2" charset="-122"/>
                <a:ea typeface="PMingLiU" pitchFamily="18" charset="-120"/>
                <a:cs typeface="新細明體" pitchFamily="18" charset="-120"/>
              </a:rPr>
              <a:t>的派工对象决定可以</a:t>
            </a:r>
            <a:r>
              <a:rPr lang="zh-CN" altLang="en-US" sz="1800">
                <a:solidFill>
                  <a:schemeClr val="tx1"/>
                </a:solidFill>
                <a:latin typeface="宋体" pitchFamily="2" charset="-122"/>
                <a:ea typeface="PMingLiU" pitchFamily="18" charset="-120"/>
                <a:cs typeface="新細明體" pitchFamily="18" charset="-120"/>
              </a:rPr>
              <a:t>输入哪些栏位。</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查看待派工任务</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查询出符合条件的待派工工单工艺信息</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左箭头</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将左边已选择的待派工任务执行派工</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右箭头</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删除右边已选择的已派工明细</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上、下箭头</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对本次派工明细调整优先顺序</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派</a:t>
            </a:r>
            <a:r>
              <a:rPr lang="zh-CN" altLang="en-US" sz="1800" b="1">
                <a:solidFill>
                  <a:schemeClr val="tx1"/>
                </a:solidFill>
                <a:latin typeface="宋体" pitchFamily="2" charset="-122"/>
                <a:ea typeface="PMingLiU" pitchFamily="18" charset="-120"/>
                <a:cs typeface="新細明體" pitchFamily="18" charset="-120"/>
              </a:rPr>
              <a:t>工数量、机时、人时</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输入</a:t>
            </a:r>
            <a:r>
              <a:rPr lang="zh-CN" altLang="en-US" sz="1800">
                <a:solidFill>
                  <a:schemeClr val="tx1"/>
                </a:solidFill>
                <a:latin typeface="宋体" pitchFamily="2" charset="-122"/>
                <a:ea typeface="PMingLiU" pitchFamily="18" charset="-120"/>
                <a:cs typeface="新細明體" pitchFamily="18" charset="-120"/>
              </a:rPr>
              <a:t>派</a:t>
            </a:r>
            <a:r>
              <a:rPr lang="zh-CN" altLang="en-US" sz="1800">
                <a:solidFill>
                  <a:schemeClr val="tx1"/>
                </a:solidFill>
                <a:latin typeface="宋体" pitchFamily="2" charset="-122"/>
                <a:ea typeface="PMingLiU" pitchFamily="18" charset="-120"/>
                <a:cs typeface="新細明體" pitchFamily="18" charset="-120"/>
              </a:rPr>
              <a:t>工相关信息</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已报工数量</a:t>
            </a:r>
            <a:r>
              <a:rPr lang="zh-CN" altLang="en-US" sz="1800" b="1">
                <a:solidFill>
                  <a:schemeClr val="tx1"/>
                </a:solidFill>
                <a:latin typeface="宋体" pitchFamily="2" charset="-122"/>
                <a:ea typeface="PMingLiU" pitchFamily="18" charset="-120"/>
                <a:cs typeface="新細明體" pitchFamily="18" charset="-120"/>
              </a:rPr>
              <a:t>、机时、人时</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在生产资料收集时，可针对派工记录做报工，并反馈至派工记录上，当数量大于等于派工数量时，状态为自动</a:t>
            </a:r>
            <a:r>
              <a:rPr lang="zh-CN" altLang="en-US" sz="1800">
                <a:solidFill>
                  <a:schemeClr val="tx1"/>
                </a:solidFill>
                <a:latin typeface="宋体" pitchFamily="2" charset="-122"/>
                <a:ea typeface="PMingLiU" pitchFamily="18" charset="-120"/>
                <a:cs typeface="新細明體" pitchFamily="18" charset="-120"/>
              </a:rPr>
              <a:t>完成</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a:t>
            </a:r>
            <a:r>
              <a:rPr lang="zh-CN" altLang="en-US" sz="1800" b="1">
                <a:solidFill>
                  <a:schemeClr val="tx1"/>
                </a:solidFill>
                <a:latin typeface="宋体" pitchFamily="2" charset="-122"/>
                <a:ea typeface="PMingLiU" pitchFamily="18" charset="-120"/>
                <a:cs typeface="新細明體" pitchFamily="18" charset="-120"/>
              </a:rPr>
              <a:t>审核</a:t>
            </a:r>
            <a:r>
              <a:rPr lang="zh-CN" altLang="en-US" sz="1800" b="1">
                <a:solidFill>
                  <a:schemeClr val="tx1"/>
                </a:solidFill>
                <a:latin typeface="宋体" pitchFamily="2" charset="-122"/>
                <a:ea typeface="PMingLiU" pitchFamily="18" charset="-120"/>
                <a:cs typeface="新細明體" pitchFamily="18" charset="-120"/>
              </a:rPr>
              <a:t>】</a:t>
            </a:r>
            <a:r>
              <a:rPr lang="zh-CN" altLang="en-US" sz="1800">
                <a:solidFill>
                  <a:schemeClr val="tx1"/>
                </a:solidFill>
                <a:latin typeface="宋体" pitchFamily="2" charset="-122"/>
                <a:ea typeface="PMingLiU" pitchFamily="18" charset="-120"/>
                <a:cs typeface="新細明體" pitchFamily="18" charset="-120"/>
              </a:rPr>
              <a:t>确认派工记录，并更新工单工艺的待派工数量</a:t>
            </a: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a:solidFill>
                <a:schemeClr val="tx1"/>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18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2000" b="1">
                <a:solidFill>
                  <a:srgbClr val="006600"/>
                </a:solidFill>
                <a:latin typeface="宋体" pitchFamily="2" charset="-122"/>
                <a:ea typeface="宋体" pitchFamily="2" charset="-122"/>
                <a:cs typeface="新細明體" pitchFamily="18" charset="-120"/>
              </a:rPr>
              <a:t>     </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ct val="50000"/>
              </a:spcBef>
              <a:spcAft>
                <a:spcPts val="0"/>
              </a:spcAft>
              <a:buNone/>
            </a:pPr>
            <a:r>
              <a:rPr lang="zh-CN" altLang="en-US" sz="1800" b="1">
                <a:solidFill>
                  <a:schemeClr val="tx1"/>
                </a:solidFill>
                <a:latin typeface="宋体" pitchFamily="2" charset="-122"/>
                <a:ea typeface="宋体" pitchFamily="2" charset="-122"/>
                <a:cs typeface="新細明體" pitchFamily="18" charset="-120"/>
              </a:rPr>
              <a:t> </a:t>
            </a:r>
            <a:endParaRPr lang="zh-CN" altLang="en-US" sz="2000" b="1">
              <a:solidFill>
                <a:srgbClr val="006600"/>
              </a:solidFill>
              <a:latin typeface="宋体" pitchFamily="2" charset="-122"/>
              <a:ea typeface="宋体" pitchFamily="2" charset="-122"/>
              <a:cs typeface="新細明體" pitchFamily="18" charset="-120"/>
            </a:endParaRPr>
          </a:p>
        </p:txBody>
      </p:sp>
      <p:sp>
        <p:nvSpPr>
          <p:cNvPr id="286" name="矩形"/>
          <p:cNvSpPr>
            <a:spLocks/>
          </p:cNvSpPr>
          <p:nvPr/>
        </p:nvSpPr>
        <p:spPr>
          <a:xfrm rot="0">
            <a:off x="0" y="5334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栏位</a:t>
            </a:r>
            <a:r>
              <a:rPr lang="zh-CN" altLang="en-US" sz="3600" b="1">
                <a:solidFill>
                  <a:schemeClr val="tx1"/>
                </a:solidFill>
                <a:latin typeface="Microsoft JhengHei" pitchFamily="34" charset="-120"/>
                <a:ea typeface="Microsoft JhengHei" pitchFamily="34" charset="-120"/>
                <a:cs typeface="新細明體" pitchFamily="18" charset="-120"/>
              </a:rPr>
              <a:t>说明</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工单工艺派工信息</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Tree>
    <p:extLst>
      <p:ext uri="{BB962C8B-B14F-4D97-AF65-F5344CB8AC3E}">
        <p14:creationId xmlns:p14="http://schemas.microsoft.com/office/powerpoint/2010/main" val="467313068"/>
      </p:ext>
    </p:extLst>
  </p:cSld>
  <p:clrMapOvr>
    <a:masterClrMapping/>
  </p:clrMapOvr>
  <p:transition/>
</p:sld>
</file>

<file path=ppt/slides/slide4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87"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：对启用上线的工序进行上线处理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88" name="矩形"/>
          <p:cNvSpPr>
            <a:spLocks/>
          </p:cNvSpPr>
          <p:nvPr/>
        </p:nvSpPr>
        <p:spPr>
          <a:xfrm rot="0">
            <a:off x="109537" y="2041525"/>
            <a:ext cx="2859087" cy="19383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查询待上线的工单工艺信息，勾选后执行上线</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可修改数量分批上线</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执行后更新工单工艺信息</a:t>
            </a:r>
            <a:endParaRPr lang="zh-CN" altLang="en-US" sz="2000">
              <a:solidFill>
                <a:srgbClr val="0D0D0D"/>
              </a:solidFill>
              <a:latin typeface="宋体" pitchFamily="2" charset="-122"/>
              <a:ea typeface="宋体" pitchFamily="2" charset="-122"/>
              <a:cs typeface="新細明體" pitchFamily="18" charset="-120"/>
            </a:endParaRPr>
          </a:p>
        </p:txBody>
      </p:sp>
      <p:sp>
        <p:nvSpPr>
          <p:cNvPr id="289"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工艺</a:t>
            </a:r>
            <a:r>
              <a:rPr lang="zh-CN" altLang="en-US" sz="3600" b="1">
                <a:solidFill>
                  <a:schemeClr val="tx1"/>
                </a:solidFill>
                <a:latin typeface="Microsoft JhengHei" pitchFamily="34" charset="-120"/>
                <a:ea typeface="Microsoft JhengHei" pitchFamily="34" charset="-120"/>
                <a:cs typeface="新細明體" pitchFamily="18" charset="-120"/>
              </a:rPr>
              <a:t>上线</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290" name="图片"/>
          <p:cNvPicPr>
            <a:picLocks noChangeAspect="1"/>
          </p:cNvPicPr>
          <p:nvPr/>
        </p:nvPicPr>
        <p:blipFill>
          <a:blip r:embed="rId1" cstate="print"/>
          <a:stretch>
            <a:fillRect/>
          </a:stretch>
        </p:blipFill>
        <p:spPr>
          <a:xfrm rot="0">
            <a:off x="2959100" y="2041525"/>
            <a:ext cx="6099175" cy="3619500"/>
          </a:xfrm>
          <a:prstGeom prst="rect"/>
          <a:noFill/>
          <a:ln w="9525" cmpd="sng" cap="flat">
            <a:noFill/>
            <a:prstDash val="solid"/>
            <a:miter/>
          </a:ln>
        </p:spPr>
      </p:pic>
    </p:spTree>
    <p:extLst>
      <p:ext uri="{BB962C8B-B14F-4D97-AF65-F5344CB8AC3E}">
        <p14:creationId xmlns:p14="http://schemas.microsoft.com/office/powerpoint/2010/main" val="490603643"/>
      </p:ext>
    </p:extLst>
  </p:cSld>
  <p:clrMapOvr>
    <a:masterClrMapping/>
  </p:clrMapOvr>
  <p:transition/>
</p:sld>
</file>

<file path=ppt/slides/slide4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91"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：对上线做取消处理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92" name="矩形"/>
          <p:cNvSpPr>
            <a:spLocks/>
          </p:cNvSpPr>
          <p:nvPr/>
        </p:nvSpPr>
        <p:spPr>
          <a:xfrm rot="0">
            <a:off x="109537" y="2041525"/>
            <a:ext cx="2859087" cy="708025"/>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为工艺上线的逆反操作，用于撤销原操作</a:t>
            </a:r>
            <a:endParaRPr lang="zh-CN" altLang="en-US" sz="2000">
              <a:solidFill>
                <a:srgbClr val="0D0D0D"/>
              </a:solidFill>
              <a:latin typeface="宋体" pitchFamily="2" charset="-122"/>
              <a:ea typeface="宋体" pitchFamily="2" charset="-122"/>
              <a:cs typeface="新細明體" pitchFamily="18" charset="-120"/>
            </a:endParaRPr>
          </a:p>
        </p:txBody>
      </p:sp>
      <p:sp>
        <p:nvSpPr>
          <p:cNvPr id="293"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工艺取消上线</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294" name="图片"/>
          <p:cNvPicPr>
            <a:picLocks noChangeAspect="1"/>
          </p:cNvPicPr>
          <p:nvPr/>
        </p:nvPicPr>
        <p:blipFill>
          <a:blip r:embed="rId1" cstate="print"/>
          <a:stretch>
            <a:fillRect/>
          </a:stretch>
        </p:blipFill>
        <p:spPr>
          <a:xfrm rot="0">
            <a:off x="2968625" y="1987550"/>
            <a:ext cx="5940425" cy="3817937"/>
          </a:xfrm>
          <a:prstGeom prst="rect"/>
          <a:noFill/>
          <a:ln w="9525" cmpd="sng" cap="flat">
            <a:noFill/>
            <a:prstDash val="solid"/>
            <a:miter/>
          </a:ln>
        </p:spPr>
      </p:pic>
    </p:spTree>
    <p:extLst>
      <p:ext uri="{BB962C8B-B14F-4D97-AF65-F5344CB8AC3E}">
        <p14:creationId xmlns:p14="http://schemas.microsoft.com/office/powerpoint/2010/main" val="911531498"/>
      </p:ext>
    </p:extLst>
  </p:cSld>
  <p:clrMapOvr>
    <a:masterClrMapping/>
  </p:clrMapOvr>
  <p:transition/>
</p:sld>
</file>

<file path=ppt/slides/slide4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95"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：对启用下线的工序进行下线处理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296" name="矩形"/>
          <p:cNvSpPr>
            <a:spLocks/>
          </p:cNvSpPr>
          <p:nvPr/>
        </p:nvSpPr>
        <p:spPr>
          <a:xfrm rot="0">
            <a:off x="109537" y="2041525"/>
            <a:ext cx="2859087" cy="19383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查询待下线的工单工艺信息，勾选后执行下线</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可修改数量分批下线</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执行后更新工单工艺信息</a:t>
            </a:r>
            <a:endParaRPr lang="zh-CN" altLang="en-US" sz="2000">
              <a:solidFill>
                <a:srgbClr val="0D0D0D"/>
              </a:solidFill>
              <a:latin typeface="宋体" pitchFamily="2" charset="-122"/>
              <a:ea typeface="宋体" pitchFamily="2" charset="-122"/>
              <a:cs typeface="新細明體" pitchFamily="18" charset="-120"/>
            </a:endParaRPr>
          </a:p>
        </p:txBody>
      </p:sp>
      <p:sp>
        <p:nvSpPr>
          <p:cNvPr id="297"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工艺下线</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298" name="图片"/>
          <p:cNvPicPr>
            <a:picLocks noChangeAspect="1"/>
          </p:cNvPicPr>
          <p:nvPr/>
        </p:nvPicPr>
        <p:blipFill>
          <a:blip r:embed="rId1" cstate="print"/>
          <a:stretch>
            <a:fillRect/>
          </a:stretch>
        </p:blipFill>
        <p:spPr>
          <a:xfrm rot="0">
            <a:off x="2968625" y="2041525"/>
            <a:ext cx="5924550" cy="4056062"/>
          </a:xfrm>
          <a:prstGeom prst="rect"/>
          <a:noFill/>
          <a:ln w="9525" cmpd="sng" cap="flat">
            <a:noFill/>
            <a:prstDash val="solid"/>
            <a:miter/>
          </a:ln>
        </p:spPr>
      </p:pic>
    </p:spTree>
    <p:extLst>
      <p:ext uri="{BB962C8B-B14F-4D97-AF65-F5344CB8AC3E}">
        <p14:creationId xmlns:p14="http://schemas.microsoft.com/office/powerpoint/2010/main" val="988885426"/>
      </p:ext>
    </p:extLst>
  </p:cSld>
  <p:clrMapOvr>
    <a:masterClrMapping/>
  </p:clrMapOvr>
  <p:transition/>
</p:sld>
</file>

<file path=ppt/slides/slide4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99"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：对下线做取消处理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00" name="矩形"/>
          <p:cNvSpPr>
            <a:spLocks/>
          </p:cNvSpPr>
          <p:nvPr/>
        </p:nvSpPr>
        <p:spPr>
          <a:xfrm rot="0">
            <a:off x="109537" y="2041525"/>
            <a:ext cx="2859087" cy="708025"/>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为工艺下线的逆反操作，用于撤销原操作</a:t>
            </a:r>
            <a:endParaRPr lang="zh-CN" altLang="en-US" sz="2000">
              <a:solidFill>
                <a:srgbClr val="0D0D0D"/>
              </a:solidFill>
              <a:latin typeface="宋体" pitchFamily="2" charset="-122"/>
              <a:ea typeface="宋体" pitchFamily="2" charset="-122"/>
              <a:cs typeface="新細明體" pitchFamily="18" charset="-120"/>
            </a:endParaRPr>
          </a:p>
        </p:txBody>
      </p:sp>
      <p:sp>
        <p:nvSpPr>
          <p:cNvPr id="301"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工艺取消下线</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302" name="图片"/>
          <p:cNvPicPr>
            <a:picLocks noChangeAspect="1"/>
          </p:cNvPicPr>
          <p:nvPr/>
        </p:nvPicPr>
        <p:blipFill>
          <a:blip r:embed="rId1" cstate="print"/>
          <a:stretch>
            <a:fillRect/>
          </a:stretch>
        </p:blipFill>
        <p:spPr>
          <a:xfrm rot="0">
            <a:off x="2968625" y="1844675"/>
            <a:ext cx="5921375" cy="4105275"/>
          </a:xfrm>
          <a:prstGeom prst="rect"/>
          <a:noFill/>
          <a:ln w="9525" cmpd="sng" cap="flat">
            <a:noFill/>
            <a:prstDash val="solid"/>
            <a:miter/>
          </a:ln>
        </p:spPr>
      </p:pic>
    </p:spTree>
    <p:extLst>
      <p:ext uri="{BB962C8B-B14F-4D97-AF65-F5344CB8AC3E}">
        <p14:creationId xmlns:p14="http://schemas.microsoft.com/office/powerpoint/2010/main" val="1735127898"/>
      </p:ext>
    </p:extLst>
  </p:cSld>
  <p:clrMapOvr>
    <a:masterClrMapping/>
  </p:clrMapOvr>
  <p:transition/>
</p:sld>
</file>

<file path=ppt/slides/slide4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03"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：记录工单工艺的质检结果以及判定结果</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04" name="矩形"/>
          <p:cNvSpPr>
            <a:spLocks/>
          </p:cNvSpPr>
          <p:nvPr/>
        </p:nvSpPr>
        <p:spPr>
          <a:xfrm rot="0">
            <a:off x="109537" y="2041525"/>
            <a:ext cx="2859087" cy="31702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质检模式为“仅记录质检结果”的工艺，可在此手工录入质检结果并进行判定</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质检模式为“执行质检流程”的工艺，可在此针对检验单据产生的信息进行判定</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保存或审核后更新工单工艺信息</a:t>
            </a:r>
            <a:endParaRPr lang="zh-CN" altLang="en-US" sz="2000">
              <a:solidFill>
                <a:srgbClr val="0D0D0D"/>
              </a:solidFill>
              <a:latin typeface="宋体" pitchFamily="2" charset="-122"/>
              <a:ea typeface="宋体" pitchFamily="2" charset="-122"/>
              <a:cs typeface="新細明體" pitchFamily="18" charset="-120"/>
            </a:endParaRPr>
          </a:p>
        </p:txBody>
      </p:sp>
      <p:sp>
        <p:nvSpPr>
          <p:cNvPr id="305"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维护工艺质检业务信息</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306" name="图片"/>
          <p:cNvPicPr>
            <a:picLocks noChangeAspect="1"/>
          </p:cNvPicPr>
          <p:nvPr/>
        </p:nvPicPr>
        <p:blipFill>
          <a:blip r:embed="rId1" cstate="print"/>
          <a:stretch>
            <a:fillRect/>
          </a:stretch>
        </p:blipFill>
        <p:spPr>
          <a:xfrm rot="0">
            <a:off x="3059112" y="2008187"/>
            <a:ext cx="5834062" cy="4629150"/>
          </a:xfrm>
          <a:prstGeom prst="rect"/>
          <a:noFill/>
          <a:ln w="9525" cmpd="sng" cap="flat">
            <a:noFill/>
            <a:prstDash val="solid"/>
            <a:miter/>
          </a:ln>
        </p:spPr>
      </p:pic>
    </p:spTree>
    <p:extLst>
      <p:ext uri="{BB962C8B-B14F-4D97-AF65-F5344CB8AC3E}">
        <p14:creationId xmlns:p14="http://schemas.microsoft.com/office/powerpoint/2010/main" val="93655247"/>
      </p:ext>
    </p:extLst>
  </p:cSld>
  <p:clrMapOvr>
    <a:masterClrMapping/>
  </p:clrMapOvr>
  <p:transition/>
</p:sld>
</file>

<file path=ppt/slides/slide5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07" name="矩形"/>
          <p:cNvSpPr>
            <a:spLocks/>
          </p:cNvSpPr>
          <p:nvPr/>
        </p:nvSpPr>
        <p:spPr>
          <a:xfrm rot="0">
            <a:off x="468312" y="1141412"/>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：记录工单工艺中各工序的数量转移信息</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08" name="矩形"/>
          <p:cNvSpPr>
            <a:spLocks/>
          </p:cNvSpPr>
          <p:nvPr/>
        </p:nvSpPr>
        <p:spPr>
          <a:xfrm rot="0">
            <a:off x="0" y="1547812"/>
            <a:ext cx="2859087" cy="50625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1900">
                <a:solidFill>
                  <a:srgbClr val="0D0D0D"/>
                </a:solidFill>
                <a:latin typeface="宋体" pitchFamily="2" charset="-122"/>
                <a:ea typeface="宋体" pitchFamily="2" charset="-122"/>
                <a:cs typeface="新細明體" pitchFamily="18" charset="-120"/>
              </a:rPr>
              <a:t>单身有正常完成、退回返工、返工完成及跳站四种转移类型</a:t>
            </a:r>
            <a:endParaRPr lang="zh-CN" altLang="en-US" sz="19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1900">
                <a:solidFill>
                  <a:srgbClr val="0D0D0D"/>
                </a:solidFill>
                <a:latin typeface="宋体" pitchFamily="2" charset="-122"/>
                <a:ea typeface="宋体" pitchFamily="2" charset="-122"/>
                <a:cs typeface="新細明體" pitchFamily="18" charset="-120"/>
              </a:rPr>
              <a:t>单据性质设置为按序转移时，必须按照工艺路线顺序进行转移</a:t>
            </a:r>
            <a:endParaRPr lang="zh-CN" altLang="en-US" sz="19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1900">
                <a:solidFill>
                  <a:srgbClr val="0D0D0D"/>
                </a:solidFill>
                <a:latin typeface="宋体" pitchFamily="2" charset="-122"/>
                <a:ea typeface="宋体" pitchFamily="2" charset="-122"/>
                <a:cs typeface="新細明體" pitchFamily="18" charset="-120"/>
              </a:rPr>
              <a:t>只有当工艺处在待派工状态且未派工时才可进行跳站处理</a:t>
            </a:r>
            <a:r>
              <a:rPr lang="zh-CN" altLang="en-US" sz="1900">
                <a:solidFill>
                  <a:srgbClr val="0D0D0D"/>
                </a:solidFill>
                <a:latin typeface="宋体" pitchFamily="2" charset="-122"/>
                <a:ea typeface="宋体" pitchFamily="2" charset="-122"/>
                <a:cs typeface="新細明體" pitchFamily="18" charset="-120"/>
              </a:rPr>
              <a:t>(</a:t>
            </a:r>
            <a:r>
              <a:rPr lang="zh-CN" altLang="en-US" sz="1900">
                <a:solidFill>
                  <a:srgbClr val="0D0D0D"/>
                </a:solidFill>
                <a:latin typeface="宋体" pitchFamily="2" charset="-122"/>
                <a:ea typeface="宋体" pitchFamily="2" charset="-122"/>
                <a:cs typeface="新細明體" pitchFamily="18" charset="-120"/>
              </a:rPr>
              <a:t>当前工艺不做加工，直接转移给下一道）</a:t>
            </a:r>
            <a:endParaRPr lang="zh-CN" altLang="en-US" sz="19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1900">
                <a:solidFill>
                  <a:srgbClr val="0D0D0D"/>
                </a:solidFill>
                <a:latin typeface="宋体" pitchFamily="2" charset="-122"/>
                <a:ea typeface="宋体" pitchFamily="2" charset="-122"/>
                <a:cs typeface="新細明體" pitchFamily="18" charset="-120"/>
              </a:rPr>
              <a:t>退回返工时可选择自身进行当站返工</a:t>
            </a:r>
            <a:endParaRPr lang="zh-CN" altLang="en-US" sz="19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1900">
                <a:solidFill>
                  <a:srgbClr val="0D0D0D"/>
                </a:solidFill>
                <a:latin typeface="宋体" pitchFamily="2" charset="-122"/>
                <a:ea typeface="宋体" pitchFamily="2" charset="-122"/>
                <a:cs typeface="新細明體" pitchFamily="18" charset="-120"/>
              </a:rPr>
              <a:t>如果单据类型为“委外时产生采购订单”，则转移单审核产生采购订单进行委外处理</a:t>
            </a:r>
            <a:endParaRPr lang="zh-CN" altLang="en-US" sz="1900">
              <a:solidFill>
                <a:srgbClr val="0D0D0D"/>
              </a:solidFill>
              <a:latin typeface="宋体" pitchFamily="2" charset="-122"/>
              <a:ea typeface="宋体" pitchFamily="2" charset="-122"/>
              <a:cs typeface="新細明體" pitchFamily="18" charset="-120"/>
            </a:endParaRPr>
          </a:p>
        </p:txBody>
      </p:sp>
      <p:sp>
        <p:nvSpPr>
          <p:cNvPr id="309"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维护工艺转移单</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310" name="图片"/>
          <p:cNvPicPr>
            <a:picLocks noChangeAspect="1"/>
          </p:cNvPicPr>
          <p:nvPr/>
        </p:nvPicPr>
        <p:blipFill>
          <a:blip r:embed="rId1" cstate="print"/>
          <a:stretch>
            <a:fillRect/>
          </a:stretch>
        </p:blipFill>
        <p:spPr>
          <a:xfrm rot="0">
            <a:off x="2859087" y="1608137"/>
            <a:ext cx="5927726" cy="5002212"/>
          </a:xfrm>
          <a:prstGeom prst="rect"/>
          <a:noFill/>
          <a:ln w="9525" cmpd="sng" cap="flat">
            <a:noFill/>
            <a:prstDash val="solid"/>
            <a:miter/>
          </a:ln>
        </p:spPr>
      </p:pic>
    </p:spTree>
    <p:extLst>
      <p:ext uri="{BB962C8B-B14F-4D97-AF65-F5344CB8AC3E}">
        <p14:creationId xmlns:p14="http://schemas.microsoft.com/office/powerpoint/2010/main" val="922478118"/>
      </p:ext>
    </p:extLst>
  </p:cSld>
  <p:clrMapOvr>
    <a:masterClrMapping/>
  </p:clrMapOvr>
  <p:transition/>
</p:sld>
</file>

<file path=ppt/slides/slide5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11" name="矩形"/>
          <p:cNvSpPr>
            <a:spLocks/>
          </p:cNvSpPr>
          <p:nvPr/>
        </p:nvSpPr>
        <p:spPr>
          <a:xfrm rot="0">
            <a:off x="468312" y="1141412"/>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：记录工单工艺中各工序的数量转移信息</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12" name="矩形"/>
          <p:cNvSpPr>
            <a:spLocks/>
          </p:cNvSpPr>
          <p:nvPr/>
        </p:nvSpPr>
        <p:spPr>
          <a:xfrm rot="0">
            <a:off x="0" y="1547812"/>
            <a:ext cx="2859087" cy="3016250"/>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1900">
                <a:solidFill>
                  <a:srgbClr val="0D0D0D"/>
                </a:solidFill>
                <a:latin typeface="宋体" pitchFamily="2" charset="-122"/>
                <a:ea typeface="宋体" pitchFamily="2" charset="-122"/>
                <a:cs typeface="新細明體" pitchFamily="18" charset="-120"/>
              </a:rPr>
              <a:t>参数设置为及时收集时，自动生成对应的生产信息收集单</a:t>
            </a:r>
            <a:endParaRPr lang="zh-CN" altLang="en-US" sz="19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1900">
                <a:solidFill>
                  <a:srgbClr val="0D0D0D"/>
                </a:solidFill>
                <a:latin typeface="宋体" pitchFamily="2" charset="-122"/>
                <a:ea typeface="宋体" pitchFamily="2" charset="-122"/>
                <a:cs typeface="新細明體" pitchFamily="18" charset="-120"/>
              </a:rPr>
              <a:t>可以利用单头的派工序号做快速转移及报工</a:t>
            </a:r>
            <a:endParaRPr lang="zh-CN" altLang="en-US" sz="19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1900">
                <a:solidFill>
                  <a:srgbClr val="0D0D0D"/>
                </a:solidFill>
                <a:latin typeface="宋体" pitchFamily="2" charset="-122"/>
                <a:ea typeface="宋体" pitchFamily="2" charset="-122"/>
                <a:cs typeface="新細明體" pitchFamily="18" charset="-120"/>
              </a:rPr>
              <a:t>依工单工艺的标准人时机时推算当前数量对应的人时及时做默认</a:t>
            </a:r>
            <a:endParaRPr lang="zh-CN" altLang="en-US" sz="1900">
              <a:solidFill>
                <a:srgbClr val="0D0D0D"/>
              </a:solidFill>
              <a:latin typeface="宋体" pitchFamily="2" charset="-122"/>
              <a:ea typeface="宋体" pitchFamily="2" charset="-122"/>
              <a:cs typeface="新細明體" pitchFamily="18" charset="-120"/>
            </a:endParaRPr>
          </a:p>
        </p:txBody>
      </p:sp>
      <p:sp>
        <p:nvSpPr>
          <p:cNvPr id="313"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维护工艺转移单</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314" name="图片"/>
          <p:cNvPicPr>
            <a:picLocks noChangeAspect="1"/>
          </p:cNvPicPr>
          <p:nvPr/>
        </p:nvPicPr>
        <p:blipFill>
          <a:blip r:embed="rId1" cstate="print"/>
          <a:stretch>
            <a:fillRect/>
          </a:stretch>
        </p:blipFill>
        <p:spPr>
          <a:xfrm rot="0">
            <a:off x="2859087" y="1608137"/>
            <a:ext cx="5927726" cy="5002212"/>
          </a:xfrm>
          <a:prstGeom prst="rect"/>
          <a:noFill/>
          <a:ln w="9525" cmpd="sng" cap="flat">
            <a:noFill/>
            <a:prstDash val="solid"/>
            <a:miter/>
          </a:ln>
        </p:spPr>
      </p:pic>
    </p:spTree>
    <p:extLst>
      <p:ext uri="{BB962C8B-B14F-4D97-AF65-F5344CB8AC3E}">
        <p14:creationId xmlns:p14="http://schemas.microsoft.com/office/powerpoint/2010/main" val="1523242970"/>
      </p:ext>
    </p:extLst>
  </p:cSld>
  <p:clrMapOvr>
    <a:masterClrMapping/>
  </p:clrMapOvr>
  <p:transition/>
</p:sld>
</file>

<file path=ppt/slides/slide5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15"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：批量处理正常完成的转移业务</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16" name="矩形"/>
          <p:cNvSpPr>
            <a:spLocks/>
          </p:cNvSpPr>
          <p:nvPr/>
        </p:nvSpPr>
        <p:spPr>
          <a:xfrm rot="0">
            <a:off x="109537" y="2041525"/>
            <a:ext cx="2859087" cy="19383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对于大多数的转移业务</a:t>
            </a:r>
            <a:r>
              <a:rPr lang="zh-CN" altLang="en-US" sz="2000">
                <a:solidFill>
                  <a:srgbClr val="0D0D0D"/>
                </a:solidFill>
                <a:latin typeface="宋体" pitchFamily="2" charset="-122"/>
                <a:ea typeface="宋体" pitchFamily="2" charset="-122"/>
                <a:cs typeface="新細明體" pitchFamily="18" charset="-120"/>
              </a:rPr>
              <a:t>-</a:t>
            </a:r>
            <a:r>
              <a:rPr lang="zh-CN" altLang="en-US" sz="2000">
                <a:solidFill>
                  <a:srgbClr val="0D0D0D"/>
                </a:solidFill>
                <a:latin typeface="宋体" pitchFamily="2" charset="-122"/>
                <a:ea typeface="宋体" pitchFamily="2" charset="-122"/>
                <a:cs typeface="新細明體" pitchFamily="18" charset="-120"/>
              </a:rPr>
              <a:t>正常完成，可批量产生转移单</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可通过数量</a:t>
            </a:r>
            <a:r>
              <a:rPr lang="zh-CN" altLang="en-US" sz="2000">
                <a:solidFill>
                  <a:srgbClr val="0D0D0D"/>
                </a:solidFill>
                <a:latin typeface="宋体" pitchFamily="2" charset="-122"/>
                <a:ea typeface="宋体" pitchFamily="2" charset="-122"/>
                <a:cs typeface="新細明體" pitchFamily="18" charset="-120"/>
              </a:rPr>
              <a:t>F2</a:t>
            </a:r>
            <a:r>
              <a:rPr lang="zh-CN" altLang="en-US" sz="2000">
                <a:solidFill>
                  <a:srgbClr val="0D0D0D"/>
                </a:solidFill>
                <a:latin typeface="宋体" pitchFamily="2" charset="-122"/>
                <a:ea typeface="宋体" pitchFamily="2" charset="-122"/>
                <a:cs typeface="新細明體" pitchFamily="18" charset="-120"/>
              </a:rPr>
              <a:t>异常数量维护，填写超入量、报废数量、破坏数量</a:t>
            </a:r>
            <a:endParaRPr lang="zh-CN" altLang="en-US" sz="2000">
              <a:solidFill>
                <a:srgbClr val="0D0D0D"/>
              </a:solidFill>
              <a:latin typeface="宋体" pitchFamily="2" charset="-122"/>
              <a:ea typeface="宋体" pitchFamily="2" charset="-122"/>
              <a:cs typeface="新細明體" pitchFamily="18" charset="-120"/>
            </a:endParaRPr>
          </a:p>
        </p:txBody>
      </p:sp>
      <p:sp>
        <p:nvSpPr>
          <p:cNvPr id="317"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整批转移</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318" name="图片"/>
          <p:cNvPicPr>
            <a:picLocks noChangeAspect="1"/>
          </p:cNvPicPr>
          <p:nvPr/>
        </p:nvPicPr>
        <p:blipFill>
          <a:blip r:embed="rId1" cstate="print"/>
          <a:stretch>
            <a:fillRect/>
          </a:stretch>
        </p:blipFill>
        <p:spPr>
          <a:xfrm rot="0">
            <a:off x="2968625" y="2041525"/>
            <a:ext cx="5986463" cy="3979862"/>
          </a:xfrm>
          <a:prstGeom prst="rect"/>
          <a:noFill/>
          <a:ln w="9525" cmpd="sng" cap="flat">
            <a:noFill/>
            <a:prstDash val="solid"/>
            <a:miter/>
          </a:ln>
        </p:spPr>
      </p:pic>
    </p:spTree>
    <p:extLst>
      <p:ext uri="{BB962C8B-B14F-4D97-AF65-F5344CB8AC3E}">
        <p14:creationId xmlns:p14="http://schemas.microsoft.com/office/powerpoint/2010/main" val="1662050274"/>
      </p:ext>
    </p:extLst>
  </p:cSld>
  <p:clrMapOvr>
    <a:masterClrMapping/>
  </p:clrMapOvr>
  <p:transition/>
</p:sld>
</file>

<file path=ppt/slides/slide5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19"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：记录工单工艺中末道工序的入库信息</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20" name="矩形"/>
          <p:cNvSpPr>
            <a:spLocks/>
          </p:cNvSpPr>
          <p:nvPr/>
        </p:nvSpPr>
        <p:spPr>
          <a:xfrm rot="0">
            <a:off x="0" y="1949450"/>
            <a:ext cx="2859087" cy="44021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入库时单身类型默认且仅有正常完成</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对于生产过程中的联副产品，可选择对应的产出类型进行入库处理</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移入地为仓库且需根据设定维护库位以及批号信息</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审核后根据单据性质的设定产生对应的生产入库单据</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审核时根据设定控管超领、缺领、超入</a:t>
            </a:r>
            <a:endParaRPr lang="zh-CN" altLang="en-US" sz="2000">
              <a:solidFill>
                <a:srgbClr val="0D0D0D"/>
              </a:solidFill>
              <a:latin typeface="宋体" pitchFamily="2" charset="-122"/>
              <a:ea typeface="宋体" pitchFamily="2" charset="-122"/>
              <a:cs typeface="新細明體" pitchFamily="18" charset="-120"/>
            </a:endParaRPr>
          </a:p>
        </p:txBody>
      </p:sp>
      <p:sp>
        <p:nvSpPr>
          <p:cNvPr id="321"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维护工艺入库单</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322" name="图片"/>
          <p:cNvPicPr>
            <a:picLocks noChangeAspect="1"/>
          </p:cNvPicPr>
          <p:nvPr/>
        </p:nvPicPr>
        <p:blipFill>
          <a:blip r:embed="rId1" cstate="print"/>
          <a:stretch>
            <a:fillRect/>
          </a:stretch>
        </p:blipFill>
        <p:spPr>
          <a:xfrm rot="0">
            <a:off x="2859087" y="1812925"/>
            <a:ext cx="5889625" cy="4673600"/>
          </a:xfrm>
          <a:prstGeom prst="rect"/>
          <a:noFill/>
          <a:ln w="9525" cmpd="sng" cap="flat">
            <a:noFill/>
            <a:prstDash val="solid"/>
            <a:miter/>
          </a:ln>
        </p:spPr>
      </p:pic>
    </p:spTree>
    <p:extLst>
      <p:ext uri="{BB962C8B-B14F-4D97-AF65-F5344CB8AC3E}">
        <p14:creationId xmlns:p14="http://schemas.microsoft.com/office/powerpoint/2010/main" val="853304504"/>
      </p:ext>
    </p:extLst>
  </p:cSld>
  <p:clrMapOvr>
    <a:masterClrMapping/>
  </p:clrMapOvr>
  <p:transition/>
</p:sld>
</file>

<file path=ppt/slides/slide5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23"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：记录工单工艺生产操作的执行日志</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24" name="矩形"/>
          <p:cNvSpPr>
            <a:spLocks/>
          </p:cNvSpPr>
          <p:nvPr/>
        </p:nvSpPr>
        <p:spPr>
          <a:xfrm rot="0">
            <a:off x="0" y="1949450"/>
            <a:ext cx="3440112" cy="1631950"/>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记录工艺生产各环节的操作日志，用于历史数据查询</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可录入调整数据，用于工单工艺在制数量异常调整</a:t>
            </a:r>
            <a:endParaRPr lang="zh-CN" altLang="en-US" sz="2000">
              <a:solidFill>
                <a:srgbClr val="0D0D0D"/>
              </a:solidFill>
              <a:latin typeface="宋体" pitchFamily="2" charset="-122"/>
              <a:ea typeface="宋体" pitchFamily="2" charset="-122"/>
              <a:cs typeface="新細明體" pitchFamily="18" charset="-120"/>
            </a:endParaRPr>
          </a:p>
        </p:txBody>
      </p:sp>
      <p:sp>
        <p:nvSpPr>
          <p:cNvPr id="325"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维护工艺操作记录</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326" name="图片"/>
          <p:cNvPicPr>
            <a:picLocks noChangeAspect="1"/>
          </p:cNvPicPr>
          <p:nvPr/>
        </p:nvPicPr>
        <p:blipFill>
          <a:blip r:embed="rId1" cstate="print"/>
          <a:stretch>
            <a:fillRect/>
          </a:stretch>
        </p:blipFill>
        <p:spPr>
          <a:xfrm rot="0">
            <a:off x="3452812" y="1949450"/>
            <a:ext cx="5295900" cy="4752975"/>
          </a:xfrm>
          <a:prstGeom prst="rect"/>
          <a:noFill/>
          <a:ln w="9525" cmpd="sng" cap="flat">
            <a:noFill/>
            <a:prstDash val="solid"/>
            <a:miter/>
          </a:ln>
        </p:spPr>
      </p:pic>
    </p:spTree>
    <p:extLst>
      <p:ext uri="{BB962C8B-B14F-4D97-AF65-F5344CB8AC3E}">
        <p14:creationId xmlns:p14="http://schemas.microsoft.com/office/powerpoint/2010/main" val="421266212"/>
      </p:ext>
    </p:extLst>
  </p:cSld>
  <p:clrMapOvr>
    <a:masterClrMapping/>
  </p:clrMapOvr>
  <p:transition/>
</p:sld>
</file>

<file path=ppt/slides/slide5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27"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：根据工作中心设定的模板或者标准进行生产信息收集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28" name="矩形"/>
          <p:cNvSpPr>
            <a:spLocks/>
          </p:cNvSpPr>
          <p:nvPr/>
        </p:nvSpPr>
        <p:spPr>
          <a:xfrm rot="0">
            <a:off x="0" y="1949450"/>
            <a:ext cx="3440112" cy="31702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根据收集的工作中心，可挑选之前分配的模板</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根据模板内容展开需收集的项目，以及收集的维度等</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如果是收集标准的人时机时，可不用模板，用标准生产信息收集单做收集</a:t>
            </a:r>
            <a:endParaRPr lang="zh-CN" altLang="en-US" sz="2000">
              <a:solidFill>
                <a:srgbClr val="0D0D0D"/>
              </a:solidFill>
              <a:latin typeface="宋体" pitchFamily="2" charset="-122"/>
              <a:ea typeface="宋体" pitchFamily="2" charset="-122"/>
              <a:cs typeface="新細明體" pitchFamily="18" charset="-120"/>
            </a:endParaRPr>
          </a:p>
        </p:txBody>
      </p:sp>
      <p:sp>
        <p:nvSpPr>
          <p:cNvPr id="329"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维护生产信息收集单</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330" name="图片"/>
          <p:cNvPicPr>
            <a:picLocks noChangeAspect="1"/>
          </p:cNvPicPr>
          <p:nvPr/>
        </p:nvPicPr>
        <p:blipFill>
          <a:blip r:embed="rId1" cstate="print"/>
          <a:stretch>
            <a:fillRect/>
          </a:stretch>
        </p:blipFill>
        <p:spPr>
          <a:xfrm rot="0">
            <a:off x="3322637" y="1949450"/>
            <a:ext cx="5570538" cy="4216400"/>
          </a:xfrm>
          <a:prstGeom prst="rect"/>
          <a:noFill/>
          <a:ln w="9525" cmpd="sng" cap="flat">
            <a:noFill/>
            <a:prstDash val="solid"/>
            <a:miter/>
          </a:ln>
        </p:spPr>
      </p:pic>
    </p:spTree>
    <p:extLst>
      <p:ext uri="{BB962C8B-B14F-4D97-AF65-F5344CB8AC3E}">
        <p14:creationId xmlns:p14="http://schemas.microsoft.com/office/powerpoint/2010/main" val="1860262643"/>
      </p:ext>
    </p:extLst>
  </p:cSld>
  <p:clrMapOvr>
    <a:masterClrMapping/>
  </p:clrMapOvr>
  <p:transition/>
</p:sld>
</file>

<file path=ppt/slides/slide5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31" name="矩形"/>
          <p:cNvSpPr>
            <a:spLocks/>
          </p:cNvSpPr>
          <p:nvPr/>
        </p:nvSpPr>
        <p:spPr>
          <a:xfrm rot="0">
            <a:off x="468312" y="1341437"/>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：用于个别情况下，对在制工单工艺的数量进行调整</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32" name="矩形"/>
          <p:cNvSpPr>
            <a:spLocks/>
          </p:cNvSpPr>
          <p:nvPr/>
        </p:nvSpPr>
        <p:spPr>
          <a:xfrm rot="0">
            <a:off x="0" y="1949450"/>
            <a:ext cx="3440112" cy="31702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可将来源工单工艺的待派工、待转移数量拨转至其他工单工艺，例如工单拆分后，将原工单的工艺在制拨转到新工单上</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也可在同一个工单工艺的不同工作中心之间进行拨转，用于产能不足时的派工调整</a:t>
            </a:r>
            <a:endParaRPr lang="zh-CN" altLang="en-US" sz="2000">
              <a:solidFill>
                <a:srgbClr val="0D0D0D"/>
              </a:solidFill>
              <a:latin typeface="宋体" pitchFamily="2" charset="-122"/>
              <a:ea typeface="宋体" pitchFamily="2" charset="-122"/>
              <a:cs typeface="新細明體" pitchFamily="18" charset="-120"/>
            </a:endParaRPr>
          </a:p>
        </p:txBody>
      </p:sp>
      <p:sp>
        <p:nvSpPr>
          <p:cNvPr id="333"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维护工艺拨转</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334" name="图片"/>
          <p:cNvPicPr>
            <a:picLocks noChangeAspect="1"/>
          </p:cNvPicPr>
          <p:nvPr/>
        </p:nvPicPr>
        <p:blipFill>
          <a:blip r:embed="rId1" cstate="print"/>
          <a:stretch>
            <a:fillRect/>
          </a:stretch>
        </p:blipFill>
        <p:spPr>
          <a:xfrm rot="0">
            <a:off x="3346450" y="1928812"/>
            <a:ext cx="5618163" cy="4379912"/>
          </a:xfrm>
          <a:prstGeom prst="rect"/>
          <a:noFill/>
          <a:ln w="9525" cmpd="sng" cap="flat">
            <a:noFill/>
            <a:prstDash val="solid"/>
            <a:miter/>
          </a:ln>
        </p:spPr>
      </p:pic>
    </p:spTree>
    <p:extLst>
      <p:ext uri="{BB962C8B-B14F-4D97-AF65-F5344CB8AC3E}">
        <p14:creationId xmlns:p14="http://schemas.microsoft.com/office/powerpoint/2010/main" val="386846882"/>
      </p:ext>
    </p:extLst>
  </p:cSld>
  <p:clrMapOvr>
    <a:masterClrMapping/>
  </p:clrMapOvr>
  <p:transition/>
</p:sld>
</file>

<file path=ppt/slides/slide5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35"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工艺条码</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工艺</a:t>
            </a:r>
            <a:r>
              <a:rPr lang="zh-CN" altLang="en-US" sz="3600" b="1">
                <a:solidFill>
                  <a:schemeClr val="tx1"/>
                </a:solidFill>
                <a:latin typeface="Microsoft JhengHei" pitchFamily="34" charset="-120"/>
                <a:ea typeface="Microsoft JhengHei" pitchFamily="34" charset="-120"/>
                <a:cs typeface="新細明體" pitchFamily="18" charset="-120"/>
              </a:rPr>
              <a:t>应用流程</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336" name="圆角矩形"/>
          <p:cNvSpPr>
            <a:spLocks/>
          </p:cNvSpPr>
          <p:nvPr/>
        </p:nvSpPr>
        <p:spPr>
          <a:xfrm rot="0">
            <a:off x="1550987" y="2416175"/>
            <a:ext cx="5764212" cy="2655887"/>
          </a:xfrm>
          <a:prstGeom prst="roundRect">
            <a:avLst>
              <a:gd name="adj" fmla="val 16666"/>
            </a:avLst>
          </a:prstGeom>
          <a:solidFill>
            <a:srgbClr val="FFFFFF"/>
          </a:solidFill>
          <a:ln w="25400" cmpd="sng" cap="flat">
            <a:solidFill>
              <a:srgbClr val="F79646"/>
            </a:solidFill>
            <a:prstDash val="solid"/>
            <a:miter/>
          </a:ln>
        </p:spPr>
      </p:sp>
      <p:sp>
        <p:nvSpPr>
          <p:cNvPr id="337" name="圆角矩形"/>
          <p:cNvSpPr>
            <a:spLocks/>
          </p:cNvSpPr>
          <p:nvPr/>
        </p:nvSpPr>
        <p:spPr>
          <a:xfrm rot="0">
            <a:off x="1870075" y="1885950"/>
            <a:ext cx="1512887"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维护工单工艺信息</a:t>
            </a:r>
            <a:endParaRPr lang="zh-CN" altLang="en-US" sz="1200">
              <a:solidFill>
                <a:srgbClr val="000000"/>
              </a:solidFill>
              <a:latin typeface="Calibri" pitchFamily="0" charset="0"/>
              <a:ea typeface="PMingLiU" pitchFamily="18" charset="-120"/>
              <a:cs typeface="新細明體" pitchFamily="18" charset="-120"/>
            </a:endParaRPr>
          </a:p>
        </p:txBody>
      </p:sp>
      <p:sp>
        <p:nvSpPr>
          <p:cNvPr id="338" name="圆角矩形"/>
          <p:cNvSpPr>
            <a:spLocks/>
          </p:cNvSpPr>
          <p:nvPr/>
        </p:nvSpPr>
        <p:spPr>
          <a:xfrm rot="0">
            <a:off x="2030412" y="2628900"/>
            <a:ext cx="1187450" cy="360362"/>
          </a:xfrm>
          <a:prstGeom prst="roundRect">
            <a:avLst>
              <a:gd name="adj" fmla="val 16666"/>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chemeClr val="bg1"/>
                </a:solidFill>
                <a:latin typeface="Calibri" pitchFamily="0" charset="0"/>
                <a:ea typeface="PMingLiU" pitchFamily="18" charset="-120"/>
                <a:cs typeface="新細明體" pitchFamily="18" charset="-120"/>
              </a:rPr>
              <a:t>工单投产</a:t>
            </a:r>
            <a:endParaRPr lang="zh-CN" altLang="en-US" sz="1200">
              <a:solidFill>
                <a:schemeClr val="bg1"/>
              </a:solidFill>
              <a:latin typeface="Calibri" pitchFamily="0" charset="0"/>
              <a:ea typeface="PMingLiU" pitchFamily="18" charset="-120"/>
              <a:cs typeface="新細明體" pitchFamily="18" charset="-120"/>
            </a:endParaRPr>
          </a:p>
        </p:txBody>
      </p:sp>
      <p:cxnSp>
        <p:nvCxnSpPr>
          <p:cNvPr id="339" name="直线连接线"/>
          <p:cNvCxnSpPr>
            <a:cxnSpLocks/>
            <a:stCxn id="337" idx="2"/>
            <a:endCxn id="338" idx="0"/>
          </p:cNvCxnSpPr>
          <p:nvPr/>
        </p:nvCxnSpPr>
        <p:spPr>
          <a:xfrm flipH="1" rot="21600000">
            <a:off x="2624137" y="2246312"/>
            <a:ext cx="3175" cy="382587"/>
          </a:xfrm>
          <a:prstGeom prst="straightConnector1"/>
          <a:noFill/>
          <a:ln w="25400" cmpd="sng" cap="flat">
            <a:solidFill>
              <a:srgbClr val="8064A2"/>
            </a:solidFill>
            <a:prstDash val="solid"/>
            <a:miter/>
            <a:tailEnd type="arrow" w="med" len="med"/>
          </a:ln>
        </p:spPr>
      </p:cxnSp>
      <p:sp>
        <p:nvSpPr>
          <p:cNvPr id="340" name="圆角矩形"/>
          <p:cNvSpPr>
            <a:spLocks/>
          </p:cNvSpPr>
          <p:nvPr/>
        </p:nvSpPr>
        <p:spPr>
          <a:xfrm rot="0">
            <a:off x="4929187" y="5268913"/>
            <a:ext cx="1368425"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维护工艺转移单</a:t>
            </a:r>
            <a:endParaRPr lang="zh-CN" altLang="en-US" sz="1200">
              <a:solidFill>
                <a:srgbClr val="000000"/>
              </a:solidFill>
              <a:latin typeface="Calibri" pitchFamily="0" charset="0"/>
              <a:ea typeface="PMingLiU" pitchFamily="18" charset="-120"/>
              <a:cs typeface="新細明體" pitchFamily="18" charset="-120"/>
            </a:endParaRPr>
          </a:p>
        </p:txBody>
      </p:sp>
      <p:cxnSp>
        <p:nvCxnSpPr>
          <p:cNvPr id="341" name="直线连接线"/>
          <p:cNvCxnSpPr>
            <a:cxnSpLocks/>
            <a:stCxn id="337" idx="2"/>
            <a:endCxn id="354" idx="0"/>
          </p:cNvCxnSpPr>
          <p:nvPr/>
        </p:nvCxnSpPr>
        <p:spPr>
          <a:xfrm flipH="1" rot="21600000">
            <a:off x="5602288" y="3565525"/>
            <a:ext cx="4762" cy="577850"/>
          </a:xfrm>
          <a:prstGeom prst="straightConnector1"/>
          <a:noFill/>
          <a:ln w="25400" cmpd="sng" cap="flat">
            <a:solidFill>
              <a:srgbClr val="8064A2"/>
            </a:solidFill>
            <a:prstDash val="solid"/>
            <a:miter/>
            <a:tailEnd type="arrow" w="med" len="med"/>
          </a:ln>
        </p:spPr>
      </p:cxnSp>
      <p:grpSp>
        <p:nvGrpSpPr>
          <p:cNvPr id="344" name="组合"/>
          <p:cNvGrpSpPr>
            <a:grpSpLocks/>
          </p:cNvGrpSpPr>
          <p:nvPr/>
        </p:nvGrpSpPr>
        <p:grpSpPr>
          <a:xfrm>
            <a:off x="2030412" y="3962400"/>
            <a:ext cx="1192212" cy="720724"/>
            <a:chOff x="2030412" y="3962400"/>
            <a:chExt cx="1192212" cy="720724"/>
          </a:xfrm>
        </p:grpSpPr>
        <p:sp>
          <p:nvSpPr>
            <p:cNvPr id="342" name="圆角矩形"/>
            <p:cNvSpPr>
              <a:spLocks/>
            </p:cNvSpPr>
            <p:nvPr/>
          </p:nvSpPr>
          <p:spPr>
            <a:xfrm rot="0">
              <a:off x="2030412" y="3962400"/>
              <a:ext cx="1187450" cy="360362"/>
            </a:xfrm>
            <a:prstGeom prst="roundRect">
              <a:avLst>
                <a:gd name="adj" fmla="val 16666"/>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chemeClr val="bg1"/>
                  </a:solidFill>
                  <a:latin typeface="Calibri" pitchFamily="0" charset="0"/>
                  <a:ea typeface="PMingLiU" pitchFamily="18" charset="-120"/>
                  <a:cs typeface="新細明體" pitchFamily="18" charset="-120"/>
                </a:rPr>
                <a:t>工艺上线</a:t>
              </a:r>
              <a:endParaRPr lang="zh-CN" altLang="en-US" sz="1200">
                <a:solidFill>
                  <a:schemeClr val="bg1"/>
                </a:solidFill>
                <a:latin typeface="Calibri" pitchFamily="0" charset="0"/>
                <a:ea typeface="PMingLiU" pitchFamily="18" charset="-120"/>
                <a:cs typeface="新細明體" pitchFamily="18" charset="-120"/>
              </a:endParaRPr>
            </a:p>
          </p:txBody>
        </p:sp>
        <p:sp>
          <p:nvSpPr>
            <p:cNvPr id="343" name="圆角矩形"/>
            <p:cNvSpPr>
              <a:spLocks/>
            </p:cNvSpPr>
            <p:nvPr/>
          </p:nvSpPr>
          <p:spPr>
            <a:xfrm rot="0">
              <a:off x="2035175" y="4322763"/>
              <a:ext cx="1187450" cy="360362"/>
            </a:xfrm>
            <a:prstGeom prst="roundRect">
              <a:avLst>
                <a:gd name="adj" fmla="val 16666"/>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chemeClr val="bg1"/>
                  </a:solidFill>
                  <a:latin typeface="Calibri" pitchFamily="0" charset="0"/>
                  <a:ea typeface="PMingLiU" pitchFamily="18" charset="-120"/>
                  <a:cs typeface="新細明體" pitchFamily="18" charset="-120"/>
                </a:rPr>
                <a:t>工艺取消上线</a:t>
              </a:r>
              <a:endParaRPr lang="zh-CN" altLang="en-US" sz="1200">
                <a:solidFill>
                  <a:schemeClr val="bg1"/>
                </a:solidFill>
                <a:latin typeface="Calibri" pitchFamily="0" charset="0"/>
                <a:ea typeface="PMingLiU" pitchFamily="18" charset="-120"/>
                <a:cs typeface="新細明體" pitchFamily="18" charset="-120"/>
              </a:endParaRPr>
            </a:p>
          </p:txBody>
        </p:sp>
      </p:grpSp>
      <p:grpSp>
        <p:nvGrpSpPr>
          <p:cNvPr id="347" name="组合"/>
          <p:cNvGrpSpPr>
            <a:grpSpLocks/>
          </p:cNvGrpSpPr>
          <p:nvPr/>
        </p:nvGrpSpPr>
        <p:grpSpPr>
          <a:xfrm>
            <a:off x="5008563" y="2857500"/>
            <a:ext cx="1192212" cy="708025"/>
            <a:chOff x="5008563" y="2857500"/>
            <a:chExt cx="1192212" cy="708025"/>
          </a:xfrm>
        </p:grpSpPr>
        <p:sp>
          <p:nvSpPr>
            <p:cNvPr id="345" name="圆角矩形"/>
            <p:cNvSpPr>
              <a:spLocks/>
            </p:cNvSpPr>
            <p:nvPr/>
          </p:nvSpPr>
          <p:spPr>
            <a:xfrm rot="0">
              <a:off x="5008563" y="2857500"/>
              <a:ext cx="1187450" cy="360362"/>
            </a:xfrm>
            <a:prstGeom prst="roundRect">
              <a:avLst>
                <a:gd name="adj" fmla="val 16666"/>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chemeClr val="bg1"/>
                  </a:solidFill>
                  <a:latin typeface="Calibri" pitchFamily="0" charset="0"/>
                  <a:ea typeface="PMingLiU" pitchFamily="18" charset="-120"/>
                  <a:cs typeface="新細明體" pitchFamily="18" charset="-120"/>
                </a:rPr>
                <a:t>工艺下线</a:t>
              </a:r>
              <a:endParaRPr lang="zh-CN" altLang="en-US" sz="1200">
                <a:solidFill>
                  <a:schemeClr val="bg1"/>
                </a:solidFill>
                <a:latin typeface="Calibri" pitchFamily="0" charset="0"/>
                <a:ea typeface="PMingLiU" pitchFamily="18" charset="-120"/>
                <a:cs typeface="新細明體" pitchFamily="18" charset="-120"/>
              </a:endParaRPr>
            </a:p>
          </p:txBody>
        </p:sp>
        <p:sp>
          <p:nvSpPr>
            <p:cNvPr id="346" name="圆角矩形"/>
            <p:cNvSpPr>
              <a:spLocks/>
            </p:cNvSpPr>
            <p:nvPr/>
          </p:nvSpPr>
          <p:spPr>
            <a:xfrm rot="0">
              <a:off x="5013325" y="3205162"/>
              <a:ext cx="1187450" cy="360362"/>
            </a:xfrm>
            <a:prstGeom prst="roundRect">
              <a:avLst>
                <a:gd name="adj" fmla="val 16666"/>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chemeClr val="bg1"/>
                  </a:solidFill>
                  <a:latin typeface="Calibri" pitchFamily="0" charset="0"/>
                  <a:ea typeface="PMingLiU" pitchFamily="18" charset="-120"/>
                  <a:cs typeface="新細明體" pitchFamily="18" charset="-120"/>
                </a:rPr>
                <a:t>工艺取消下线</a:t>
              </a:r>
              <a:endParaRPr lang="zh-CN" altLang="en-US" sz="1200">
                <a:solidFill>
                  <a:schemeClr val="bg1"/>
                </a:solidFill>
                <a:latin typeface="Calibri" pitchFamily="0" charset="0"/>
                <a:ea typeface="PMingLiU" pitchFamily="18" charset="-120"/>
                <a:cs typeface="新細明體" pitchFamily="18" charset="-120"/>
              </a:endParaRPr>
            </a:p>
          </p:txBody>
        </p:sp>
      </p:grpSp>
      <p:cxnSp>
        <p:nvCxnSpPr>
          <p:cNvPr id="348" name="直线连接线"/>
          <p:cNvCxnSpPr>
            <a:cxnSpLocks/>
            <a:stCxn id="338" idx="2"/>
            <a:endCxn id="352" idx="0"/>
          </p:cNvCxnSpPr>
          <p:nvPr/>
        </p:nvCxnSpPr>
        <p:spPr>
          <a:xfrm flipH="1" rot="21600000">
            <a:off x="2624137" y="2989262"/>
            <a:ext cx="1587" cy="303212"/>
          </a:xfrm>
          <a:prstGeom prst="straightConnector1"/>
          <a:noFill/>
          <a:ln w="25400" cmpd="sng" cap="flat">
            <a:solidFill>
              <a:srgbClr val="8064A2"/>
            </a:solidFill>
            <a:prstDash val="solid"/>
            <a:miter/>
            <a:tailEnd type="arrow" w="med" len="med"/>
          </a:ln>
        </p:spPr>
      </p:cxnSp>
      <p:sp>
        <p:nvSpPr>
          <p:cNvPr id="349" name="圆角矩形"/>
          <p:cNvSpPr>
            <a:spLocks/>
          </p:cNvSpPr>
          <p:nvPr/>
        </p:nvSpPr>
        <p:spPr>
          <a:xfrm rot="0">
            <a:off x="5143500" y="5626100"/>
            <a:ext cx="1368425"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维护工艺入库单</a:t>
            </a:r>
            <a:endParaRPr lang="zh-CN" altLang="en-US" sz="1200">
              <a:solidFill>
                <a:srgbClr val="000000"/>
              </a:solidFill>
              <a:latin typeface="Calibri" pitchFamily="0" charset="0"/>
              <a:ea typeface="PMingLiU" pitchFamily="18" charset="-120"/>
              <a:cs typeface="新細明體" pitchFamily="18" charset="-120"/>
            </a:endParaRPr>
          </a:p>
        </p:txBody>
      </p:sp>
      <p:sp>
        <p:nvSpPr>
          <p:cNvPr id="350" name="圆角矩形"/>
          <p:cNvSpPr>
            <a:spLocks/>
          </p:cNvSpPr>
          <p:nvPr/>
        </p:nvSpPr>
        <p:spPr>
          <a:xfrm rot="0">
            <a:off x="1871662" y="1285875"/>
            <a:ext cx="1512887"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维护工单</a:t>
            </a:r>
            <a:endParaRPr lang="zh-CN" altLang="en-US" sz="1200">
              <a:solidFill>
                <a:srgbClr val="000000"/>
              </a:solidFill>
              <a:latin typeface="Calibri" pitchFamily="0" charset="0"/>
              <a:ea typeface="PMingLiU" pitchFamily="18" charset="-120"/>
              <a:cs typeface="新細明體" pitchFamily="18" charset="-120"/>
            </a:endParaRPr>
          </a:p>
        </p:txBody>
      </p:sp>
      <p:cxnSp>
        <p:nvCxnSpPr>
          <p:cNvPr id="351" name="直线连接线"/>
          <p:cNvCxnSpPr>
            <a:cxnSpLocks/>
            <a:stCxn id="350" idx="2"/>
            <a:endCxn id="337" idx="0"/>
          </p:cNvCxnSpPr>
          <p:nvPr/>
        </p:nvCxnSpPr>
        <p:spPr>
          <a:xfrm flipH="1" rot="21600000">
            <a:off x="2627312" y="1646237"/>
            <a:ext cx="1587" cy="239712"/>
          </a:xfrm>
          <a:prstGeom prst="straightConnector1"/>
          <a:noFill/>
          <a:ln w="25400" cmpd="sng" cap="flat">
            <a:solidFill>
              <a:srgbClr val="8064A2"/>
            </a:solidFill>
            <a:prstDash val="solid"/>
            <a:miter/>
            <a:tailEnd type="arrow" w="med" len="med"/>
          </a:ln>
        </p:spPr>
      </p:cxnSp>
      <p:sp>
        <p:nvSpPr>
          <p:cNvPr id="352" name="圆角矩形"/>
          <p:cNvSpPr>
            <a:spLocks/>
          </p:cNvSpPr>
          <p:nvPr/>
        </p:nvSpPr>
        <p:spPr>
          <a:xfrm rot="0">
            <a:off x="2030412" y="3290887"/>
            <a:ext cx="1187450" cy="360362"/>
          </a:xfrm>
          <a:prstGeom prst="roundRect">
            <a:avLst>
              <a:gd name="adj" fmla="val 16666"/>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chemeClr val="bg1"/>
                </a:solidFill>
                <a:latin typeface="Calibri" pitchFamily="0" charset="0"/>
                <a:ea typeface="PMingLiU" pitchFamily="18" charset="-120"/>
                <a:cs typeface="新細明體" pitchFamily="18" charset="-120"/>
              </a:rPr>
              <a:t>派工</a:t>
            </a:r>
            <a:endParaRPr lang="zh-CN" altLang="en-US" sz="1200">
              <a:solidFill>
                <a:schemeClr val="bg1"/>
              </a:solidFill>
              <a:latin typeface="Calibri" pitchFamily="0" charset="0"/>
              <a:ea typeface="PMingLiU" pitchFamily="18" charset="-120"/>
              <a:cs typeface="新細明體" pitchFamily="18" charset="-120"/>
            </a:endParaRPr>
          </a:p>
        </p:txBody>
      </p:sp>
      <p:cxnSp>
        <p:nvCxnSpPr>
          <p:cNvPr id="353" name="肘形连接线"/>
          <p:cNvCxnSpPr>
            <a:cxnSpLocks/>
            <a:stCxn id="350" idx="2"/>
            <a:endCxn id="337" idx="0"/>
          </p:cNvCxnSpPr>
          <p:nvPr/>
        </p:nvCxnSpPr>
        <p:spPr>
          <a:xfrm flipH="1" flipV="1" rot="5400000">
            <a:off x="3202781" y="2283618"/>
            <a:ext cx="1825625" cy="2973387"/>
          </a:xfrm>
          <a:prstGeom prst="bentConnector5">
            <a:avLst>
              <a:gd name="adj1" fmla="val -12518"/>
              <a:gd name="adj2" fmla="val 49995"/>
              <a:gd name="adj3" fmla="val 112518"/>
            </a:avLst>
          </a:prstGeom>
          <a:noFill/>
          <a:ln w="25400" cmpd="sng" cap="flat">
            <a:solidFill>
              <a:srgbClr val="8064A2"/>
            </a:solidFill>
            <a:prstDash val="solid"/>
            <a:miter/>
            <a:tailEnd type="arrow" w="med" len="med"/>
          </a:ln>
        </p:spPr>
      </p:cxnSp>
      <p:sp>
        <p:nvSpPr>
          <p:cNvPr id="354" name="圆角矩形"/>
          <p:cNvSpPr>
            <a:spLocks/>
          </p:cNvSpPr>
          <p:nvPr/>
        </p:nvSpPr>
        <p:spPr>
          <a:xfrm rot="0">
            <a:off x="5008563" y="4143375"/>
            <a:ext cx="1187450" cy="360362"/>
          </a:xfrm>
          <a:prstGeom prst="roundRect">
            <a:avLst>
              <a:gd name="adj" fmla="val 16666"/>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chemeClr val="bg1"/>
                </a:solidFill>
                <a:latin typeface="Calibri" pitchFamily="0" charset="0"/>
                <a:ea typeface="PMingLiU" pitchFamily="18" charset="-120"/>
                <a:cs typeface="新細明體" pitchFamily="18" charset="-120"/>
              </a:rPr>
              <a:t>整批转移</a:t>
            </a:r>
            <a:endParaRPr lang="zh-CN" altLang="en-US" sz="1200">
              <a:solidFill>
                <a:schemeClr val="bg1"/>
              </a:solidFill>
              <a:latin typeface="Calibri" pitchFamily="0" charset="0"/>
              <a:ea typeface="PMingLiU" pitchFamily="18" charset="-120"/>
              <a:cs typeface="新細明體" pitchFamily="18" charset="-120"/>
            </a:endParaRPr>
          </a:p>
        </p:txBody>
      </p:sp>
      <p:cxnSp>
        <p:nvCxnSpPr>
          <p:cNvPr id="355" name="直线连接线"/>
          <p:cNvCxnSpPr>
            <a:cxnSpLocks/>
            <a:stCxn id="352" idx="2"/>
            <a:endCxn id="337" idx="0"/>
          </p:cNvCxnSpPr>
          <p:nvPr/>
        </p:nvCxnSpPr>
        <p:spPr>
          <a:xfrm flipH="1" rot="21600000">
            <a:off x="2624137" y="3651250"/>
            <a:ext cx="1587" cy="312737"/>
          </a:xfrm>
          <a:prstGeom prst="straightConnector1"/>
          <a:noFill/>
          <a:ln w="25400" cmpd="sng" cap="flat">
            <a:solidFill>
              <a:srgbClr val="8064A2"/>
            </a:solidFill>
            <a:prstDash val="solid"/>
            <a:miter/>
            <a:tailEnd type="arrow" w="med" len="med"/>
          </a:ln>
        </p:spPr>
      </p:cxnSp>
      <p:sp>
        <p:nvSpPr>
          <p:cNvPr id="356" name="圆角矩形"/>
          <p:cNvSpPr>
            <a:spLocks/>
          </p:cNvSpPr>
          <p:nvPr/>
        </p:nvSpPr>
        <p:spPr>
          <a:xfrm rot="0">
            <a:off x="3657600" y="1285875"/>
            <a:ext cx="1512887"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条码参数设定</a:t>
            </a:r>
            <a:endParaRPr lang="zh-CN" altLang="en-US" sz="1200">
              <a:solidFill>
                <a:srgbClr val="000000"/>
              </a:solidFill>
              <a:latin typeface="Calibri" pitchFamily="0" charset="0"/>
              <a:ea typeface="PMingLiU" pitchFamily="18" charset="-120"/>
              <a:cs typeface="新細明體" pitchFamily="18" charset="-120"/>
            </a:endParaRPr>
          </a:p>
        </p:txBody>
      </p:sp>
      <p:sp>
        <p:nvSpPr>
          <p:cNvPr id="357" name="圆角矩形"/>
          <p:cNvSpPr>
            <a:spLocks/>
          </p:cNvSpPr>
          <p:nvPr/>
        </p:nvSpPr>
        <p:spPr>
          <a:xfrm rot="0">
            <a:off x="5372100" y="1298575"/>
            <a:ext cx="1512887"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工艺条码员工参数</a:t>
            </a:r>
            <a:endParaRPr lang="zh-CN" altLang="en-US" sz="1200">
              <a:solidFill>
                <a:srgbClr val="000000"/>
              </a:solidFill>
              <a:latin typeface="Calibri" pitchFamily="0" charset="0"/>
              <a:ea typeface="PMingLiU" pitchFamily="18" charset="-120"/>
              <a:cs typeface="新細明體" pitchFamily="18" charset="-120"/>
            </a:endParaRPr>
          </a:p>
        </p:txBody>
      </p:sp>
      <p:sp>
        <p:nvSpPr>
          <p:cNvPr id="358" name="下箭头"/>
          <p:cNvSpPr>
            <a:spLocks/>
          </p:cNvSpPr>
          <p:nvPr/>
        </p:nvSpPr>
        <p:spPr>
          <a:xfrm rot="0">
            <a:off x="4210050" y="1681162"/>
            <a:ext cx="428625" cy="714375"/>
          </a:xfrm>
          <a:prstGeom prst="downArrow">
            <a:avLst>
              <a:gd name="adj1" fmla="val 50000"/>
              <a:gd name="adj2" fmla="val 41666"/>
            </a:avLst>
          </a:prstGeom>
          <a:solidFill>
            <a:schemeClr val="accent1"/>
          </a:solidFill>
          <a:ln w="25400" cmpd="sng" cap="flat">
            <a:solidFill>
              <a:srgbClr val="395E8A"/>
            </a:solidFill>
            <a:prstDash val="solid"/>
            <a:miter/>
          </a:ln>
        </p:spPr>
      </p:sp>
      <p:sp>
        <p:nvSpPr>
          <p:cNvPr id="359" name="下箭头"/>
          <p:cNvSpPr>
            <a:spLocks/>
          </p:cNvSpPr>
          <p:nvPr/>
        </p:nvSpPr>
        <p:spPr>
          <a:xfrm rot="0">
            <a:off x="5837238" y="1689100"/>
            <a:ext cx="428624" cy="714375"/>
          </a:xfrm>
          <a:prstGeom prst="downArrow">
            <a:avLst>
              <a:gd name="adj1" fmla="val 50000"/>
              <a:gd name="adj2" fmla="val 41666"/>
            </a:avLst>
          </a:prstGeom>
          <a:solidFill>
            <a:schemeClr val="accent1"/>
          </a:solidFill>
          <a:ln w="25400" cmpd="sng" cap="flat">
            <a:solidFill>
              <a:srgbClr val="395E8A"/>
            </a:solidFill>
            <a:prstDash val="solid"/>
            <a:miter/>
          </a:ln>
        </p:spPr>
      </p:sp>
      <p:sp>
        <p:nvSpPr>
          <p:cNvPr id="360" name="圆角矩形"/>
          <p:cNvSpPr>
            <a:spLocks/>
          </p:cNvSpPr>
          <p:nvPr/>
        </p:nvSpPr>
        <p:spPr>
          <a:xfrm rot="0">
            <a:off x="5357813" y="5983288"/>
            <a:ext cx="1368424"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生产资料收集单</a:t>
            </a:r>
            <a:endParaRPr lang="zh-CN" altLang="en-US" sz="1200">
              <a:solidFill>
                <a:srgbClr val="000000"/>
              </a:solidFill>
              <a:latin typeface="Calibri" pitchFamily="0" charset="0"/>
              <a:ea typeface="PMingLiU" pitchFamily="18" charset="-120"/>
              <a:cs typeface="新細明體" pitchFamily="18" charset="-120"/>
            </a:endParaRPr>
          </a:p>
        </p:txBody>
      </p:sp>
      <p:cxnSp>
        <p:nvCxnSpPr>
          <p:cNvPr id="361" name="直线连接线"/>
          <p:cNvCxnSpPr>
            <a:cxnSpLocks/>
            <a:stCxn id="354" idx="2"/>
            <a:endCxn id="340" idx="0"/>
          </p:cNvCxnSpPr>
          <p:nvPr/>
        </p:nvCxnSpPr>
        <p:spPr>
          <a:xfrm rot="0">
            <a:off x="5602288" y="4503737"/>
            <a:ext cx="11112" cy="765175"/>
          </a:xfrm>
          <a:prstGeom prst="straightConnector1"/>
          <a:noFill/>
          <a:ln w="25400" cmpd="sng" cap="flat">
            <a:solidFill>
              <a:srgbClr val="8064A2"/>
            </a:solidFill>
            <a:prstDash val="solid"/>
            <a:miter/>
            <a:tailEnd type="arrow" w="med" len="med"/>
          </a:ln>
        </p:spPr>
      </p:cxnSp>
    </p:spTree>
    <p:extLst>
      <p:ext uri="{BB962C8B-B14F-4D97-AF65-F5344CB8AC3E}">
        <p14:creationId xmlns:p14="http://schemas.microsoft.com/office/powerpoint/2010/main" val="1248113836"/>
      </p:ext>
    </p:extLst>
  </p:cSld>
  <p:clrMapOvr>
    <a:masterClrMapping/>
  </p:clrMapOvr>
  <p:transition/>
</p:sld>
</file>

<file path=ppt/slides/slide5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62" name="矩形"/>
          <p:cNvSpPr>
            <a:spLocks/>
          </p:cNvSpPr>
          <p:nvPr/>
        </p:nvSpPr>
        <p:spPr>
          <a:xfrm rot="0">
            <a:off x="468312" y="1000125"/>
            <a:ext cx="8424862" cy="101599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：可以通过参数控制，按工厂、模块设定是否启用工艺条码。以</a:t>
            </a:r>
            <a:endParaRPr lang="zh-CN" altLang="en-US" sz="20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                 </a:t>
            </a:r>
            <a:r>
              <a:rPr lang="zh-CN" altLang="en-US" sz="2000">
                <a:solidFill>
                  <a:schemeClr val="tx1"/>
                </a:solidFill>
                <a:latin typeface="微软雅黑" pitchFamily="34" charset="-122"/>
                <a:ea typeface="微软雅黑" pitchFamily="34" charset="-122"/>
                <a:cs typeface="新細明體" pitchFamily="18" charset="-120"/>
              </a:rPr>
              <a:t>及扫描条码的类型。</a:t>
            </a:r>
            <a:endParaRPr lang="zh-CN" altLang="en-US" sz="20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None/>
            </a:pP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63"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维护条码管理参数</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364" name="矩形" descr="M`2%JDT9@ZY-Z$B24`I{I"/>
          <p:cNvSpPr>
            <a:spLocks noChangeAspect="1"/>
          </p:cNvSpPr>
          <p:nvPr/>
        </p:nvSpPr>
        <p:spPr>
          <a:xfrm rot="0">
            <a:off x="2530475" y="6003925"/>
            <a:ext cx="304800" cy="304800"/>
          </a:xfrm>
          <a:prstGeom prst="rect"/>
          <a:noFill/>
          <a:ln w="9525" cmpd="sng" cap="flat">
            <a:noFill/>
            <a:prstDash val="solid"/>
            <a:miter/>
          </a:ln>
        </p:spPr>
      </p:sp>
      <p:pic>
        <p:nvPicPr>
          <p:cNvPr id="365" name="图片"/>
          <p:cNvPicPr>
            <a:picLocks noChangeAspect="1"/>
          </p:cNvPicPr>
          <p:nvPr/>
        </p:nvPicPr>
        <p:blipFill>
          <a:blip r:embed="rId1" cstate="print"/>
          <a:stretch>
            <a:fillRect/>
          </a:stretch>
        </p:blipFill>
        <p:spPr>
          <a:xfrm rot="0">
            <a:off x="3086100" y="1684337"/>
            <a:ext cx="5846763" cy="4168775"/>
          </a:xfrm>
          <a:prstGeom prst="rect"/>
          <a:noFill/>
          <a:ln w="9525" cmpd="sng" cap="flat">
            <a:noFill/>
            <a:prstDash val="solid"/>
            <a:miter/>
          </a:ln>
        </p:spPr>
      </p:pic>
      <p:sp>
        <p:nvSpPr>
          <p:cNvPr id="366" name="矩形"/>
          <p:cNvSpPr>
            <a:spLocks/>
          </p:cNvSpPr>
          <p:nvPr/>
        </p:nvSpPr>
        <p:spPr>
          <a:xfrm rot="0">
            <a:off x="0" y="1949450"/>
            <a:ext cx="3044825" cy="31702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可根据工厂设定是否启用工艺条码</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a:t>
            </a:r>
            <a:r>
              <a:rPr lang="zh-CN" altLang="en-US" sz="2000">
                <a:solidFill>
                  <a:schemeClr val="tx1"/>
                </a:solidFill>
                <a:latin typeface="宋体" pitchFamily="2" charset="-122"/>
                <a:ea typeface="宋体" pitchFamily="2" charset="-122"/>
                <a:cs typeface="新細明體" pitchFamily="18" charset="-120"/>
              </a:rPr>
              <a:t>设定整批转移生成的转移单</a:t>
            </a:r>
            <a:r>
              <a:rPr lang="zh-CN" altLang="en-US" sz="2000">
                <a:solidFill>
                  <a:schemeClr val="tx1"/>
                </a:solidFill>
                <a:latin typeface="宋体" pitchFamily="2" charset="-122"/>
                <a:ea typeface="宋体" pitchFamily="2" charset="-122"/>
                <a:cs typeface="新細明體" pitchFamily="18" charset="-120"/>
              </a:rPr>
              <a:t>/</a:t>
            </a:r>
            <a:r>
              <a:rPr lang="zh-CN" altLang="en-US" sz="2000">
                <a:solidFill>
                  <a:schemeClr val="tx1"/>
                </a:solidFill>
                <a:latin typeface="宋体" pitchFamily="2" charset="-122"/>
                <a:ea typeface="宋体" pitchFamily="2" charset="-122"/>
                <a:cs typeface="新細明體" pitchFamily="18" charset="-120"/>
              </a:rPr>
              <a:t>工艺入库单单据</a:t>
            </a:r>
            <a:r>
              <a:rPr lang="zh-CN" altLang="en-US" sz="2000">
                <a:solidFill>
                  <a:schemeClr val="tx1"/>
                </a:solidFill>
                <a:latin typeface="宋体" pitchFamily="2" charset="-122"/>
                <a:ea typeface="宋体" pitchFamily="2" charset="-122"/>
                <a:cs typeface="新細明體" pitchFamily="18" charset="-120"/>
              </a:rPr>
              <a:t>类型</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可选择各个动作扫描条码的类型</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可选择各个动作是否启用工艺条码</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宋体" pitchFamily="2" charset="-122"/>
              <a:cs typeface="新細明體" pitchFamily="18" charset="-120"/>
            </a:endParaRPr>
          </a:p>
        </p:txBody>
      </p:sp>
    </p:spTree>
    <p:extLst>
      <p:ext uri="{BB962C8B-B14F-4D97-AF65-F5344CB8AC3E}">
        <p14:creationId xmlns:p14="http://schemas.microsoft.com/office/powerpoint/2010/main" val="901505500"/>
      </p:ext>
    </p:extLst>
  </p:cSld>
  <p:clrMapOvr>
    <a:masterClrMapping/>
  </p:clrMapOvr>
  <p:transition/>
</p:sld>
</file>

<file path=ppt/slides/slide5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67" name="矩形"/>
          <p:cNvSpPr>
            <a:spLocks/>
          </p:cNvSpPr>
          <p:nvPr/>
        </p:nvSpPr>
        <p:spPr>
          <a:xfrm rot="0">
            <a:off x="468312" y="1000125"/>
            <a:ext cx="8424862" cy="101599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ct val="5000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：根据人员分工和角色的不同，可以按照特定员工设定扫描条码</a:t>
            </a:r>
            <a:r>
              <a:rPr lang="zh-CN" altLang="en-US" sz="2000">
                <a:solidFill>
                  <a:schemeClr val="tx1"/>
                </a:solidFill>
                <a:latin typeface="微软雅黑" pitchFamily="34" charset="-122"/>
                <a:ea typeface="微软雅黑" pitchFamily="34" charset="-122"/>
                <a:cs typeface="新細明體" pitchFamily="18" charset="-120"/>
              </a:rPr>
              <a:t>      	     </a:t>
            </a:r>
            <a:r>
              <a:rPr lang="zh-CN" altLang="en-US" sz="2000">
                <a:solidFill>
                  <a:schemeClr val="tx1"/>
                </a:solidFill>
                <a:latin typeface="微软雅黑" pitchFamily="34" charset="-122"/>
                <a:ea typeface="微软雅黑" pitchFamily="34" charset="-122"/>
                <a:cs typeface="新細明體" pitchFamily="18" charset="-120"/>
              </a:rPr>
              <a:t>的类型、界面关键字段的默认值。</a:t>
            </a:r>
            <a:endParaRPr lang="zh-CN" altLang="en-US" sz="20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None/>
            </a:pP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68"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维护工艺条码员工参数</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369" name="矩形" descr="M`2%JDT9@ZY-Z$B24`I{I"/>
          <p:cNvSpPr>
            <a:spLocks noChangeAspect="1"/>
          </p:cNvSpPr>
          <p:nvPr/>
        </p:nvSpPr>
        <p:spPr>
          <a:xfrm rot="0">
            <a:off x="2530475" y="6003925"/>
            <a:ext cx="304800" cy="304800"/>
          </a:xfrm>
          <a:prstGeom prst="rect"/>
          <a:noFill/>
          <a:ln w="9525" cmpd="sng" cap="flat">
            <a:noFill/>
            <a:prstDash val="solid"/>
            <a:miter/>
          </a:ln>
        </p:spPr>
      </p:sp>
      <p:sp>
        <p:nvSpPr>
          <p:cNvPr id="370" name="矩形"/>
          <p:cNvSpPr>
            <a:spLocks/>
          </p:cNvSpPr>
          <p:nvPr/>
        </p:nvSpPr>
        <p:spPr>
          <a:xfrm rot="0">
            <a:off x="0" y="1768475"/>
            <a:ext cx="3044825" cy="378618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可根据人员设定是否启用工艺条码及其默认的工艺</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根据</a:t>
            </a:r>
            <a:r>
              <a:rPr lang="zh-CN" altLang="en-US" sz="2000">
                <a:solidFill>
                  <a:schemeClr val="tx1"/>
                </a:solidFill>
                <a:latin typeface="宋体" pitchFamily="2" charset="-122"/>
                <a:ea typeface="PMingLiU" pitchFamily="18" charset="-120"/>
                <a:cs typeface="新細明體" pitchFamily="18" charset="-120"/>
              </a:rPr>
              <a:t>员工设定扫描条码的</a:t>
            </a:r>
            <a:r>
              <a:rPr lang="zh-CN" altLang="en-US" sz="2000">
                <a:solidFill>
                  <a:schemeClr val="tx1"/>
                </a:solidFill>
                <a:latin typeface="宋体" pitchFamily="2" charset="-122"/>
                <a:ea typeface="PMingLiU" pitchFamily="18" charset="-120"/>
                <a:cs typeface="新細明體" pitchFamily="18" charset="-120"/>
              </a:rPr>
              <a:t>类型</a:t>
            </a:r>
            <a:r>
              <a:rPr lang="zh-CN" altLang="en-US" sz="2000">
                <a:solidFill>
                  <a:schemeClr val="tx1"/>
                </a:solidFill>
                <a:latin typeface="宋体" pitchFamily="2" charset="-122"/>
                <a:ea typeface="PMingLiU" pitchFamily="18" charset="-120"/>
                <a:cs typeface="新細明體" pitchFamily="18" charset="-120"/>
              </a:rPr>
              <a:t>以及界面关键字段的默认</a:t>
            </a:r>
            <a:r>
              <a:rPr lang="zh-CN" altLang="en-US" sz="2000">
                <a:solidFill>
                  <a:schemeClr val="tx1"/>
                </a:solidFill>
                <a:latin typeface="宋体" pitchFamily="2" charset="-122"/>
                <a:ea typeface="PMingLiU" pitchFamily="18" charset="-120"/>
                <a:cs typeface="新細明體" pitchFamily="18" charset="-120"/>
              </a:rPr>
              <a:t>值</a:t>
            </a:r>
            <a:endParaRPr lang="zh-CN" altLang="en-US" sz="2000">
              <a:solidFill>
                <a:schemeClr val="tx1"/>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根据员工设定启用</a:t>
            </a:r>
            <a:r>
              <a:rPr lang="zh-CN" altLang="en-US" sz="2000">
                <a:solidFill>
                  <a:schemeClr val="tx1"/>
                </a:solidFill>
                <a:latin typeface="宋体" pitchFamily="2" charset="-122"/>
                <a:ea typeface="宋体" pitchFamily="2" charset="-122"/>
                <a:cs typeface="新細明體" pitchFamily="18" charset="-120"/>
              </a:rPr>
              <a:t>工艺条码时该员工默认的工作</a:t>
            </a:r>
            <a:r>
              <a:rPr lang="zh-CN" altLang="en-US" sz="2000">
                <a:solidFill>
                  <a:schemeClr val="tx1"/>
                </a:solidFill>
                <a:latin typeface="宋体" pitchFamily="2" charset="-122"/>
                <a:ea typeface="宋体" pitchFamily="2" charset="-122"/>
                <a:cs typeface="新細明體" pitchFamily="18" charset="-120"/>
              </a:rPr>
              <a:t>中心</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根据员工设定扫描的条码类型及生成下推单据的单据类型</a:t>
            </a:r>
            <a:endParaRPr lang="zh-CN" altLang="en-US" sz="1500">
              <a:solidFill>
                <a:schemeClr val="tx1"/>
              </a:solidFill>
              <a:latin typeface="微软雅黑" pitchFamily="34" charset="-122"/>
              <a:ea typeface="微软雅黑" pitchFamily="34" charset="-122"/>
              <a:cs typeface="新細明體" pitchFamily="18" charset="-120"/>
            </a:endParaRPr>
          </a:p>
        </p:txBody>
      </p:sp>
      <p:pic>
        <p:nvPicPr>
          <p:cNvPr id="371" name="图片"/>
          <p:cNvPicPr>
            <a:picLocks noChangeAspect="1"/>
          </p:cNvPicPr>
          <p:nvPr/>
        </p:nvPicPr>
        <p:blipFill>
          <a:blip r:embed="rId1" cstate="print"/>
          <a:stretch>
            <a:fillRect/>
          </a:stretch>
        </p:blipFill>
        <p:spPr>
          <a:xfrm rot="0">
            <a:off x="3044825" y="1768475"/>
            <a:ext cx="5848350" cy="4822825"/>
          </a:xfrm>
          <a:prstGeom prst="rect"/>
          <a:noFill/>
          <a:ln w="9525" cmpd="sng" cap="flat">
            <a:noFill/>
            <a:prstDash val="solid"/>
            <a:miter/>
          </a:ln>
        </p:spPr>
      </p:pic>
    </p:spTree>
    <p:extLst>
      <p:ext uri="{BB962C8B-B14F-4D97-AF65-F5344CB8AC3E}">
        <p14:creationId xmlns:p14="http://schemas.microsoft.com/office/powerpoint/2010/main" val="1135112631"/>
      </p:ext>
    </p:extLst>
  </p:cSld>
  <p:clrMapOvr>
    <a:masterClrMapping/>
  </p:clrMapOvr>
  <p:transition/>
</p:sld>
</file>

<file path=ppt/slides/slide6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2" name="矩形"/>
          <p:cNvSpPr>
            <a:spLocks/>
          </p:cNvSpPr>
          <p:nvPr/>
        </p:nvSpPr>
        <p:spPr>
          <a:xfrm rot="0">
            <a:off x="468312" y="1000125"/>
            <a:ext cx="8424862" cy="101599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ct val="5000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：通过刷读工单号条码，准确检索并带出需要投产的工单信息。     </a:t>
            </a:r>
            <a:r>
              <a:rPr lang="zh-CN" altLang="en-US" sz="2000">
                <a:solidFill>
                  <a:schemeClr val="tx1"/>
                </a:solidFill>
                <a:latin typeface="微软雅黑" pitchFamily="34" charset="-122"/>
                <a:ea typeface="微软雅黑" pitchFamily="34" charset="-122"/>
                <a:cs typeface="新細明體" pitchFamily="18" charset="-120"/>
              </a:rPr>
              <a:t>	     </a:t>
            </a:r>
            <a:r>
              <a:rPr lang="zh-CN" altLang="en-US" sz="2000">
                <a:solidFill>
                  <a:schemeClr val="tx1"/>
                </a:solidFill>
                <a:latin typeface="微软雅黑" pitchFamily="34" charset="-122"/>
                <a:ea typeface="微软雅黑" pitchFamily="34" charset="-122"/>
                <a:cs typeface="新細明體" pitchFamily="18" charset="-120"/>
              </a:rPr>
              <a:t>采用热键快速定位需要修改的栏位。</a:t>
            </a:r>
            <a:endParaRPr lang="zh-CN" altLang="en-US" sz="20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None/>
            </a:pP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73"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投产</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取消投产</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374" name="矩形" descr="M`2%JDT9@ZY-Z$B24`I{I"/>
          <p:cNvSpPr>
            <a:spLocks noChangeAspect="1"/>
          </p:cNvSpPr>
          <p:nvPr/>
        </p:nvSpPr>
        <p:spPr>
          <a:xfrm rot="0">
            <a:off x="2530475" y="6003925"/>
            <a:ext cx="304800" cy="304800"/>
          </a:xfrm>
          <a:prstGeom prst="rect"/>
          <a:noFill/>
          <a:ln w="9525" cmpd="sng" cap="flat">
            <a:noFill/>
            <a:prstDash val="solid"/>
            <a:miter/>
          </a:ln>
        </p:spPr>
      </p:sp>
      <p:sp>
        <p:nvSpPr>
          <p:cNvPr id="375" name="矩形"/>
          <p:cNvSpPr>
            <a:spLocks/>
          </p:cNvSpPr>
          <p:nvPr/>
        </p:nvSpPr>
        <p:spPr>
          <a:xfrm rot="0">
            <a:off x="0" y="1768475"/>
            <a:ext cx="3044825" cy="255428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按</a:t>
            </a:r>
            <a:r>
              <a:rPr lang="zh-CN" altLang="en-US" sz="2000">
                <a:solidFill>
                  <a:srgbClr val="0D0D0D"/>
                </a:solidFill>
                <a:latin typeface="宋体" pitchFamily="2" charset="-122"/>
                <a:ea typeface="PMingLiU" pitchFamily="18" charset="-120"/>
                <a:cs typeface="新細明體" pitchFamily="18" charset="-120"/>
              </a:rPr>
              <a:t>F6</a:t>
            </a:r>
            <a:r>
              <a:rPr lang="zh-CN" altLang="en-US" sz="2000">
                <a:solidFill>
                  <a:srgbClr val="0D0D0D"/>
                </a:solidFill>
                <a:latin typeface="宋体" pitchFamily="2" charset="-122"/>
                <a:ea typeface="PMingLiU" pitchFamily="18" charset="-120"/>
                <a:cs typeface="新細明體" pitchFamily="18" charset="-120"/>
              </a:rPr>
              <a:t>快捷键回到条码栏</a:t>
            </a:r>
            <a:r>
              <a:rPr lang="zh-CN" altLang="en-US" sz="2000">
                <a:solidFill>
                  <a:srgbClr val="0D0D0D"/>
                </a:solidFill>
                <a:latin typeface="宋体" pitchFamily="2" charset="-122"/>
                <a:ea typeface="PMingLiU" pitchFamily="18" charset="-120"/>
                <a:cs typeface="新細明體" pitchFamily="18" charset="-120"/>
              </a:rPr>
              <a:t>位</a:t>
            </a:r>
            <a:endParaRPr lang="zh-CN" altLang="en-US" sz="2000">
              <a:solidFill>
                <a:srgbClr val="0D0D0D"/>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刷读工单条码检索符合条件的</a:t>
            </a:r>
            <a:r>
              <a:rPr lang="zh-CN" altLang="en-US" sz="2000">
                <a:solidFill>
                  <a:srgbClr val="0D0D0D"/>
                </a:solidFill>
                <a:latin typeface="宋体" pitchFamily="2" charset="-122"/>
                <a:ea typeface="宋体" pitchFamily="2" charset="-122"/>
                <a:cs typeface="新細明體" pitchFamily="18" charset="-120"/>
              </a:rPr>
              <a:t>数据并</a:t>
            </a:r>
            <a:r>
              <a:rPr lang="zh-CN" altLang="en-US" sz="2000">
                <a:solidFill>
                  <a:srgbClr val="0D0D0D"/>
                </a:solidFill>
                <a:latin typeface="宋体" pitchFamily="2" charset="-122"/>
                <a:ea typeface="宋体" pitchFamily="2" charset="-122"/>
                <a:cs typeface="新細明體" pitchFamily="18" charset="-120"/>
              </a:rPr>
              <a:t>展现在界面上</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按</a:t>
            </a:r>
            <a:r>
              <a:rPr lang="zh-CN" altLang="en-US" sz="2000">
                <a:solidFill>
                  <a:srgbClr val="0D0D0D"/>
                </a:solidFill>
                <a:latin typeface="宋体" pitchFamily="2" charset="-122"/>
                <a:ea typeface="宋体" pitchFamily="2" charset="-122"/>
                <a:cs typeface="新細明體" pitchFamily="18" charset="-120"/>
              </a:rPr>
              <a:t>F12</a:t>
            </a:r>
            <a:r>
              <a:rPr lang="zh-CN" altLang="en-US" sz="2000">
                <a:solidFill>
                  <a:srgbClr val="0D0D0D"/>
                </a:solidFill>
                <a:latin typeface="宋体" pitchFamily="2" charset="-122"/>
                <a:ea typeface="宋体" pitchFamily="2" charset="-122"/>
                <a:cs typeface="新細明體" pitchFamily="18" charset="-120"/>
              </a:rPr>
              <a:t>快捷键聚焦到数量栏</a:t>
            </a:r>
            <a:r>
              <a:rPr lang="zh-CN" altLang="en-US" sz="2000">
                <a:solidFill>
                  <a:srgbClr val="0D0D0D"/>
                </a:solidFill>
                <a:latin typeface="宋体" pitchFamily="2" charset="-122"/>
                <a:ea typeface="宋体" pitchFamily="2" charset="-122"/>
                <a:cs typeface="新細明體" pitchFamily="18" charset="-120"/>
              </a:rPr>
              <a:t>位</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按</a:t>
            </a:r>
            <a:r>
              <a:rPr lang="zh-CN" altLang="en-US" sz="2000">
                <a:solidFill>
                  <a:srgbClr val="0D0D0D"/>
                </a:solidFill>
                <a:latin typeface="宋体" pitchFamily="2" charset="-122"/>
                <a:ea typeface="PMingLiU" pitchFamily="18" charset="-120"/>
                <a:cs typeface="新細明體" pitchFamily="18" charset="-120"/>
              </a:rPr>
              <a:t>F5</a:t>
            </a:r>
            <a:r>
              <a:rPr lang="zh-CN" altLang="en-US" sz="2000">
                <a:solidFill>
                  <a:srgbClr val="0D0D0D"/>
                </a:solidFill>
                <a:latin typeface="宋体" pitchFamily="2" charset="-122"/>
                <a:ea typeface="PMingLiU" pitchFamily="18" charset="-120"/>
                <a:cs typeface="新細明體" pitchFamily="18" charset="-120"/>
              </a:rPr>
              <a:t>快捷键执行</a:t>
            </a:r>
            <a:r>
              <a:rPr lang="zh-CN" altLang="en-US" sz="2000">
                <a:solidFill>
                  <a:srgbClr val="0D0D0D"/>
                </a:solidFill>
                <a:latin typeface="宋体" pitchFamily="2" charset="-122"/>
                <a:ea typeface="PMingLiU" pitchFamily="18" charset="-120"/>
                <a:cs typeface="新細明體" pitchFamily="18" charset="-120"/>
              </a:rPr>
              <a:t>投产</a:t>
            </a:r>
            <a:endParaRPr lang="zh-CN" altLang="en-US" sz="2000">
              <a:solidFill>
                <a:srgbClr val="0D0D0D"/>
              </a:solidFill>
              <a:latin typeface="宋体" pitchFamily="2" charset="-122"/>
              <a:ea typeface="PMingLiU" pitchFamily="18" charset="-120"/>
              <a:cs typeface="新細明體" pitchFamily="18" charset="-120"/>
            </a:endParaRPr>
          </a:p>
        </p:txBody>
      </p:sp>
      <p:pic>
        <p:nvPicPr>
          <p:cNvPr id="376" name="图片"/>
          <p:cNvPicPr>
            <a:picLocks noChangeAspect="1"/>
          </p:cNvPicPr>
          <p:nvPr/>
        </p:nvPicPr>
        <p:blipFill>
          <a:blip r:embed="rId1" cstate="print"/>
          <a:stretch>
            <a:fillRect/>
          </a:stretch>
        </p:blipFill>
        <p:spPr>
          <a:xfrm rot="0">
            <a:off x="3044825" y="1785937"/>
            <a:ext cx="5848350" cy="4805362"/>
          </a:xfrm>
          <a:prstGeom prst="rect"/>
          <a:noFill/>
          <a:ln w="9525" cmpd="sng" cap="flat">
            <a:noFill/>
            <a:prstDash val="solid"/>
            <a:miter/>
          </a:ln>
        </p:spPr>
      </p:pic>
    </p:spTree>
    <p:extLst>
      <p:ext uri="{BB962C8B-B14F-4D97-AF65-F5344CB8AC3E}">
        <p14:creationId xmlns:p14="http://schemas.microsoft.com/office/powerpoint/2010/main" val="1783325835"/>
      </p:ext>
    </p:extLst>
  </p:cSld>
  <p:clrMapOvr>
    <a:masterClrMapping/>
  </p:clrMapOvr>
  <p:transition/>
</p:sld>
</file>

<file path=ppt/slides/slide6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7" name="矩形"/>
          <p:cNvSpPr>
            <a:spLocks/>
          </p:cNvSpPr>
          <p:nvPr/>
        </p:nvSpPr>
        <p:spPr>
          <a:xfrm rot="0">
            <a:off x="468312" y="1000125"/>
            <a:ext cx="8424862" cy="101599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ct val="5000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：通过刷读工单号或工单工序号条码，准确检索并带出待派工的</a:t>
            </a:r>
            <a:r>
              <a:rPr lang="zh-CN" altLang="en-US" sz="2000">
                <a:solidFill>
                  <a:schemeClr val="tx1"/>
                </a:solidFill>
                <a:latin typeface="微软雅黑" pitchFamily="34" charset="-122"/>
                <a:ea typeface="微软雅黑" pitchFamily="34" charset="-122"/>
                <a:cs typeface="新細明體" pitchFamily="18" charset="-120"/>
              </a:rPr>
              <a:t>	  	     </a:t>
            </a:r>
            <a:r>
              <a:rPr lang="zh-CN" altLang="en-US" sz="2000">
                <a:solidFill>
                  <a:schemeClr val="tx1"/>
                </a:solidFill>
                <a:latin typeface="微软雅黑" pitchFamily="34" charset="-122"/>
                <a:ea typeface="微软雅黑" pitchFamily="34" charset="-122"/>
                <a:cs typeface="新細明體" pitchFamily="18" charset="-120"/>
              </a:rPr>
              <a:t>信息。</a:t>
            </a:r>
            <a:endParaRPr lang="zh-CN" altLang="en-US" sz="20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None/>
            </a:pP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78"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维护工单工艺派工</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379" name="矩形"/>
          <p:cNvSpPr>
            <a:spLocks/>
          </p:cNvSpPr>
          <p:nvPr/>
        </p:nvSpPr>
        <p:spPr>
          <a:xfrm rot="0">
            <a:off x="0" y="1768475"/>
            <a:ext cx="3044825" cy="19383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工作中心默认</a:t>
            </a:r>
            <a:r>
              <a:rPr lang="zh-CN" altLang="en-US" sz="2000">
                <a:solidFill>
                  <a:srgbClr val="0D0D0D"/>
                </a:solidFill>
                <a:latin typeface="宋体" pitchFamily="2" charset="-122"/>
                <a:ea typeface="PMingLiU" pitchFamily="18" charset="-120"/>
                <a:cs typeface="新細明體" pitchFamily="18" charset="-120"/>
              </a:rPr>
              <a:t>工艺条码员工参数中的设定</a:t>
            </a:r>
            <a:endParaRPr lang="zh-CN" altLang="en-US" sz="2000">
              <a:solidFill>
                <a:srgbClr val="0D0D0D"/>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F6</a:t>
            </a:r>
            <a:r>
              <a:rPr lang="zh-CN" altLang="en-US" sz="2000">
                <a:solidFill>
                  <a:srgbClr val="0D0D0D"/>
                </a:solidFill>
                <a:latin typeface="宋体" pitchFamily="2" charset="-122"/>
                <a:ea typeface="PMingLiU" pitchFamily="18" charset="-120"/>
                <a:cs typeface="新細明體" pitchFamily="18" charset="-120"/>
              </a:rPr>
              <a:t>快速定位，刷</a:t>
            </a:r>
            <a:r>
              <a:rPr lang="zh-CN" altLang="en-US" sz="2000">
                <a:solidFill>
                  <a:srgbClr val="0D0D0D"/>
                </a:solidFill>
                <a:latin typeface="宋体" pitchFamily="2" charset="-122"/>
                <a:ea typeface="PMingLiU" pitchFamily="18" charset="-120"/>
                <a:cs typeface="新細明體" pitchFamily="18" charset="-120"/>
              </a:rPr>
              <a:t>读工单条码或工单</a:t>
            </a:r>
            <a:r>
              <a:rPr lang="zh-CN" altLang="en-US" sz="2000">
                <a:solidFill>
                  <a:srgbClr val="0D0D0D"/>
                </a:solidFill>
                <a:latin typeface="宋体" pitchFamily="2" charset="-122"/>
                <a:ea typeface="PMingLiU" pitchFamily="18" charset="-120"/>
                <a:cs typeface="新細明體" pitchFamily="18" charset="-120"/>
              </a:rPr>
              <a:t>-</a:t>
            </a:r>
            <a:r>
              <a:rPr lang="zh-CN" altLang="en-US" sz="2000">
                <a:solidFill>
                  <a:srgbClr val="0D0D0D"/>
                </a:solidFill>
                <a:latin typeface="宋体" pitchFamily="2" charset="-122"/>
                <a:ea typeface="PMingLiU" pitchFamily="18" charset="-120"/>
                <a:cs typeface="新細明體" pitchFamily="18" charset="-120"/>
              </a:rPr>
              <a:t>工序条码</a:t>
            </a:r>
            <a:endParaRPr lang="zh-CN" altLang="en-US" sz="2000">
              <a:solidFill>
                <a:srgbClr val="0D0D0D"/>
              </a:solidFill>
              <a:latin typeface="宋体" pitchFamily="2" charset="-122"/>
              <a:ea typeface="PMingLiU" pitchFamily="18" charset="-120"/>
              <a:cs typeface="新細明體" pitchFamily="18" charset="-120"/>
            </a:endParaRPr>
          </a:p>
        </p:txBody>
      </p:sp>
      <p:pic>
        <p:nvPicPr>
          <p:cNvPr id="380" name="图片"/>
          <p:cNvPicPr>
            <a:picLocks noChangeAspect="1"/>
          </p:cNvPicPr>
          <p:nvPr/>
        </p:nvPicPr>
        <p:blipFill>
          <a:blip r:embed="rId1" cstate="print"/>
          <a:stretch>
            <a:fillRect/>
          </a:stretch>
        </p:blipFill>
        <p:spPr>
          <a:xfrm rot="0">
            <a:off x="3021012" y="1743075"/>
            <a:ext cx="5872162" cy="4848225"/>
          </a:xfrm>
          <a:prstGeom prst="rect"/>
          <a:noFill/>
          <a:ln w="9525" cmpd="sng" cap="flat">
            <a:noFill/>
            <a:prstDash val="solid"/>
            <a:miter/>
          </a:ln>
        </p:spPr>
      </p:pic>
    </p:spTree>
    <p:extLst>
      <p:ext uri="{BB962C8B-B14F-4D97-AF65-F5344CB8AC3E}">
        <p14:creationId xmlns:p14="http://schemas.microsoft.com/office/powerpoint/2010/main" val="1281242609"/>
      </p:ext>
    </p:extLst>
  </p:cSld>
  <p:clrMapOvr>
    <a:masterClrMapping/>
  </p:clrMapOvr>
  <p:transition/>
</p:sld>
</file>

<file path=ppt/slides/slide6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81" name="矩形"/>
          <p:cNvSpPr>
            <a:spLocks/>
          </p:cNvSpPr>
          <p:nvPr/>
        </p:nvSpPr>
        <p:spPr>
          <a:xfrm rot="0">
            <a:off x="468312" y="1000125"/>
            <a:ext cx="8424862" cy="101599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ct val="5000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：通过刷读工单号或工单工序号条码，准确检索并带出待上线的</a:t>
            </a:r>
            <a:r>
              <a:rPr lang="zh-CN" altLang="en-US" sz="2000">
                <a:solidFill>
                  <a:schemeClr val="tx1"/>
                </a:solidFill>
                <a:latin typeface="微软雅黑" pitchFamily="34" charset="-122"/>
                <a:ea typeface="微软雅黑" pitchFamily="34" charset="-122"/>
                <a:cs typeface="新細明體" pitchFamily="18" charset="-120"/>
              </a:rPr>
              <a:t>	  	     </a:t>
            </a:r>
            <a:r>
              <a:rPr lang="zh-CN" altLang="en-US" sz="2000">
                <a:solidFill>
                  <a:schemeClr val="tx1"/>
                </a:solidFill>
                <a:latin typeface="微软雅黑" pitchFamily="34" charset="-122"/>
                <a:ea typeface="微软雅黑" pitchFamily="34" charset="-122"/>
                <a:cs typeface="新細明體" pitchFamily="18" charset="-120"/>
              </a:rPr>
              <a:t>信息。</a:t>
            </a:r>
            <a:endParaRPr lang="zh-CN" altLang="en-US" sz="20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None/>
            </a:pP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82"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上线</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下线及取消</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383" name="图片"/>
          <p:cNvPicPr>
            <a:picLocks noChangeAspect="1"/>
          </p:cNvPicPr>
          <p:nvPr/>
        </p:nvPicPr>
        <p:blipFill>
          <a:blip r:embed="rId1" cstate="print"/>
          <a:stretch>
            <a:fillRect/>
          </a:stretch>
        </p:blipFill>
        <p:spPr>
          <a:xfrm rot="0">
            <a:off x="2754312" y="1768475"/>
            <a:ext cx="6264275" cy="4749800"/>
          </a:xfrm>
          <a:prstGeom prst="rect"/>
          <a:noFill/>
          <a:ln w="9525" cmpd="sng" cap="flat">
            <a:noFill/>
            <a:prstDash val="solid"/>
            <a:miter/>
          </a:ln>
        </p:spPr>
      </p:pic>
      <p:sp>
        <p:nvSpPr>
          <p:cNvPr id="384" name="矩形"/>
          <p:cNvSpPr>
            <a:spLocks/>
          </p:cNvSpPr>
          <p:nvPr/>
        </p:nvSpPr>
        <p:spPr>
          <a:xfrm rot="0">
            <a:off x="0" y="1768475"/>
            <a:ext cx="2754312" cy="286226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按</a:t>
            </a:r>
            <a:r>
              <a:rPr lang="zh-CN" altLang="en-US" sz="2000">
                <a:solidFill>
                  <a:srgbClr val="0D0D0D"/>
                </a:solidFill>
                <a:latin typeface="宋体" pitchFamily="2" charset="-122"/>
                <a:ea typeface="PMingLiU" pitchFamily="18" charset="-120"/>
                <a:cs typeface="新細明體" pitchFamily="18" charset="-120"/>
              </a:rPr>
              <a:t>F6</a:t>
            </a:r>
            <a:r>
              <a:rPr lang="zh-CN" altLang="en-US" sz="2000">
                <a:solidFill>
                  <a:srgbClr val="0D0D0D"/>
                </a:solidFill>
                <a:latin typeface="宋体" pitchFamily="2" charset="-122"/>
                <a:ea typeface="PMingLiU" pitchFamily="18" charset="-120"/>
                <a:cs typeface="新細明體" pitchFamily="18" charset="-120"/>
              </a:rPr>
              <a:t>快捷键回到条码栏</a:t>
            </a:r>
            <a:r>
              <a:rPr lang="zh-CN" altLang="en-US" sz="2000">
                <a:solidFill>
                  <a:srgbClr val="0D0D0D"/>
                </a:solidFill>
                <a:latin typeface="宋体" pitchFamily="2" charset="-122"/>
                <a:ea typeface="PMingLiU" pitchFamily="18" charset="-120"/>
                <a:cs typeface="新細明體" pitchFamily="18" charset="-120"/>
              </a:rPr>
              <a:t>位</a:t>
            </a:r>
            <a:endParaRPr lang="zh-CN" altLang="en-US" sz="2000">
              <a:solidFill>
                <a:srgbClr val="0D0D0D"/>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刷读工单条码检索符合条件的</a:t>
            </a:r>
            <a:r>
              <a:rPr lang="zh-CN" altLang="en-US" sz="2000">
                <a:solidFill>
                  <a:srgbClr val="0D0D0D"/>
                </a:solidFill>
                <a:latin typeface="宋体" pitchFamily="2" charset="-122"/>
                <a:ea typeface="宋体" pitchFamily="2" charset="-122"/>
                <a:cs typeface="新細明體" pitchFamily="18" charset="-120"/>
              </a:rPr>
              <a:t>数据并</a:t>
            </a:r>
            <a:r>
              <a:rPr lang="zh-CN" altLang="en-US" sz="2000">
                <a:solidFill>
                  <a:srgbClr val="0D0D0D"/>
                </a:solidFill>
                <a:latin typeface="宋体" pitchFamily="2" charset="-122"/>
                <a:ea typeface="宋体" pitchFamily="2" charset="-122"/>
                <a:cs typeface="新細明體" pitchFamily="18" charset="-120"/>
              </a:rPr>
              <a:t>展现在界面上</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按</a:t>
            </a:r>
            <a:r>
              <a:rPr lang="zh-CN" altLang="en-US" sz="2000">
                <a:solidFill>
                  <a:srgbClr val="0D0D0D"/>
                </a:solidFill>
                <a:latin typeface="宋体" pitchFamily="2" charset="-122"/>
                <a:ea typeface="宋体" pitchFamily="2" charset="-122"/>
                <a:cs typeface="新細明體" pitchFamily="18" charset="-120"/>
              </a:rPr>
              <a:t>F12</a:t>
            </a:r>
            <a:r>
              <a:rPr lang="zh-CN" altLang="en-US" sz="2000">
                <a:solidFill>
                  <a:srgbClr val="0D0D0D"/>
                </a:solidFill>
                <a:latin typeface="宋体" pitchFamily="2" charset="-122"/>
                <a:ea typeface="宋体" pitchFamily="2" charset="-122"/>
                <a:cs typeface="新細明體" pitchFamily="18" charset="-120"/>
              </a:rPr>
              <a:t>快捷键聚焦到数量栏</a:t>
            </a:r>
            <a:r>
              <a:rPr lang="zh-CN" altLang="en-US" sz="2000">
                <a:solidFill>
                  <a:srgbClr val="0D0D0D"/>
                </a:solidFill>
                <a:latin typeface="宋体" pitchFamily="2" charset="-122"/>
                <a:ea typeface="宋体" pitchFamily="2" charset="-122"/>
                <a:cs typeface="新細明體" pitchFamily="18" charset="-120"/>
              </a:rPr>
              <a:t>位</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按</a:t>
            </a:r>
            <a:r>
              <a:rPr lang="zh-CN" altLang="en-US" sz="2000">
                <a:solidFill>
                  <a:srgbClr val="0D0D0D"/>
                </a:solidFill>
                <a:latin typeface="宋体" pitchFamily="2" charset="-122"/>
                <a:ea typeface="PMingLiU" pitchFamily="18" charset="-120"/>
                <a:cs typeface="新細明體" pitchFamily="18" charset="-120"/>
              </a:rPr>
              <a:t>F5</a:t>
            </a:r>
            <a:r>
              <a:rPr lang="zh-CN" altLang="en-US" sz="2000">
                <a:solidFill>
                  <a:srgbClr val="0D0D0D"/>
                </a:solidFill>
                <a:latin typeface="宋体" pitchFamily="2" charset="-122"/>
                <a:ea typeface="PMingLiU" pitchFamily="18" charset="-120"/>
                <a:cs typeface="新細明體" pitchFamily="18" charset="-120"/>
              </a:rPr>
              <a:t>快捷键</a:t>
            </a:r>
            <a:r>
              <a:rPr lang="zh-CN" altLang="en-US" sz="2000">
                <a:solidFill>
                  <a:srgbClr val="0D0D0D"/>
                </a:solidFill>
                <a:latin typeface="宋体" pitchFamily="2" charset="-122"/>
                <a:ea typeface="PMingLiU" pitchFamily="18" charset="-120"/>
                <a:cs typeface="新細明體" pitchFamily="18" charset="-120"/>
              </a:rPr>
              <a:t>执行上线</a:t>
            </a:r>
            <a:endParaRPr lang="zh-CN" altLang="en-US" sz="2000">
              <a:solidFill>
                <a:srgbClr val="0D0D0D"/>
              </a:solidFill>
              <a:latin typeface="宋体" pitchFamily="2" charset="-122"/>
              <a:ea typeface="PMingLiU" pitchFamily="18" charset="-120"/>
              <a:cs typeface="新細明體" pitchFamily="18" charset="-120"/>
            </a:endParaRPr>
          </a:p>
        </p:txBody>
      </p:sp>
    </p:spTree>
    <p:extLst>
      <p:ext uri="{BB962C8B-B14F-4D97-AF65-F5344CB8AC3E}">
        <p14:creationId xmlns:p14="http://schemas.microsoft.com/office/powerpoint/2010/main" val="948385512"/>
      </p:ext>
    </p:extLst>
  </p:cSld>
  <p:clrMapOvr>
    <a:masterClrMapping/>
  </p:clrMapOvr>
  <p:transition/>
</p:sld>
</file>

<file path=ppt/slides/slide6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85" name="矩形"/>
          <p:cNvSpPr>
            <a:spLocks/>
          </p:cNvSpPr>
          <p:nvPr/>
        </p:nvSpPr>
        <p:spPr>
          <a:xfrm rot="0">
            <a:off x="468312" y="1000125"/>
            <a:ext cx="8424862" cy="101599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ct val="5000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：通过刷读工单号或工单工序号条码，准确检索并带出待转移的</a:t>
            </a:r>
            <a:r>
              <a:rPr lang="zh-CN" altLang="en-US" sz="2000">
                <a:solidFill>
                  <a:schemeClr val="tx1"/>
                </a:solidFill>
                <a:latin typeface="微软雅黑" pitchFamily="34" charset="-122"/>
                <a:ea typeface="微软雅黑" pitchFamily="34" charset="-122"/>
                <a:cs typeface="新細明體" pitchFamily="18" charset="-120"/>
              </a:rPr>
              <a:t>	   	     </a:t>
            </a:r>
            <a:r>
              <a:rPr lang="zh-CN" altLang="en-US" sz="2000">
                <a:solidFill>
                  <a:schemeClr val="tx1"/>
                </a:solidFill>
                <a:latin typeface="微软雅黑" pitchFamily="34" charset="-122"/>
                <a:ea typeface="微软雅黑" pitchFamily="34" charset="-122"/>
                <a:cs typeface="新細明體" pitchFamily="18" charset="-120"/>
              </a:rPr>
              <a:t>信息。</a:t>
            </a:r>
            <a:endParaRPr lang="zh-CN" altLang="en-US" sz="20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None/>
            </a:pP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386"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整批转移</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387" name="矩形"/>
          <p:cNvSpPr>
            <a:spLocks/>
          </p:cNvSpPr>
          <p:nvPr/>
        </p:nvSpPr>
        <p:spPr>
          <a:xfrm rot="0">
            <a:off x="0" y="1768475"/>
            <a:ext cx="2754312" cy="19383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如果扫描的是工单条码，则移出地、工艺必填</a:t>
            </a:r>
            <a:endParaRPr lang="zh-CN" altLang="en-US" sz="2000">
              <a:solidFill>
                <a:srgbClr val="0D0D0D"/>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刷读工单条码或工单</a:t>
            </a:r>
            <a:r>
              <a:rPr lang="zh-CN" altLang="en-US" sz="2000">
                <a:solidFill>
                  <a:srgbClr val="0D0D0D"/>
                </a:solidFill>
                <a:latin typeface="宋体" pitchFamily="2" charset="-122"/>
                <a:ea typeface="PMingLiU" pitchFamily="18" charset="-120"/>
                <a:cs typeface="新細明體" pitchFamily="18" charset="-120"/>
              </a:rPr>
              <a:t>-</a:t>
            </a:r>
            <a:r>
              <a:rPr lang="zh-CN" altLang="en-US" sz="2000">
                <a:solidFill>
                  <a:srgbClr val="0D0D0D"/>
                </a:solidFill>
                <a:latin typeface="宋体" pitchFamily="2" charset="-122"/>
                <a:ea typeface="PMingLiU" pitchFamily="18" charset="-120"/>
                <a:cs typeface="新細明體" pitchFamily="18" charset="-120"/>
              </a:rPr>
              <a:t>工序条码</a:t>
            </a:r>
            <a:endParaRPr lang="zh-CN" altLang="en-US" sz="2000">
              <a:solidFill>
                <a:srgbClr val="0D0D0D"/>
              </a:solidFill>
              <a:latin typeface="宋体" pitchFamily="2" charset="-122"/>
              <a:ea typeface="PMingLiU" pitchFamily="18" charset="-120"/>
              <a:cs typeface="新細明體" pitchFamily="18" charset="-120"/>
            </a:endParaRPr>
          </a:p>
        </p:txBody>
      </p:sp>
      <p:pic>
        <p:nvPicPr>
          <p:cNvPr id="388" name="图片"/>
          <p:cNvPicPr>
            <a:picLocks noChangeAspect="1"/>
          </p:cNvPicPr>
          <p:nvPr/>
        </p:nvPicPr>
        <p:blipFill>
          <a:blip r:embed="rId1" cstate="print"/>
          <a:stretch>
            <a:fillRect/>
          </a:stretch>
        </p:blipFill>
        <p:spPr>
          <a:xfrm rot="0">
            <a:off x="2771775" y="1782762"/>
            <a:ext cx="6264275" cy="4735512"/>
          </a:xfrm>
          <a:prstGeom prst="rect"/>
          <a:noFill/>
          <a:ln w="9525" cmpd="sng" cap="flat">
            <a:noFill/>
            <a:prstDash val="solid"/>
            <a:miter/>
          </a:ln>
        </p:spPr>
      </p:pic>
    </p:spTree>
    <p:extLst>
      <p:ext uri="{BB962C8B-B14F-4D97-AF65-F5344CB8AC3E}">
        <p14:creationId xmlns:p14="http://schemas.microsoft.com/office/powerpoint/2010/main" val="432065162"/>
      </p:ext>
    </p:extLst>
  </p:cSld>
  <p:clrMapOvr>
    <a:masterClrMapping/>
  </p:clrMapOvr>
  <p:transition/>
</p:sld>
</file>

<file path=ppt/slides/slide6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89" name="矩形"/>
          <p:cNvSpPr>
            <a:spLocks/>
          </p:cNvSpPr>
          <p:nvPr/>
        </p:nvSpPr>
        <p:spPr>
          <a:xfrm rot="0">
            <a:off x="280987" y="476250"/>
            <a:ext cx="8820151"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整批转移</a:t>
            </a:r>
            <a:r>
              <a:rPr lang="zh-CN" altLang="en-US" sz="3600" b="1">
                <a:solidFill>
                  <a:schemeClr val="tx1"/>
                </a:solidFill>
                <a:latin typeface="黑体" pitchFamily="2" charset="-122"/>
                <a:ea typeface="黑体" pitchFamily="2" charset="-122"/>
                <a:cs typeface="新細明體" pitchFamily="18" charset="-120"/>
              </a:rPr>
              <a:t>-</a:t>
            </a:r>
            <a:r>
              <a:rPr lang="zh-CN" altLang="en-US" sz="3600" b="1">
                <a:solidFill>
                  <a:schemeClr val="tx1"/>
                </a:solidFill>
                <a:latin typeface="黑体" pitchFamily="2" charset="-122"/>
                <a:ea typeface="黑体" pitchFamily="2" charset="-122"/>
                <a:cs typeface="新細明體" pitchFamily="18" charset="-120"/>
              </a:rPr>
              <a:t>执行工艺委外收货流程</a:t>
            </a:r>
            <a:endParaRPr lang="zh-CN" altLang="en-US" sz="3600" b="1">
              <a:solidFill>
                <a:schemeClr val="tx1"/>
              </a:solidFill>
              <a:latin typeface="黑体" pitchFamily="2" charset="-122"/>
              <a:ea typeface="黑体" pitchFamily="2" charset="-122"/>
              <a:cs typeface="新細明體" pitchFamily="18" charset="-120"/>
            </a:endParaRPr>
          </a:p>
        </p:txBody>
      </p:sp>
      <p:sp>
        <p:nvSpPr>
          <p:cNvPr id="390" name="圆角矩形"/>
          <p:cNvSpPr>
            <a:spLocks/>
          </p:cNvSpPr>
          <p:nvPr/>
        </p:nvSpPr>
        <p:spPr>
          <a:xfrm rot="0">
            <a:off x="2109787" y="3479800"/>
            <a:ext cx="1857374" cy="714375"/>
          </a:xfrm>
          <a:prstGeom prst="roundRect">
            <a:avLst>
              <a:gd name="adj" fmla="val 16666"/>
            </a:avLst>
          </a:prstGeom>
          <a:solidFill>
            <a:srgbClr val="FFFFFF"/>
          </a:solidFill>
          <a:ln w="25400" cmpd="sng" cap="flat">
            <a:solidFill>
              <a:srgbClr val="C00000"/>
            </a:solidFill>
            <a:prstDash val="solid"/>
            <a:miter/>
          </a:ln>
        </p:spPr>
      </p:sp>
      <p:sp>
        <p:nvSpPr>
          <p:cNvPr id="391" name="圆角矩形"/>
          <p:cNvSpPr>
            <a:spLocks/>
          </p:cNvSpPr>
          <p:nvPr/>
        </p:nvSpPr>
        <p:spPr>
          <a:xfrm rot="0">
            <a:off x="2251075" y="2152650"/>
            <a:ext cx="1512887"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维护工单工艺信息</a:t>
            </a:r>
            <a:endParaRPr lang="zh-CN" altLang="en-US" sz="1200">
              <a:solidFill>
                <a:srgbClr val="000000"/>
              </a:solidFill>
              <a:latin typeface="Calibri" pitchFamily="0" charset="0"/>
              <a:ea typeface="PMingLiU" pitchFamily="18" charset="-120"/>
              <a:cs typeface="新細明體" pitchFamily="18" charset="-120"/>
            </a:endParaRPr>
          </a:p>
        </p:txBody>
      </p:sp>
      <p:cxnSp>
        <p:nvCxnSpPr>
          <p:cNvPr id="392" name="直线连接线"/>
          <p:cNvCxnSpPr>
            <a:cxnSpLocks/>
            <a:stCxn id="391" idx="2"/>
            <a:endCxn id="401" idx="0"/>
          </p:cNvCxnSpPr>
          <p:nvPr/>
        </p:nvCxnSpPr>
        <p:spPr>
          <a:xfrm flipH="1" rot="21600000">
            <a:off x="3006725" y="2513012"/>
            <a:ext cx="1587" cy="384174"/>
          </a:xfrm>
          <a:prstGeom prst="straightConnector1"/>
          <a:noFill/>
          <a:ln w="25400" cmpd="sng" cap="flat">
            <a:solidFill>
              <a:srgbClr val="8064A2"/>
            </a:solidFill>
            <a:prstDash val="solid"/>
            <a:miter/>
            <a:tailEnd type="arrow" w="med" len="med"/>
          </a:ln>
        </p:spPr>
      </p:cxnSp>
      <p:sp>
        <p:nvSpPr>
          <p:cNvPr id="393" name="圆角矩形"/>
          <p:cNvSpPr>
            <a:spLocks/>
          </p:cNvSpPr>
          <p:nvPr/>
        </p:nvSpPr>
        <p:spPr>
          <a:xfrm rot="0">
            <a:off x="2679700" y="5338762"/>
            <a:ext cx="1368425"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维护工艺转移单</a:t>
            </a:r>
            <a:endParaRPr lang="zh-CN" altLang="en-US" sz="1200">
              <a:solidFill>
                <a:srgbClr val="000000"/>
              </a:solidFill>
              <a:latin typeface="Calibri" pitchFamily="0" charset="0"/>
              <a:ea typeface="PMingLiU" pitchFamily="18" charset="-120"/>
              <a:cs typeface="新細明體" pitchFamily="18" charset="-120"/>
            </a:endParaRPr>
          </a:p>
        </p:txBody>
      </p:sp>
      <p:cxnSp>
        <p:nvCxnSpPr>
          <p:cNvPr id="394" name="直线连接线"/>
          <p:cNvCxnSpPr>
            <a:cxnSpLocks/>
            <a:stCxn id="401" idx="2"/>
            <a:endCxn id="398" idx="0"/>
          </p:cNvCxnSpPr>
          <p:nvPr/>
        </p:nvCxnSpPr>
        <p:spPr>
          <a:xfrm flipH="1" rot="21600000">
            <a:off x="3000375" y="3257550"/>
            <a:ext cx="6349" cy="423862"/>
          </a:xfrm>
          <a:prstGeom prst="straightConnector1"/>
          <a:noFill/>
          <a:ln w="25400" cmpd="sng" cap="flat">
            <a:solidFill>
              <a:srgbClr val="8064A2"/>
            </a:solidFill>
            <a:prstDash val="solid"/>
            <a:miter/>
            <a:tailEnd type="arrow" w="med" len="med"/>
          </a:ln>
        </p:spPr>
      </p:cxnSp>
      <p:sp>
        <p:nvSpPr>
          <p:cNvPr id="395" name="圆角矩形"/>
          <p:cNvSpPr>
            <a:spLocks/>
          </p:cNvSpPr>
          <p:nvPr/>
        </p:nvSpPr>
        <p:spPr>
          <a:xfrm rot="0">
            <a:off x="2894012" y="5695950"/>
            <a:ext cx="1368425"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维护工艺入库单</a:t>
            </a:r>
            <a:endParaRPr lang="zh-CN" altLang="en-US" sz="1200">
              <a:solidFill>
                <a:srgbClr val="000000"/>
              </a:solidFill>
              <a:latin typeface="Calibri" pitchFamily="0" charset="0"/>
              <a:ea typeface="PMingLiU" pitchFamily="18" charset="-120"/>
              <a:cs typeface="新細明體" pitchFamily="18" charset="-120"/>
            </a:endParaRPr>
          </a:p>
        </p:txBody>
      </p:sp>
      <p:sp>
        <p:nvSpPr>
          <p:cNvPr id="396" name="圆角矩形"/>
          <p:cNvSpPr>
            <a:spLocks/>
          </p:cNvSpPr>
          <p:nvPr/>
        </p:nvSpPr>
        <p:spPr>
          <a:xfrm rot="0">
            <a:off x="2252662" y="1552575"/>
            <a:ext cx="1512887"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维护工单</a:t>
            </a:r>
            <a:endParaRPr lang="zh-CN" altLang="en-US" sz="1200">
              <a:solidFill>
                <a:srgbClr val="000000"/>
              </a:solidFill>
              <a:latin typeface="Calibri" pitchFamily="0" charset="0"/>
              <a:ea typeface="PMingLiU" pitchFamily="18" charset="-120"/>
              <a:cs typeface="新細明體" pitchFamily="18" charset="-120"/>
            </a:endParaRPr>
          </a:p>
        </p:txBody>
      </p:sp>
      <p:cxnSp>
        <p:nvCxnSpPr>
          <p:cNvPr id="397" name="直线连接线"/>
          <p:cNvCxnSpPr>
            <a:cxnSpLocks/>
            <a:stCxn id="396" idx="2"/>
            <a:endCxn id="391" idx="0"/>
          </p:cNvCxnSpPr>
          <p:nvPr/>
        </p:nvCxnSpPr>
        <p:spPr>
          <a:xfrm flipH="1" rot="21600000">
            <a:off x="3008312" y="1912937"/>
            <a:ext cx="1587" cy="239712"/>
          </a:xfrm>
          <a:prstGeom prst="straightConnector1"/>
          <a:noFill/>
          <a:ln w="25400" cmpd="sng" cap="flat">
            <a:solidFill>
              <a:srgbClr val="8064A2"/>
            </a:solidFill>
            <a:prstDash val="solid"/>
            <a:miter/>
            <a:tailEnd type="arrow" w="med" len="med"/>
          </a:ln>
        </p:spPr>
      </p:cxnSp>
      <p:sp>
        <p:nvSpPr>
          <p:cNvPr id="398" name="圆角矩形"/>
          <p:cNvSpPr>
            <a:spLocks/>
          </p:cNvSpPr>
          <p:nvPr/>
        </p:nvSpPr>
        <p:spPr>
          <a:xfrm rot="0">
            <a:off x="2214562" y="3681412"/>
            <a:ext cx="1571625" cy="360362"/>
          </a:xfrm>
          <a:prstGeom prst="roundRect">
            <a:avLst>
              <a:gd name="adj" fmla="val 16666"/>
            </a:avLst>
          </a:prstGeom>
          <a:solidFill>
            <a:schemeClr val="accent1"/>
          </a:solidFill>
          <a:ln w="9525" cmpd="sng" cap="flat">
            <a:solidFill>
              <a:srgbClr val="F59241"/>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chemeClr val="bg1"/>
                </a:solidFill>
                <a:latin typeface="Calibri" pitchFamily="0" charset="0"/>
                <a:ea typeface="PMingLiU" pitchFamily="18" charset="-120"/>
                <a:cs typeface="新細明體" pitchFamily="18" charset="-120"/>
              </a:rPr>
              <a:t>整批转移</a:t>
            </a:r>
            <a:endParaRPr lang="zh-CN" altLang="en-US" sz="1200">
              <a:solidFill>
                <a:schemeClr val="bg1"/>
              </a:solidFill>
              <a:latin typeface="Calibri" pitchFamily="0" charset="0"/>
              <a:ea typeface="PMingLiU" pitchFamily="18" charset="-120"/>
              <a:cs typeface="新細明體" pitchFamily="18" charset="-120"/>
            </a:endParaRPr>
          </a:p>
        </p:txBody>
      </p:sp>
      <p:sp>
        <p:nvSpPr>
          <p:cNvPr id="399" name="圆角矩形"/>
          <p:cNvSpPr>
            <a:spLocks/>
          </p:cNvSpPr>
          <p:nvPr/>
        </p:nvSpPr>
        <p:spPr>
          <a:xfrm rot="0">
            <a:off x="4786312" y="1571625"/>
            <a:ext cx="1512887"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工厂参数</a:t>
            </a:r>
            <a:endParaRPr lang="zh-CN" altLang="en-US" sz="1200">
              <a:solidFill>
                <a:srgbClr val="000000"/>
              </a:solidFill>
              <a:latin typeface="Calibri" pitchFamily="0" charset="0"/>
              <a:ea typeface="PMingLiU" pitchFamily="18" charset="-120"/>
              <a:cs typeface="新細明體" pitchFamily="18" charset="-120"/>
            </a:endParaRPr>
          </a:p>
        </p:txBody>
      </p:sp>
      <p:cxnSp>
        <p:nvCxnSpPr>
          <p:cNvPr id="400" name="直线连接线"/>
          <p:cNvCxnSpPr>
            <a:cxnSpLocks/>
            <a:stCxn id="398" idx="2"/>
            <a:endCxn id="403" idx="0"/>
          </p:cNvCxnSpPr>
          <p:nvPr/>
        </p:nvCxnSpPr>
        <p:spPr>
          <a:xfrm rot="0">
            <a:off x="3000375" y="4041775"/>
            <a:ext cx="6349" cy="582612"/>
          </a:xfrm>
          <a:prstGeom prst="straightConnector1"/>
          <a:noFill/>
          <a:ln w="25400" cmpd="sng" cap="flat">
            <a:solidFill>
              <a:srgbClr val="8064A2"/>
            </a:solidFill>
            <a:prstDash val="solid"/>
            <a:miter/>
            <a:tailEnd type="arrow" w="med" len="med"/>
          </a:ln>
        </p:spPr>
      </p:cxnSp>
      <p:sp>
        <p:nvSpPr>
          <p:cNvPr id="401" name="圆角矩形"/>
          <p:cNvSpPr>
            <a:spLocks/>
          </p:cNvSpPr>
          <p:nvPr/>
        </p:nvSpPr>
        <p:spPr>
          <a:xfrm rot="0">
            <a:off x="2251075" y="2897187"/>
            <a:ext cx="1512887"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维护采购订单</a:t>
            </a:r>
            <a:endParaRPr lang="zh-CN" altLang="en-US" sz="1200">
              <a:solidFill>
                <a:srgbClr val="000000"/>
              </a:solidFill>
              <a:latin typeface="Calibri" pitchFamily="0" charset="0"/>
              <a:ea typeface="PMingLiU" pitchFamily="18" charset="-120"/>
              <a:cs typeface="新細明體" pitchFamily="18" charset="-120"/>
            </a:endParaRPr>
          </a:p>
        </p:txBody>
      </p:sp>
      <p:cxnSp>
        <p:nvCxnSpPr>
          <p:cNvPr id="402" name="肘形连接线"/>
          <p:cNvCxnSpPr>
            <a:cxnSpLocks/>
            <a:stCxn id="399" idx="2"/>
            <a:endCxn id="398" idx="3"/>
          </p:cNvCxnSpPr>
          <p:nvPr/>
        </p:nvCxnSpPr>
        <p:spPr>
          <a:xfrm rot="5400000">
            <a:off x="3699669" y="2018506"/>
            <a:ext cx="1928811" cy="1755774"/>
          </a:xfrm>
          <a:prstGeom prst="bentConnector2"/>
          <a:noFill/>
          <a:ln w="25400" cmpd="sng" cap="flat">
            <a:solidFill>
              <a:srgbClr val="8064A2"/>
            </a:solidFill>
            <a:prstDash val="solid"/>
            <a:miter/>
            <a:tailEnd type="arrow" w="med" len="med"/>
          </a:ln>
        </p:spPr>
      </p:cxnSp>
      <p:sp>
        <p:nvSpPr>
          <p:cNvPr id="403" name="圆角矩形"/>
          <p:cNvSpPr>
            <a:spLocks/>
          </p:cNvSpPr>
          <p:nvPr/>
        </p:nvSpPr>
        <p:spPr>
          <a:xfrm rot="0">
            <a:off x="2251075" y="4624387"/>
            <a:ext cx="1512887"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维护到货单</a:t>
            </a:r>
            <a:endParaRPr lang="zh-CN" altLang="en-US" sz="1200">
              <a:solidFill>
                <a:srgbClr val="000000"/>
              </a:solidFill>
              <a:latin typeface="Calibri" pitchFamily="0" charset="0"/>
              <a:ea typeface="PMingLiU" pitchFamily="18" charset="-120"/>
              <a:cs typeface="新細明體" pitchFamily="18" charset="-120"/>
            </a:endParaRPr>
          </a:p>
        </p:txBody>
      </p:sp>
      <p:sp>
        <p:nvSpPr>
          <p:cNvPr id="404" name="圆角矩形"/>
          <p:cNvSpPr>
            <a:spLocks/>
          </p:cNvSpPr>
          <p:nvPr/>
        </p:nvSpPr>
        <p:spPr>
          <a:xfrm rot="0">
            <a:off x="2393950" y="4978400"/>
            <a:ext cx="1512887" cy="360362"/>
          </a:xfrm>
          <a:prstGeom prst="roundRect">
            <a:avLst>
              <a:gd name="adj" fmla="val 16666"/>
            </a:avLst>
          </a:prstGeom>
          <a:solidFill>
            <a:schemeClr val="accent1"/>
          </a:solidFill>
          <a:ln w="9525" cmpd="sng" cap="flat">
            <a:solidFill>
              <a:srgbClr val="4B7EBB"/>
            </a:solid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200">
                <a:solidFill>
                  <a:srgbClr val="000000"/>
                </a:solidFill>
                <a:latin typeface="Calibri" pitchFamily="0" charset="0"/>
                <a:ea typeface="PMingLiU" pitchFamily="18" charset="-120"/>
                <a:cs typeface="新細明體" pitchFamily="18" charset="-120"/>
              </a:rPr>
              <a:t>维护采购入库单</a:t>
            </a:r>
            <a:endParaRPr lang="zh-CN" altLang="en-US" sz="1200">
              <a:solidFill>
                <a:srgbClr val="000000"/>
              </a:solidFill>
              <a:latin typeface="Calibri" pitchFamily="0" charset="0"/>
              <a:ea typeface="PMingLiU" pitchFamily="18" charset="-120"/>
              <a:cs typeface="新細明體" pitchFamily="18" charset="-120"/>
            </a:endParaRPr>
          </a:p>
        </p:txBody>
      </p:sp>
      <p:sp>
        <p:nvSpPr>
          <p:cNvPr id="405" name="矩形"/>
          <p:cNvSpPr>
            <a:spLocks/>
          </p:cNvSpPr>
          <p:nvPr/>
        </p:nvSpPr>
        <p:spPr>
          <a:xfrm rot="0">
            <a:off x="2454275" y="4143375"/>
            <a:ext cx="1285875" cy="369887"/>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b="1">
                <a:solidFill>
                  <a:srgbClr val="FF0000"/>
                </a:solidFill>
                <a:latin typeface="Arial" pitchFamily="34" charset="0"/>
                <a:ea typeface="PMingLiU" pitchFamily="18" charset="-120"/>
                <a:cs typeface="新細明體" pitchFamily="18" charset="-120"/>
              </a:rPr>
              <a:t>自动生成</a:t>
            </a:r>
            <a:endParaRPr lang="zh-CN" altLang="en-US" sz="1800" b="1">
              <a:solidFill>
                <a:srgbClr val="FF0000"/>
              </a:solidFill>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858373223"/>
      </p:ext>
    </p:extLst>
  </p:cSld>
  <p:clrMapOvr>
    <a:masterClrMapping/>
  </p:clrMapOvr>
  <p:transition/>
</p:sld>
</file>

<file path=ppt/slides/slide6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06" name="矩形"/>
          <p:cNvSpPr>
            <a:spLocks/>
          </p:cNvSpPr>
          <p:nvPr/>
        </p:nvSpPr>
        <p:spPr>
          <a:xfrm rot="0">
            <a:off x="468312" y="1000125"/>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：按工厂设定整批转移是否生成工艺委外进货单。</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07"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维护工厂参数</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408" name="矩形"/>
          <p:cNvSpPr>
            <a:spLocks/>
          </p:cNvSpPr>
          <p:nvPr/>
        </p:nvSpPr>
        <p:spPr>
          <a:xfrm rot="0">
            <a:off x="17462" y="1782762"/>
            <a:ext cx="2754312" cy="286226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设定</a:t>
            </a:r>
            <a:r>
              <a:rPr lang="zh-CN" altLang="en-US" sz="2000">
                <a:solidFill>
                  <a:schemeClr val="tx1"/>
                </a:solidFill>
                <a:latin typeface="宋体" pitchFamily="2" charset="-122"/>
                <a:ea typeface="宋体" pitchFamily="2" charset="-122"/>
                <a:cs typeface="新細明體" pitchFamily="18" charset="-120"/>
              </a:rPr>
              <a:t>整</a:t>
            </a:r>
            <a:r>
              <a:rPr lang="zh-CN" altLang="en-US" sz="2000">
                <a:solidFill>
                  <a:schemeClr val="tx1"/>
                </a:solidFill>
                <a:latin typeface="宋体" pitchFamily="2" charset="-122"/>
                <a:ea typeface="宋体" pitchFamily="2" charset="-122"/>
                <a:cs typeface="新細明體" pitchFamily="18" charset="-120"/>
              </a:rPr>
              <a:t>批转移是否生成工艺委外进货单</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PMingLiU" pitchFamily="18" charset="-120"/>
                <a:cs typeface="新細明體" pitchFamily="18" charset="-120"/>
              </a:rPr>
              <a:t>设定</a:t>
            </a:r>
            <a:r>
              <a:rPr lang="zh-CN" altLang="en-US" sz="2000">
                <a:solidFill>
                  <a:schemeClr val="tx1"/>
                </a:solidFill>
                <a:latin typeface="宋体" pitchFamily="2" charset="-122"/>
                <a:ea typeface="宋体" pitchFamily="2" charset="-122"/>
                <a:cs typeface="新細明體" pitchFamily="18" charset="-120"/>
              </a:rPr>
              <a:t>生成工艺委外到货单单据</a:t>
            </a:r>
            <a:r>
              <a:rPr lang="zh-CN" altLang="en-US" sz="2000">
                <a:solidFill>
                  <a:schemeClr val="tx1"/>
                </a:solidFill>
                <a:latin typeface="宋体" pitchFamily="2" charset="-122"/>
                <a:ea typeface="宋体" pitchFamily="2" charset="-122"/>
                <a:cs typeface="新細明體" pitchFamily="18" charset="-120"/>
              </a:rPr>
              <a:t>类型及质检的工艺委外到货单据类型</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rgbClr val="0D0D0D"/>
              </a:solidFill>
              <a:latin typeface="宋体" pitchFamily="2" charset="-122"/>
              <a:ea typeface="PMingLiU" pitchFamily="18" charset="-120"/>
              <a:cs typeface="新細明體" pitchFamily="18" charset="-120"/>
            </a:endParaRPr>
          </a:p>
        </p:txBody>
      </p:sp>
      <p:pic>
        <p:nvPicPr>
          <p:cNvPr id="409" name="图片"/>
          <p:cNvPicPr>
            <a:picLocks noChangeAspect="1"/>
          </p:cNvPicPr>
          <p:nvPr/>
        </p:nvPicPr>
        <p:blipFill>
          <a:blip r:embed="rId1" cstate="print"/>
          <a:stretch>
            <a:fillRect/>
          </a:stretch>
        </p:blipFill>
        <p:spPr>
          <a:xfrm rot="0">
            <a:off x="2771775" y="1690687"/>
            <a:ext cx="5761037" cy="4546600"/>
          </a:xfrm>
          <a:prstGeom prst="rect"/>
          <a:noFill/>
          <a:ln w="9525" cmpd="sng" cap="flat">
            <a:noFill/>
            <a:prstDash val="solid"/>
            <a:miter/>
          </a:ln>
        </p:spPr>
      </p:pic>
    </p:spTree>
    <p:extLst>
      <p:ext uri="{BB962C8B-B14F-4D97-AF65-F5344CB8AC3E}">
        <p14:creationId xmlns:p14="http://schemas.microsoft.com/office/powerpoint/2010/main" val="672513192"/>
      </p:ext>
    </p:extLst>
  </p:cSld>
  <p:clrMapOvr>
    <a:masterClrMapping/>
  </p:clrMapOvr>
  <p:transition/>
</p:sld>
</file>

<file path=ppt/slides/slide6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10" name="矩形"/>
          <p:cNvSpPr>
            <a:spLocks/>
          </p:cNvSpPr>
          <p:nvPr/>
        </p:nvSpPr>
        <p:spPr>
          <a:xfrm rot="0">
            <a:off x="468312" y="1000125"/>
            <a:ext cx="8424862" cy="101599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ct val="5000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：整批转移支持“委外待收货”的工单工艺。生成工艺委外到货</a:t>
            </a:r>
            <a:r>
              <a:rPr lang="zh-CN" altLang="en-US" sz="2000">
                <a:solidFill>
                  <a:schemeClr val="tx1"/>
                </a:solidFill>
                <a:latin typeface="微软雅黑" pitchFamily="34" charset="-122"/>
                <a:ea typeface="微软雅黑" pitchFamily="34" charset="-122"/>
                <a:cs typeface="新細明體" pitchFamily="18" charset="-120"/>
              </a:rPr>
              <a:t>	 	     </a:t>
            </a:r>
            <a:r>
              <a:rPr lang="zh-CN" altLang="en-US" sz="2000">
                <a:solidFill>
                  <a:schemeClr val="tx1"/>
                </a:solidFill>
                <a:latin typeface="微软雅黑" pitchFamily="34" charset="-122"/>
                <a:ea typeface="微软雅黑" pitchFamily="34" charset="-122"/>
                <a:cs typeface="新細明體" pitchFamily="18" charset="-120"/>
              </a:rPr>
              <a:t>单、工艺委外采购入库单、工艺转移单。</a:t>
            </a:r>
            <a:endParaRPr lang="zh-CN" altLang="en-US" sz="2000">
              <a:solidFill>
                <a:schemeClr val="tx1"/>
              </a:solidFill>
              <a:latin typeface="微软雅黑" pitchFamily="34" charset="-122"/>
              <a:ea typeface="微软雅黑" pitchFamily="34" charset="-122"/>
              <a:cs typeface="新細明體" pitchFamily="18" charset="-120"/>
            </a:endParaRPr>
          </a:p>
          <a:p>
            <a:pPr marL="0" indent="0" algn="l">
              <a:lnSpc>
                <a:spcPct val="100000"/>
              </a:lnSpc>
              <a:spcBef>
                <a:spcPts val="0"/>
              </a:spcBef>
              <a:spcAft>
                <a:spcPts val="0"/>
              </a:spcAft>
              <a:buNone/>
            </a:pP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11"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整批转移</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412" name="矩形"/>
          <p:cNvSpPr>
            <a:spLocks/>
          </p:cNvSpPr>
          <p:nvPr/>
        </p:nvSpPr>
        <p:spPr>
          <a:xfrm rot="0">
            <a:off x="17462" y="1782762"/>
            <a:ext cx="2754312" cy="347821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只有</a:t>
            </a:r>
            <a:r>
              <a:rPr lang="zh-CN" altLang="en-US" sz="2000">
                <a:solidFill>
                  <a:srgbClr val="0D0D0D"/>
                </a:solidFill>
                <a:latin typeface="宋体" pitchFamily="2" charset="-122"/>
                <a:ea typeface="宋体" pitchFamily="2" charset="-122"/>
                <a:cs typeface="新細明體" pitchFamily="18" charset="-120"/>
              </a:rPr>
              <a:t>【</a:t>
            </a:r>
            <a:r>
              <a:rPr lang="zh-CN" altLang="en-US" sz="2000">
                <a:solidFill>
                  <a:srgbClr val="0D0D0D"/>
                </a:solidFill>
                <a:latin typeface="宋体" pitchFamily="2" charset="-122"/>
                <a:ea typeface="宋体" pitchFamily="2" charset="-122"/>
                <a:cs typeface="新細明體" pitchFamily="18" charset="-120"/>
              </a:rPr>
              <a:t>移出类别</a:t>
            </a:r>
            <a:r>
              <a:rPr lang="zh-CN" altLang="en-US" sz="2000">
                <a:solidFill>
                  <a:srgbClr val="0D0D0D"/>
                </a:solidFill>
                <a:latin typeface="宋体" pitchFamily="2" charset="-122"/>
                <a:ea typeface="宋体" pitchFamily="2" charset="-122"/>
                <a:cs typeface="新細明體" pitchFamily="18" charset="-120"/>
              </a:rPr>
              <a:t>】</a:t>
            </a:r>
            <a:r>
              <a:rPr lang="zh-CN" altLang="en-US" sz="2000">
                <a:solidFill>
                  <a:srgbClr val="0D0D0D"/>
                </a:solidFill>
                <a:latin typeface="宋体" pitchFamily="2" charset="-122"/>
                <a:ea typeface="宋体" pitchFamily="2" charset="-122"/>
                <a:cs typeface="新細明體" pitchFamily="18" charset="-120"/>
              </a:rPr>
              <a:t>为委外供应商的才能生成工艺委外进货单据</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rgbClr val="0D0D0D"/>
                </a:solidFill>
                <a:latin typeface="宋体" pitchFamily="2" charset="-122"/>
                <a:ea typeface="宋体" pitchFamily="2" charset="-122"/>
                <a:cs typeface="新細明體" pitchFamily="18" charset="-120"/>
              </a:rPr>
              <a:t>查询</a:t>
            </a:r>
            <a:r>
              <a:rPr lang="zh-CN" altLang="en-US" sz="2000">
                <a:solidFill>
                  <a:srgbClr val="0D0D0D"/>
                </a:solidFill>
                <a:latin typeface="宋体" pitchFamily="2" charset="-122"/>
                <a:ea typeface="宋体" pitchFamily="2" charset="-122"/>
                <a:cs typeface="新細明體" pitchFamily="18" charset="-120"/>
              </a:rPr>
              <a:t>【</a:t>
            </a:r>
            <a:r>
              <a:rPr lang="zh-CN" altLang="en-US" sz="2000">
                <a:solidFill>
                  <a:srgbClr val="0D0D0D"/>
                </a:solidFill>
                <a:latin typeface="宋体" pitchFamily="2" charset="-122"/>
                <a:ea typeface="宋体" pitchFamily="2" charset="-122"/>
                <a:cs typeface="新細明體" pitchFamily="18" charset="-120"/>
              </a:rPr>
              <a:t>委外待收货量</a:t>
            </a:r>
            <a:r>
              <a:rPr lang="zh-CN" altLang="en-US" sz="2000">
                <a:solidFill>
                  <a:srgbClr val="0D0D0D"/>
                </a:solidFill>
                <a:latin typeface="宋体" pitchFamily="2" charset="-122"/>
                <a:ea typeface="宋体" pitchFamily="2" charset="-122"/>
                <a:cs typeface="新細明體" pitchFamily="18" charset="-120"/>
              </a:rPr>
              <a:t>】</a:t>
            </a:r>
            <a:r>
              <a:rPr lang="zh-CN" altLang="en-US" sz="2000">
                <a:solidFill>
                  <a:srgbClr val="0D0D0D"/>
                </a:solidFill>
                <a:latin typeface="宋体" pitchFamily="2" charset="-122"/>
                <a:ea typeface="宋体" pitchFamily="2" charset="-122"/>
                <a:cs typeface="新細明體" pitchFamily="18" charset="-120"/>
              </a:rPr>
              <a:t>大于零的</a:t>
            </a:r>
            <a:r>
              <a:rPr lang="zh-CN" altLang="en-US" sz="2000">
                <a:solidFill>
                  <a:srgbClr val="0D0D0D"/>
                </a:solidFill>
                <a:latin typeface="宋体" pitchFamily="2" charset="-122"/>
                <a:ea typeface="宋体" pitchFamily="2" charset="-122"/>
                <a:cs typeface="新細明體" pitchFamily="18" charset="-120"/>
              </a:rPr>
              <a:t>工单</a:t>
            </a:r>
            <a:r>
              <a:rPr lang="zh-CN" altLang="en-US" sz="2000">
                <a:solidFill>
                  <a:srgbClr val="0D0D0D"/>
                </a:solidFill>
                <a:latin typeface="宋体" pitchFamily="2" charset="-122"/>
                <a:ea typeface="宋体" pitchFamily="2" charset="-122"/>
                <a:cs typeface="新細明體" pitchFamily="18" charset="-120"/>
              </a:rPr>
              <a:t>工艺</a:t>
            </a:r>
            <a:endParaRPr lang="zh-CN" altLang="en-US" sz="2000">
              <a:solidFill>
                <a:srgbClr val="0D0D0D"/>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b="1">
                <a:solidFill>
                  <a:srgbClr val="0D0D0D"/>
                </a:solidFill>
                <a:latin typeface="宋体" pitchFamily="2" charset="-122"/>
                <a:ea typeface="宋体" pitchFamily="2" charset="-122"/>
                <a:cs typeface="新細明體" pitchFamily="18" charset="-120"/>
              </a:rPr>
              <a:t>立即处理后，自动生成采购到货及采购入库单据和工艺转移</a:t>
            </a:r>
            <a:r>
              <a:rPr lang="zh-CN" altLang="en-US" sz="2000" b="1">
                <a:solidFill>
                  <a:srgbClr val="0D0D0D"/>
                </a:solidFill>
                <a:latin typeface="宋体" pitchFamily="2" charset="-122"/>
                <a:ea typeface="宋体" pitchFamily="2" charset="-122"/>
                <a:cs typeface="新細明體" pitchFamily="18" charset="-120"/>
              </a:rPr>
              <a:t>/</a:t>
            </a:r>
            <a:r>
              <a:rPr lang="zh-CN" altLang="en-US" sz="2000" b="1">
                <a:solidFill>
                  <a:srgbClr val="0D0D0D"/>
                </a:solidFill>
                <a:latin typeface="宋体" pitchFamily="2" charset="-122"/>
                <a:ea typeface="宋体" pitchFamily="2" charset="-122"/>
                <a:cs typeface="新細明體" pitchFamily="18" charset="-120"/>
              </a:rPr>
              <a:t>入库单</a:t>
            </a:r>
            <a:endParaRPr lang="zh-CN" altLang="en-US" sz="2000" b="1">
              <a:solidFill>
                <a:srgbClr val="0D0D0D"/>
              </a:solidFill>
              <a:latin typeface="宋体" pitchFamily="2" charset="-122"/>
              <a:ea typeface="宋体" pitchFamily="2" charset="-122"/>
              <a:cs typeface="新細明體" pitchFamily="18" charset="-120"/>
            </a:endParaRPr>
          </a:p>
        </p:txBody>
      </p:sp>
      <p:pic>
        <p:nvPicPr>
          <p:cNvPr id="413" name="图片"/>
          <p:cNvPicPr>
            <a:picLocks noChangeAspect="1"/>
          </p:cNvPicPr>
          <p:nvPr/>
        </p:nvPicPr>
        <p:blipFill>
          <a:blip r:embed="rId1" cstate="print"/>
          <a:stretch>
            <a:fillRect/>
          </a:stretch>
        </p:blipFill>
        <p:spPr>
          <a:xfrm rot="0">
            <a:off x="2654300" y="1822450"/>
            <a:ext cx="6337300" cy="4492625"/>
          </a:xfrm>
          <a:prstGeom prst="rect"/>
          <a:noFill/>
          <a:ln w="9525" cmpd="sng" cap="flat">
            <a:noFill/>
            <a:prstDash val="solid"/>
            <a:miter/>
          </a:ln>
        </p:spPr>
      </p:pic>
    </p:spTree>
    <p:extLst>
      <p:ext uri="{BB962C8B-B14F-4D97-AF65-F5344CB8AC3E}">
        <p14:creationId xmlns:p14="http://schemas.microsoft.com/office/powerpoint/2010/main" val="1634235338"/>
      </p:ext>
    </p:extLst>
  </p:cSld>
  <p:clrMapOvr>
    <a:masterClrMapping/>
  </p:clrMapOvr>
  <p:transition/>
</p:sld>
</file>

<file path=ppt/slides/slide6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14" name="矩形"/>
          <p:cNvSpPr>
            <a:spLocks/>
          </p:cNvSpPr>
          <p:nvPr/>
        </p:nvSpPr>
        <p:spPr>
          <a:xfrm rot="0">
            <a:off x="280987" y="476250"/>
            <a:ext cx="8820151"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集团内委外</a:t>
            </a:r>
            <a:r>
              <a:rPr lang="zh-CN" altLang="en-US" sz="3600" b="1">
                <a:solidFill>
                  <a:schemeClr val="tx1"/>
                </a:solidFill>
                <a:latin typeface="黑体" pitchFamily="2" charset="-122"/>
                <a:ea typeface="黑体" pitchFamily="2" charset="-122"/>
                <a:cs typeface="新細明體" pitchFamily="18" charset="-120"/>
              </a:rPr>
              <a:t>-</a:t>
            </a:r>
            <a:r>
              <a:rPr lang="zh-CN" altLang="en-US" sz="3600" b="1">
                <a:solidFill>
                  <a:schemeClr val="tx1"/>
                </a:solidFill>
                <a:latin typeface="黑体" pitchFamily="2" charset="-122"/>
                <a:ea typeface="黑体" pitchFamily="2" charset="-122"/>
                <a:cs typeface="新細明體" pitchFamily="18" charset="-120"/>
              </a:rPr>
              <a:t>跨公司工艺委外流程</a:t>
            </a:r>
            <a:endParaRPr lang="zh-CN" altLang="en-US" sz="3600" b="1">
              <a:solidFill>
                <a:schemeClr val="tx1"/>
              </a:solidFill>
              <a:latin typeface="黑体" pitchFamily="2" charset="-122"/>
              <a:ea typeface="黑体" pitchFamily="2" charset="-122"/>
              <a:cs typeface="新細明體" pitchFamily="18" charset="-120"/>
            </a:endParaRPr>
          </a:p>
        </p:txBody>
      </p:sp>
      <p:pic>
        <p:nvPicPr>
          <p:cNvPr id="415" name="图片"/>
          <p:cNvPicPr>
            <a:picLocks noChangeAspect="1"/>
          </p:cNvPicPr>
          <p:nvPr/>
        </p:nvPicPr>
        <p:blipFill>
          <a:blip r:embed="rId1" cstate="print"/>
          <a:stretch>
            <a:fillRect/>
          </a:stretch>
        </p:blipFill>
        <p:spPr>
          <a:xfrm rot="0">
            <a:off x="333375" y="1273175"/>
            <a:ext cx="8477250" cy="5324475"/>
          </a:xfrm>
          <a:prstGeom prst="rect"/>
          <a:noFill/>
          <a:ln w="9525" cmpd="sng" cap="flat">
            <a:noFill/>
            <a:prstDash val="solid"/>
            <a:miter/>
          </a:ln>
        </p:spPr>
      </p:pic>
    </p:spTree>
    <p:extLst>
      <p:ext uri="{BB962C8B-B14F-4D97-AF65-F5344CB8AC3E}">
        <p14:creationId xmlns:p14="http://schemas.microsoft.com/office/powerpoint/2010/main" val="774194543"/>
      </p:ext>
    </p:extLst>
  </p:cSld>
  <p:clrMapOvr>
    <a:masterClrMapping/>
  </p:clrMapOvr>
  <p:transition/>
</p:sld>
</file>

<file path=ppt/slides/slide6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16" name="矩形"/>
          <p:cNvSpPr>
            <a:spLocks/>
          </p:cNvSpPr>
          <p:nvPr/>
        </p:nvSpPr>
        <p:spPr>
          <a:xfrm rot="0">
            <a:off x="8577262" y="6445250"/>
            <a:ext cx="566737" cy="41274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68</a:t>
            </a:r>
            <a:endParaRPr lang="zh-CN" altLang="en-US" sz="1800">
              <a:solidFill>
                <a:schemeClr val="tx1"/>
              </a:solidFill>
              <a:latin typeface="Arial" pitchFamily="34" charset="0"/>
              <a:ea typeface="PMingLiU" pitchFamily="18" charset="-120"/>
              <a:cs typeface="新細明體" pitchFamily="18" charset="-120"/>
            </a:endParaRPr>
          </a:p>
        </p:txBody>
      </p:sp>
      <p:sp>
        <p:nvSpPr>
          <p:cNvPr id="417" name="矩形"/>
          <p:cNvSpPr>
            <a:spLocks/>
          </p:cNvSpPr>
          <p:nvPr/>
        </p:nvSpPr>
        <p:spPr>
          <a:xfrm rot="0">
            <a:off x="360362" y="1050925"/>
            <a:ext cx="8423275"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a:t>
            </a:r>
            <a:r>
              <a:rPr lang="zh-CN" altLang="en-US" sz="1600">
                <a:solidFill>
                  <a:schemeClr val="tx1"/>
                </a:solidFill>
                <a:latin typeface="微软雅黑" pitchFamily="34" charset="-122"/>
                <a:ea typeface="微软雅黑" pitchFamily="34" charset="-122"/>
                <a:cs typeface="新細明體" pitchFamily="18" charset="-120"/>
              </a:rPr>
              <a:t>协同类型新增：</a:t>
            </a:r>
            <a:r>
              <a:rPr lang="zh-CN" altLang="en-US" sz="1600">
                <a:solidFill>
                  <a:schemeClr val="tx1"/>
                </a:solidFill>
                <a:latin typeface="微软雅黑" pitchFamily="34" charset="-122"/>
                <a:ea typeface="微软雅黑" pitchFamily="34" charset="-122"/>
                <a:cs typeface="新細明體" pitchFamily="18" charset="-120"/>
              </a:rPr>
              <a:t>集团内跨公司委托</a:t>
            </a:r>
            <a:r>
              <a:rPr lang="zh-CN" altLang="en-US" sz="1600">
                <a:solidFill>
                  <a:schemeClr val="tx1"/>
                </a:solidFill>
                <a:latin typeface="微软雅黑" pitchFamily="34" charset="-122"/>
                <a:ea typeface="微软雅黑" pitchFamily="34" charset="-122"/>
                <a:cs typeface="新細明體" pitchFamily="18" charset="-120"/>
              </a:rPr>
              <a:t>生产 和</a:t>
            </a:r>
            <a:r>
              <a:rPr lang="zh-CN" altLang="en-US" sz="1600">
                <a:solidFill>
                  <a:schemeClr val="tx1"/>
                </a:solidFill>
                <a:latin typeface="微软雅黑" pitchFamily="34" charset="-122"/>
                <a:ea typeface="微软雅黑" pitchFamily="34" charset="-122"/>
                <a:cs typeface="新細明體" pitchFamily="18" charset="-120"/>
              </a:rPr>
              <a:t>集团内跨工厂委托生产</a:t>
            </a:r>
            <a:r>
              <a:rPr lang="zh-CN" altLang="en-US" sz="1600">
                <a:solidFill>
                  <a:schemeClr val="tx1"/>
                </a:solidFill>
                <a:latin typeface="微软雅黑" pitchFamily="34" charset="-122"/>
                <a:ea typeface="微软雅黑" pitchFamily="34" charset="-122"/>
                <a:cs typeface="新細明體" pitchFamily="18" charset="-120"/>
              </a:rPr>
              <a:t> </a:t>
            </a:r>
            <a:endParaRPr lang="zh-CN" altLang="en-US" sz="1600">
              <a:solidFill>
                <a:schemeClr val="tx1"/>
              </a:solidFill>
              <a:latin typeface="微软雅黑" pitchFamily="34" charset="-122"/>
              <a:ea typeface="微软雅黑" pitchFamily="34" charset="-122"/>
              <a:cs typeface="新細明體" pitchFamily="18" charset="-120"/>
            </a:endParaRPr>
          </a:p>
        </p:txBody>
      </p:sp>
      <p:pic>
        <p:nvPicPr>
          <p:cNvPr id="418" name="图片"/>
          <p:cNvPicPr>
            <a:picLocks noChangeAspect="1"/>
          </p:cNvPicPr>
          <p:nvPr/>
        </p:nvPicPr>
        <p:blipFill>
          <a:blip r:embed="rId1" cstate="print"/>
          <a:stretch>
            <a:fillRect/>
          </a:stretch>
        </p:blipFill>
        <p:spPr>
          <a:xfrm rot="0">
            <a:off x="904875" y="1436687"/>
            <a:ext cx="7437437" cy="5210175"/>
          </a:xfrm>
          <a:prstGeom prst="rect"/>
          <a:noFill/>
          <a:ln w="9525" cmpd="sng" cap="flat">
            <a:noFill/>
            <a:prstDash val="solid"/>
            <a:miter/>
          </a:ln>
        </p:spPr>
      </p:pic>
      <p:sp>
        <p:nvSpPr>
          <p:cNvPr id="419"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基础数据准备</a:t>
            </a:r>
            <a:r>
              <a:rPr lang="zh-CN" altLang="en-US" sz="3600" b="1">
                <a:solidFill>
                  <a:schemeClr val="tx1"/>
                </a:solidFill>
                <a:latin typeface="黑体" pitchFamily="2" charset="-122"/>
                <a:ea typeface="黑体" pitchFamily="2" charset="-122"/>
                <a:cs typeface="新細明體" pitchFamily="18" charset="-120"/>
              </a:rPr>
              <a:t>－</a:t>
            </a:r>
            <a:r>
              <a:rPr lang="zh-CN" altLang="en-US" sz="3600" b="1">
                <a:solidFill>
                  <a:schemeClr val="tx1"/>
                </a:solidFill>
                <a:latin typeface="黑体" pitchFamily="2" charset="-122"/>
                <a:ea typeface="黑体" pitchFamily="2" charset="-122"/>
                <a:cs typeface="新細明體" pitchFamily="18" charset="-120"/>
              </a:rPr>
              <a:t>维护供应协同关系</a:t>
            </a:r>
            <a:endParaRPr lang="zh-CN" altLang="en-US" sz="3600" b="1">
              <a:solidFill>
                <a:schemeClr val="tx1"/>
              </a:solidFill>
              <a:latin typeface="黑体" pitchFamily="2" charset="-122"/>
              <a:ea typeface="黑体" pitchFamily="2" charset="-122"/>
              <a:cs typeface="新細明體" pitchFamily="18" charset="-120"/>
            </a:endParaRPr>
          </a:p>
        </p:txBody>
      </p:sp>
      <p:sp>
        <p:nvSpPr>
          <p:cNvPr id="420" name="圆角矩形标注"/>
          <p:cNvSpPr>
            <a:spLocks/>
          </p:cNvSpPr>
          <p:nvPr/>
        </p:nvSpPr>
        <p:spPr>
          <a:xfrm rot="0">
            <a:off x="3219450" y="2936875"/>
            <a:ext cx="2808287" cy="635000"/>
          </a:xfrm>
          <a:prstGeom prst="wedgeRoundRectCallout">
            <a:avLst>
              <a:gd name="adj1" fmla="val -65324"/>
              <a:gd name="adj2" fmla="val -7291"/>
              <a:gd name="adj3" fmla="val 16667"/>
            </a:avLst>
          </a:prstGeom>
          <a:solidFill>
            <a:schemeClr val="accent1"/>
          </a:solidFill>
          <a:ln w="9525" cmpd="sng" cap="flat">
            <a:solidFill>
              <a:srgbClr val="F59241"/>
            </a:solidFill>
            <a:prstDash val="solid"/>
            <a:miter/>
          </a:ln>
        </p:spPr>
        <p:txBody>
          <a:bodyPr vert="horz" wrap="square" lIns="91440" tIns="45720" rIns="91440" bIns="45720" anchor="ctr" anchorCtr="0">
            <a:prstTxWarp prst="textNoShape"/>
          </a:bodyPr>
          <a:lstStyle/>
          <a:p>
            <a:pPr marL="0" indent="0" algn="l" fontAlgn="base">
              <a:lnSpc>
                <a:spcPct val="100000"/>
              </a:lnSpc>
              <a:spcBef>
                <a:spcPts val="0"/>
              </a:spcBef>
              <a:spcAft>
                <a:spcPts val="0"/>
              </a:spcAft>
              <a:buNone/>
            </a:pPr>
            <a:r>
              <a:rPr lang="zh-CN" altLang="en-US" sz="1400">
                <a:solidFill>
                  <a:srgbClr val="000000"/>
                </a:solidFill>
                <a:latin typeface="Calibri" pitchFamily="0" charset="0"/>
                <a:ea typeface="PMingLiU" pitchFamily="18" charset="-120"/>
                <a:cs typeface="新細明體" pitchFamily="18" charset="-120"/>
              </a:rPr>
              <a:t>新增：集团内跨公司委托生产</a:t>
            </a:r>
            <a:endParaRPr lang="zh-CN" altLang="en-US" sz="1400">
              <a:solidFill>
                <a:srgbClr val="000000"/>
              </a:solidFill>
              <a:latin typeface="Calibri" pitchFamily="0" charset="0"/>
              <a:ea typeface="PMingLiU" pitchFamily="18" charset="-120"/>
              <a:cs typeface="新細明體" pitchFamily="18" charset="-120"/>
            </a:endParaRPr>
          </a:p>
          <a:p>
            <a:pPr marL="0" indent="0" algn="l" fontAlgn="base">
              <a:lnSpc>
                <a:spcPct val="100000"/>
              </a:lnSpc>
              <a:spcBef>
                <a:spcPts val="0"/>
              </a:spcBef>
              <a:spcAft>
                <a:spcPts val="0"/>
              </a:spcAft>
              <a:buNone/>
            </a:pPr>
            <a:r>
              <a:rPr lang="zh-CN" altLang="en-US" sz="1400">
                <a:solidFill>
                  <a:srgbClr val="000000"/>
                </a:solidFill>
                <a:latin typeface="Calibri" pitchFamily="0" charset="0"/>
                <a:ea typeface="PMingLiU" pitchFamily="18" charset="-120"/>
                <a:cs typeface="新細明體" pitchFamily="18" charset="-120"/>
              </a:rPr>
              <a:t> </a:t>
            </a:r>
            <a:r>
              <a:rPr lang="zh-CN" altLang="en-US" sz="1400">
                <a:solidFill>
                  <a:srgbClr val="000000"/>
                </a:solidFill>
                <a:latin typeface="Calibri" pitchFamily="0" charset="0"/>
                <a:ea typeface="PMingLiU" pitchFamily="18" charset="-120"/>
                <a:cs typeface="新細明體" pitchFamily="18" charset="-120"/>
              </a:rPr>
              <a:t>             </a:t>
            </a:r>
            <a:r>
              <a:rPr lang="zh-CN" altLang="en-US" sz="1400">
                <a:solidFill>
                  <a:srgbClr val="000000"/>
                </a:solidFill>
                <a:latin typeface="Calibri" pitchFamily="0" charset="0"/>
                <a:ea typeface="PMingLiU" pitchFamily="18" charset="-120"/>
                <a:cs typeface="新細明體" pitchFamily="18" charset="-120"/>
              </a:rPr>
              <a:t>集团内跨工厂委托生产</a:t>
            </a:r>
            <a:endParaRPr lang="zh-CN" altLang="en-US" sz="1400">
              <a:solidFill>
                <a:srgbClr val="000000"/>
              </a:solidFill>
              <a:latin typeface="Calibri" pitchFamily="0" charset="0"/>
              <a:ea typeface="PMingLiU" pitchFamily="18" charset="-120"/>
              <a:cs typeface="新細明體" pitchFamily="18" charset="-120"/>
            </a:endParaRPr>
          </a:p>
        </p:txBody>
      </p:sp>
    </p:spTree>
    <p:extLst>
      <p:ext uri="{BB962C8B-B14F-4D97-AF65-F5344CB8AC3E}">
        <p14:creationId xmlns:p14="http://schemas.microsoft.com/office/powerpoint/2010/main" val="30519063"/>
      </p:ext>
    </p:extLst>
  </p:cSld>
  <p:clrMapOvr>
    <a:masterClrMapping/>
  </p:clrMapOvr>
  <p:transition/>
</p:sld>
</file>

<file path=ppt/slides/slide6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21" name="圆角矩形"/>
          <p:cNvSpPr>
            <a:spLocks/>
          </p:cNvSpPr>
          <p:nvPr/>
        </p:nvSpPr>
        <p:spPr>
          <a:xfrm rot="0">
            <a:off x="1116012" y="1239837"/>
            <a:ext cx="7343775" cy="5302250"/>
          </a:xfrm>
          <a:prstGeom prst="roundRect">
            <a:avLst>
              <a:gd name="adj" fmla="val 16666"/>
            </a:avLst>
          </a:prstGeom>
          <a:solidFill>
            <a:srgbClr val="DAE5F2"/>
          </a:solidFill>
          <a:ln w="25400" cmpd="sng" cap="flat">
            <a:solidFill>
              <a:srgbClr val="4F81BD"/>
            </a:solidFill>
            <a:prstDash val="dash"/>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重点栏位说明</a:t>
            </a:r>
            <a:endParaRPr lang="zh-CN" altLang="en-US" sz="1800" b="1">
              <a:solidFill>
                <a:schemeClr val="tx1"/>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宋体" pitchFamily="2" charset="-122"/>
                <a:ea typeface="PMingLiU" pitchFamily="18" charset="-120"/>
                <a:cs typeface="新細明體" pitchFamily="18" charset="-120"/>
              </a:rPr>
              <a:t>内部订单</a:t>
            </a:r>
            <a:r>
              <a:rPr lang="zh-CN" altLang="en-US" sz="1500">
                <a:solidFill>
                  <a:srgbClr val="000000"/>
                </a:solidFill>
                <a:latin typeface="PMingLiU" pitchFamily="18" charset="-120"/>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跨</a:t>
            </a:r>
            <a:r>
              <a:rPr lang="zh-CN" altLang="en-US" sz="1500">
                <a:solidFill>
                  <a:srgbClr val="000000"/>
                </a:solidFill>
                <a:latin typeface="宋体" pitchFamily="2" charset="-122"/>
                <a:ea typeface="PMingLiU" pitchFamily="18" charset="-120"/>
                <a:cs typeface="新細明體" pitchFamily="18" charset="-120"/>
              </a:rPr>
              <a:t>公司委外</a:t>
            </a:r>
            <a:r>
              <a:rPr lang="zh-CN" altLang="en-US" sz="1500">
                <a:solidFill>
                  <a:srgbClr val="000000"/>
                </a:solidFill>
                <a:latin typeface="宋体" pitchFamily="2" charset="-122"/>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自动生成的内部订单的默认单别</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宋体" pitchFamily="2" charset="-122"/>
                <a:ea typeface="PMingLiU" pitchFamily="18" charset="-120"/>
                <a:cs typeface="新細明體" pitchFamily="18" charset="-120"/>
              </a:rPr>
              <a:t>发货方</a:t>
            </a:r>
            <a:r>
              <a:rPr lang="zh-CN" altLang="en-US" sz="1500" b="1">
                <a:solidFill>
                  <a:srgbClr val="000000"/>
                </a:solidFill>
                <a:latin typeface="宋体" pitchFamily="2" charset="-122"/>
                <a:ea typeface="PMingLiU" pitchFamily="18" charset="-120"/>
                <a:cs typeface="新細明體" pitchFamily="18" charset="-120"/>
              </a:rPr>
              <a:t>(</a:t>
            </a:r>
            <a:r>
              <a:rPr lang="zh-CN" altLang="en-US" sz="1500" b="1">
                <a:solidFill>
                  <a:srgbClr val="000000"/>
                </a:solidFill>
                <a:latin typeface="宋体" pitchFamily="2" charset="-122"/>
                <a:ea typeface="PMingLiU" pitchFamily="18" charset="-120"/>
                <a:cs typeface="新細明體" pitchFamily="18" charset="-120"/>
              </a:rPr>
              <a:t>生产方</a:t>
            </a:r>
            <a:r>
              <a:rPr lang="zh-CN" altLang="en-US" sz="1500" b="1">
                <a:solidFill>
                  <a:srgbClr val="000000"/>
                </a:solidFill>
                <a:latin typeface="宋体" pitchFamily="2" charset="-122"/>
                <a:ea typeface="PMingLiU" pitchFamily="18" charset="-120"/>
                <a:cs typeface="新細明體" pitchFamily="18" charset="-120"/>
              </a:rPr>
              <a:t>)</a:t>
            </a:r>
            <a:r>
              <a:rPr lang="zh-CN" altLang="en-US" sz="1500" b="1">
                <a:solidFill>
                  <a:srgbClr val="000000"/>
                </a:solidFill>
                <a:latin typeface="宋体" pitchFamily="2" charset="-122"/>
                <a:ea typeface="PMingLiU" pitchFamily="18" charset="-120"/>
                <a:cs typeface="新細明體" pitchFamily="18" charset="-120"/>
              </a:rPr>
              <a:t>工单单别</a:t>
            </a:r>
            <a:r>
              <a:rPr lang="zh-CN" altLang="en-US" sz="1500">
                <a:solidFill>
                  <a:srgbClr val="000000"/>
                </a:solidFill>
                <a:latin typeface="PMingLiU" pitchFamily="18" charset="-120"/>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自动生成生产方工单的默认单别</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宋体" pitchFamily="2" charset="-122"/>
                <a:ea typeface="PMingLiU" pitchFamily="18" charset="-120"/>
                <a:cs typeface="新細明體" pitchFamily="18" charset="-120"/>
              </a:rPr>
              <a:t>工艺委外生产方品号同委托方主件品号</a:t>
            </a:r>
            <a:r>
              <a:rPr lang="zh-CN" altLang="en-US" sz="1500">
                <a:solidFill>
                  <a:srgbClr val="000000"/>
                </a:solidFill>
                <a:latin typeface="PMingLiU" pitchFamily="18" charset="-120"/>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用于控制工艺委外时</a:t>
            </a:r>
            <a:r>
              <a:rPr lang="zh-CN" altLang="en-US" sz="1500">
                <a:solidFill>
                  <a:srgbClr val="000000"/>
                </a:solidFill>
                <a:latin typeface="宋体" pitchFamily="2" charset="-122"/>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生产方品号与委托方品号是否相同</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宋体" pitchFamily="2" charset="-122"/>
                <a:ea typeface="PMingLiU" pitchFamily="18" charset="-120"/>
                <a:cs typeface="新細明體" pitchFamily="18" charset="-120"/>
              </a:rPr>
              <a:t>需求方</a:t>
            </a:r>
            <a:r>
              <a:rPr lang="zh-CN" altLang="en-US" sz="1500" b="1">
                <a:solidFill>
                  <a:srgbClr val="000000"/>
                </a:solidFill>
                <a:latin typeface="宋体" pitchFamily="2" charset="-122"/>
                <a:ea typeface="PMingLiU" pitchFamily="18" charset="-120"/>
                <a:cs typeface="新細明體" pitchFamily="18" charset="-120"/>
              </a:rPr>
              <a:t>(</a:t>
            </a:r>
            <a:r>
              <a:rPr lang="zh-CN" altLang="en-US" sz="1500" b="1">
                <a:solidFill>
                  <a:srgbClr val="000000"/>
                </a:solidFill>
                <a:latin typeface="宋体" pitchFamily="2" charset="-122"/>
                <a:ea typeface="PMingLiU" pitchFamily="18" charset="-120"/>
                <a:cs typeface="新細明體" pitchFamily="18" charset="-120"/>
              </a:rPr>
              <a:t>委托方</a:t>
            </a:r>
            <a:r>
              <a:rPr lang="zh-CN" altLang="en-US" sz="1500" b="1">
                <a:solidFill>
                  <a:srgbClr val="000000"/>
                </a:solidFill>
                <a:latin typeface="宋体" pitchFamily="2" charset="-122"/>
                <a:ea typeface="PMingLiU" pitchFamily="18" charset="-120"/>
                <a:cs typeface="新細明體" pitchFamily="18" charset="-120"/>
              </a:rPr>
              <a:t>)</a:t>
            </a:r>
            <a:r>
              <a:rPr lang="zh-CN" altLang="en-US" sz="1500" b="1">
                <a:solidFill>
                  <a:srgbClr val="000000"/>
                </a:solidFill>
                <a:latin typeface="宋体" pitchFamily="2" charset="-122"/>
                <a:ea typeface="PMingLiU" pitchFamily="18" charset="-120"/>
                <a:cs typeface="新細明體" pitchFamily="18" charset="-120"/>
              </a:rPr>
              <a:t>领料单别</a:t>
            </a:r>
            <a:r>
              <a:rPr lang="zh-CN" altLang="en-US" sz="1500" b="1">
                <a:solidFill>
                  <a:srgbClr val="000000"/>
                </a:solidFill>
                <a:latin typeface="PMingLiU" pitchFamily="18" charset="-120"/>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生产方领料单审核自动生成委托方领料单的默认单别</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宋体" pitchFamily="2" charset="-122"/>
                <a:ea typeface="PMingLiU" pitchFamily="18" charset="-120"/>
                <a:cs typeface="新細明體" pitchFamily="18" charset="-120"/>
              </a:rPr>
              <a:t>需求方</a:t>
            </a:r>
            <a:r>
              <a:rPr lang="zh-CN" altLang="en-US" sz="1500" b="1">
                <a:solidFill>
                  <a:srgbClr val="000000"/>
                </a:solidFill>
                <a:latin typeface="宋体" pitchFamily="2" charset="-122"/>
                <a:ea typeface="PMingLiU" pitchFamily="18" charset="-120"/>
                <a:cs typeface="新細明體" pitchFamily="18" charset="-120"/>
              </a:rPr>
              <a:t>(</a:t>
            </a:r>
            <a:r>
              <a:rPr lang="zh-CN" altLang="en-US" sz="1500" b="1">
                <a:solidFill>
                  <a:srgbClr val="000000"/>
                </a:solidFill>
                <a:latin typeface="宋体" pitchFamily="2" charset="-122"/>
                <a:ea typeface="PMingLiU" pitchFamily="18" charset="-120"/>
                <a:cs typeface="新細明體" pitchFamily="18" charset="-120"/>
              </a:rPr>
              <a:t>委托方</a:t>
            </a:r>
            <a:r>
              <a:rPr lang="zh-CN" altLang="en-US" sz="1500" b="1">
                <a:solidFill>
                  <a:srgbClr val="000000"/>
                </a:solidFill>
                <a:latin typeface="宋体" pitchFamily="2" charset="-122"/>
                <a:ea typeface="PMingLiU" pitchFamily="18" charset="-120"/>
                <a:cs typeface="新細明體" pitchFamily="18" charset="-120"/>
              </a:rPr>
              <a:t>)</a:t>
            </a:r>
            <a:r>
              <a:rPr lang="zh-CN" altLang="en-US" sz="1500" b="1">
                <a:solidFill>
                  <a:srgbClr val="000000"/>
                </a:solidFill>
                <a:latin typeface="宋体" pitchFamily="2" charset="-122"/>
                <a:ea typeface="PMingLiU" pitchFamily="18" charset="-120"/>
                <a:cs typeface="新細明體" pitchFamily="18" charset="-120"/>
              </a:rPr>
              <a:t>退料单别</a:t>
            </a:r>
            <a:r>
              <a:rPr lang="zh-CN" altLang="en-US" sz="1500" b="1">
                <a:solidFill>
                  <a:srgbClr val="000000"/>
                </a:solidFill>
                <a:latin typeface="PMingLiU" pitchFamily="18" charset="-120"/>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生产方退料单审核自动生成委托方退料单的默认单别</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宋体" pitchFamily="2" charset="-122"/>
                <a:ea typeface="PMingLiU" pitchFamily="18" charset="-120"/>
                <a:cs typeface="新細明體" pitchFamily="18" charset="-120"/>
              </a:rPr>
              <a:t>发货方</a:t>
            </a:r>
            <a:r>
              <a:rPr lang="zh-CN" altLang="en-US" sz="1500" b="1">
                <a:solidFill>
                  <a:srgbClr val="000000"/>
                </a:solidFill>
                <a:latin typeface="宋体" pitchFamily="2" charset="-122"/>
                <a:ea typeface="PMingLiU" pitchFamily="18" charset="-120"/>
                <a:cs typeface="新細明體" pitchFamily="18" charset="-120"/>
              </a:rPr>
              <a:t>(</a:t>
            </a:r>
            <a:r>
              <a:rPr lang="zh-CN" altLang="en-US" sz="1500" b="1">
                <a:solidFill>
                  <a:srgbClr val="000000"/>
                </a:solidFill>
                <a:latin typeface="宋体" pitchFamily="2" charset="-122"/>
                <a:ea typeface="PMingLiU" pitchFamily="18" charset="-120"/>
                <a:cs typeface="新細明體" pitchFamily="18" charset="-120"/>
              </a:rPr>
              <a:t>生产方</a:t>
            </a:r>
            <a:r>
              <a:rPr lang="zh-CN" altLang="en-US" sz="1500" b="1">
                <a:solidFill>
                  <a:srgbClr val="000000"/>
                </a:solidFill>
                <a:latin typeface="宋体" pitchFamily="2" charset="-122"/>
                <a:ea typeface="PMingLiU" pitchFamily="18" charset="-120"/>
                <a:cs typeface="新細明體" pitchFamily="18" charset="-120"/>
              </a:rPr>
              <a:t>)</a:t>
            </a:r>
            <a:r>
              <a:rPr lang="zh-CN" altLang="en-US" sz="1500" b="1">
                <a:solidFill>
                  <a:srgbClr val="000000"/>
                </a:solidFill>
                <a:latin typeface="宋体" pitchFamily="2" charset="-122"/>
                <a:ea typeface="PMingLiU" pitchFamily="18" charset="-120"/>
                <a:cs typeface="新細明體" pitchFamily="18" charset="-120"/>
              </a:rPr>
              <a:t>重工工单单别</a:t>
            </a:r>
            <a:r>
              <a:rPr lang="zh-CN" altLang="en-US" sz="1500" b="1">
                <a:solidFill>
                  <a:srgbClr val="000000"/>
                </a:solidFill>
                <a:latin typeface="PMingLiU" pitchFamily="18" charset="-120"/>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工艺委外生产方品号与委托方品号相同时</a:t>
            </a:r>
            <a:r>
              <a:rPr lang="zh-CN" altLang="en-US" sz="1500">
                <a:solidFill>
                  <a:srgbClr val="000000"/>
                </a:solidFill>
                <a:latin typeface="宋体" pitchFamily="2" charset="-122"/>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自动生成的生产方工单为重工工单</a:t>
            </a:r>
            <a:r>
              <a:rPr lang="zh-CN" altLang="en-US" sz="1500">
                <a:solidFill>
                  <a:srgbClr val="000000"/>
                </a:solidFill>
                <a:latin typeface="宋体" pitchFamily="2" charset="-122"/>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主件</a:t>
            </a:r>
            <a:r>
              <a:rPr lang="zh-CN" altLang="en-US" sz="1500">
                <a:solidFill>
                  <a:srgbClr val="000000"/>
                </a:solidFill>
                <a:latin typeface="宋体" pitchFamily="2" charset="-122"/>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元件相同</a:t>
            </a:r>
            <a:r>
              <a:rPr lang="zh-CN" altLang="en-US" sz="1500">
                <a:solidFill>
                  <a:srgbClr val="000000"/>
                </a:solidFill>
                <a:latin typeface="宋体" pitchFamily="2" charset="-122"/>
                <a:ea typeface="PMingLiU" pitchFamily="18" charset="-120"/>
                <a:cs typeface="新細明體" pitchFamily="18" charset="-120"/>
              </a:rPr>
              <a:t>),</a:t>
            </a:r>
            <a:r>
              <a:rPr lang="zh-CN" altLang="en-US" sz="1500">
                <a:solidFill>
                  <a:srgbClr val="000000"/>
                </a:solidFill>
                <a:latin typeface="宋体" pitchFamily="2" charset="-122"/>
                <a:ea typeface="PMingLiU" pitchFamily="18" charset="-120"/>
                <a:cs typeface="新細明體" pitchFamily="18" charset="-120"/>
              </a:rPr>
              <a:t>此处设置默认单别</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PMingLiU" pitchFamily="18" charset="-120"/>
                <a:ea typeface="PMingLiU" pitchFamily="18" charset="-120"/>
                <a:cs typeface="新細明體" pitchFamily="18" charset="-120"/>
                <a:sym typeface="新細明體" pitchFamily="18" charset="-120"/>
              </a:rPr>
              <a:t>供应商供料价格纳入委外加工费</a:t>
            </a:r>
            <a:r>
              <a:rPr lang="zh-CN" altLang="en-US" sz="1500" b="1">
                <a:solidFill>
                  <a:srgbClr val="000000"/>
                </a:solidFill>
                <a:latin typeface="宋体" pitchFamily="2" charset="-122"/>
                <a:ea typeface="PMingLiU" pitchFamily="18" charset="-120"/>
                <a:cs typeface="新細明體" pitchFamily="18" charset="-120"/>
                <a:sym typeface="宋体" pitchFamily="2" charset="-122"/>
              </a:rPr>
              <a:t>:</a:t>
            </a:r>
            <a:r>
              <a:rPr lang="zh-CN" altLang="en-US" sz="1500">
                <a:solidFill>
                  <a:srgbClr val="000000"/>
                </a:solidFill>
                <a:latin typeface="宋体" pitchFamily="2" charset="-122"/>
                <a:ea typeface="PMingLiU" pitchFamily="18" charset="-120"/>
                <a:cs typeface="新細明體" pitchFamily="18" charset="-120"/>
                <a:sym typeface="宋体" pitchFamily="2" charset="-122"/>
              </a:rPr>
              <a:t>目前系统写</a:t>
            </a:r>
            <a:r>
              <a:rPr lang="zh-CN" altLang="en-US" sz="1500">
                <a:solidFill>
                  <a:srgbClr val="000000"/>
                </a:solidFill>
                <a:latin typeface="宋体" pitchFamily="2" charset="-122"/>
                <a:ea typeface="PMingLiU" pitchFamily="18" charset="-120"/>
                <a:cs typeface="新細明體" pitchFamily="18" charset="-120"/>
                <a:sym typeface="宋体" pitchFamily="2" charset="-122"/>
              </a:rPr>
              <a:t>死为勾选</a:t>
            </a:r>
            <a:r>
              <a:rPr lang="zh-CN" altLang="en-US" sz="1500">
                <a:solidFill>
                  <a:srgbClr val="000000"/>
                </a:solidFill>
                <a:latin typeface="宋体" pitchFamily="2" charset="-122"/>
                <a:ea typeface="PMingLiU" pitchFamily="18" charset="-120"/>
                <a:cs typeface="新細明體" pitchFamily="18" charset="-120"/>
                <a:sym typeface="宋体" pitchFamily="2" charset="-122"/>
              </a:rPr>
              <a:t>,</a:t>
            </a:r>
            <a:r>
              <a:rPr lang="zh-CN" altLang="en-US" sz="1500">
                <a:solidFill>
                  <a:srgbClr val="000000"/>
                </a:solidFill>
                <a:latin typeface="宋体" pitchFamily="2" charset="-122"/>
                <a:ea typeface="PMingLiU" pitchFamily="18" charset="-120"/>
                <a:cs typeface="新細明體" pitchFamily="18" charset="-120"/>
                <a:sym typeface="宋体" pitchFamily="2" charset="-122"/>
              </a:rPr>
              <a:t>跨公司委外时</a:t>
            </a:r>
            <a:r>
              <a:rPr lang="zh-CN" altLang="en-US" sz="1500">
                <a:solidFill>
                  <a:srgbClr val="000000"/>
                </a:solidFill>
                <a:latin typeface="宋体" pitchFamily="2" charset="-122"/>
                <a:ea typeface="PMingLiU" pitchFamily="18" charset="-120"/>
                <a:cs typeface="新細明體" pitchFamily="18" charset="-120"/>
                <a:sym typeface="宋体" pitchFamily="2" charset="-122"/>
              </a:rPr>
              <a:t>,</a:t>
            </a:r>
            <a:r>
              <a:rPr lang="zh-CN" altLang="en-US" sz="1500">
                <a:solidFill>
                  <a:srgbClr val="000000"/>
                </a:solidFill>
                <a:latin typeface="宋体" pitchFamily="2" charset="-122"/>
                <a:ea typeface="PMingLiU" pitchFamily="18" charset="-120"/>
                <a:cs typeface="新細明體" pitchFamily="18" charset="-120"/>
                <a:sym typeface="宋体" pitchFamily="2" charset="-122"/>
              </a:rPr>
              <a:t>供应商供料的材料不在走采购结算的流程</a:t>
            </a:r>
            <a:r>
              <a:rPr lang="zh-CN" altLang="en-US" sz="1500">
                <a:solidFill>
                  <a:srgbClr val="000000"/>
                </a:solidFill>
                <a:latin typeface="宋体" pitchFamily="2" charset="-122"/>
                <a:ea typeface="PMingLiU" pitchFamily="18" charset="-120"/>
                <a:cs typeface="新細明體" pitchFamily="18" charset="-120"/>
                <a:sym typeface="宋体" pitchFamily="2" charset="-122"/>
              </a:rPr>
              <a:t>,</a:t>
            </a:r>
            <a:r>
              <a:rPr lang="zh-CN" altLang="en-US" sz="1500">
                <a:solidFill>
                  <a:srgbClr val="000000"/>
                </a:solidFill>
                <a:latin typeface="宋体" pitchFamily="2" charset="-122"/>
                <a:ea typeface="PMingLiU" pitchFamily="18" charset="-120"/>
                <a:cs typeface="新細明體" pitchFamily="18" charset="-120"/>
                <a:sym typeface="宋体" pitchFamily="2" charset="-122"/>
              </a:rPr>
              <a:t>成本默认包含在主件的委外加工费中</a:t>
            </a:r>
            <a:r>
              <a:rPr lang="zh-CN" altLang="en-US" sz="1500">
                <a:solidFill>
                  <a:srgbClr val="000000"/>
                </a:solidFill>
                <a:latin typeface="宋体" pitchFamily="2" charset="-122"/>
                <a:ea typeface="PMingLiU" pitchFamily="18" charset="-120"/>
                <a:cs typeface="新細明體" pitchFamily="18" charset="-120"/>
                <a:sym typeface="宋体" pitchFamily="2" charset="-122"/>
              </a:rPr>
              <a:t>.</a:t>
            </a:r>
            <a:endParaRPr lang="zh-CN" altLang="en-US" sz="1500">
              <a:solidFill>
                <a:srgbClr val="000000"/>
              </a:solidFill>
              <a:latin typeface="宋体" pitchFamily="2" charset="-122"/>
              <a:ea typeface="PMingLiU" pitchFamily="18" charset="-120"/>
              <a:cs typeface="新細明體" pitchFamily="18" charset="-120"/>
              <a:sym typeface="宋体" pitchFamily="2" charset="-122"/>
            </a:endParaRPr>
          </a:p>
          <a:p>
            <a:pPr marL="0" indent="0" algn="l">
              <a:lnSpc>
                <a:spcPct val="100000"/>
              </a:lnSpc>
              <a:spcBef>
                <a:spcPts val="0"/>
              </a:spcBef>
              <a:spcAft>
                <a:spcPts val="0"/>
              </a:spcAft>
              <a:buNone/>
            </a:pPr>
            <a:endParaRPr lang="zh-CN" altLang="en-US" sz="18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2000" b="1">
                <a:solidFill>
                  <a:srgbClr val="006600"/>
                </a:solidFill>
                <a:latin typeface="宋体" pitchFamily="2" charset="-122"/>
                <a:ea typeface="宋体" pitchFamily="2" charset="-122"/>
                <a:cs typeface="新細明體" pitchFamily="18" charset="-120"/>
              </a:rPr>
              <a:t>     </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ct val="50000"/>
              </a:spcBef>
              <a:spcAft>
                <a:spcPts val="0"/>
              </a:spcAft>
              <a:buNone/>
            </a:pPr>
            <a:r>
              <a:rPr lang="zh-CN" altLang="en-US" sz="1800" b="1">
                <a:solidFill>
                  <a:schemeClr val="tx1"/>
                </a:solidFill>
                <a:latin typeface="宋体" pitchFamily="2" charset="-122"/>
                <a:ea typeface="宋体" pitchFamily="2" charset="-122"/>
                <a:cs typeface="新細明體" pitchFamily="18" charset="-120"/>
              </a:rPr>
              <a:t> </a:t>
            </a:r>
            <a:endParaRPr lang="zh-CN" altLang="en-US" sz="2000" b="1">
              <a:solidFill>
                <a:srgbClr val="006600"/>
              </a:solidFill>
              <a:latin typeface="宋体" pitchFamily="2" charset="-122"/>
              <a:ea typeface="宋体" pitchFamily="2" charset="-122"/>
              <a:cs typeface="新細明體" pitchFamily="18" charset="-120"/>
            </a:endParaRPr>
          </a:p>
        </p:txBody>
      </p:sp>
      <p:sp>
        <p:nvSpPr>
          <p:cNvPr id="422"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基础数据准备</a:t>
            </a:r>
            <a:r>
              <a:rPr lang="zh-CN" altLang="en-US" sz="3600" b="1">
                <a:solidFill>
                  <a:schemeClr val="tx1"/>
                </a:solidFill>
                <a:latin typeface="黑体" pitchFamily="2" charset="-122"/>
                <a:ea typeface="黑体" pitchFamily="2" charset="-122"/>
                <a:cs typeface="新細明體" pitchFamily="18" charset="-120"/>
              </a:rPr>
              <a:t>－</a:t>
            </a:r>
            <a:r>
              <a:rPr lang="zh-CN" altLang="en-US" sz="3600" b="1">
                <a:solidFill>
                  <a:schemeClr val="tx1"/>
                </a:solidFill>
                <a:latin typeface="黑体" pitchFamily="2" charset="-122"/>
                <a:ea typeface="黑体" pitchFamily="2" charset="-122"/>
                <a:cs typeface="新細明體" pitchFamily="18" charset="-120"/>
              </a:rPr>
              <a:t>维护供应协同关系</a:t>
            </a:r>
            <a:endParaRPr lang="zh-CN" altLang="en-US" sz="3600" b="1">
              <a:solidFill>
                <a:schemeClr val="tx1"/>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1467061421"/>
      </p:ext>
    </p:extLst>
  </p:cSld>
  <p:clrMapOvr>
    <a:masterClrMapping/>
  </p:clrMapOvr>
  <p:transition/>
</p:sld>
</file>

<file path=ppt/slides/slide7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23" name="圆角矩形"/>
          <p:cNvSpPr>
            <a:spLocks/>
          </p:cNvSpPr>
          <p:nvPr/>
        </p:nvSpPr>
        <p:spPr>
          <a:xfrm rot="0">
            <a:off x="900112" y="1341437"/>
            <a:ext cx="7343775" cy="5302250"/>
          </a:xfrm>
          <a:prstGeom prst="roundRect">
            <a:avLst>
              <a:gd name="adj" fmla="val 16666"/>
            </a:avLst>
          </a:prstGeom>
          <a:solidFill>
            <a:srgbClr val="DAE5F2"/>
          </a:solidFill>
          <a:ln w="25400" cmpd="sng" cap="flat">
            <a:solidFill>
              <a:srgbClr val="4F81BD"/>
            </a:solidFill>
            <a:prstDash val="dash"/>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1800" b="1">
                <a:solidFill>
                  <a:schemeClr val="tx1"/>
                </a:solidFill>
                <a:latin typeface="宋体" pitchFamily="2" charset="-122"/>
                <a:ea typeface="PMingLiU" pitchFamily="18" charset="-120"/>
                <a:cs typeface="新細明體" pitchFamily="18" charset="-120"/>
              </a:rPr>
              <a:t>重点栏位说明</a:t>
            </a:r>
            <a:endParaRPr lang="zh-CN" altLang="en-US" sz="1800" b="1">
              <a:solidFill>
                <a:schemeClr val="tx1"/>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PMingLiU" pitchFamily="18" charset="-120"/>
                <a:ea typeface="PMingLiU" pitchFamily="18" charset="-120"/>
                <a:cs typeface="新細明體" pitchFamily="18" charset="-120"/>
              </a:rPr>
              <a:t>需求方供料仓（非存货仓）：</a:t>
            </a:r>
            <a:r>
              <a:rPr lang="zh-CN" altLang="en-US" sz="1500">
                <a:solidFill>
                  <a:srgbClr val="000000"/>
                </a:solidFill>
                <a:latin typeface="宋体" pitchFamily="2" charset="-122"/>
                <a:ea typeface="PMingLiU" pitchFamily="18" charset="-120"/>
                <a:cs typeface="新細明體" pitchFamily="18" charset="-120"/>
              </a:rPr>
              <a:t>存放委外供料材料的仓库，非存货仓</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宋体" pitchFamily="2" charset="-122"/>
                <a:ea typeface="PMingLiU" pitchFamily="18" charset="-120"/>
                <a:cs typeface="新細明體" pitchFamily="18" charset="-120"/>
              </a:rPr>
              <a:t>需</a:t>
            </a:r>
            <a:r>
              <a:rPr lang="zh-CN" altLang="en-US" sz="1500" b="1">
                <a:solidFill>
                  <a:srgbClr val="000000"/>
                </a:solidFill>
                <a:latin typeface="PMingLiU" pitchFamily="18" charset="-120"/>
                <a:ea typeface="PMingLiU" pitchFamily="18" charset="-120"/>
                <a:cs typeface="新細明體" pitchFamily="18" charset="-120"/>
              </a:rPr>
              <a:t>求方供料仓（存货仓）：</a:t>
            </a:r>
            <a:r>
              <a:rPr lang="zh-CN" altLang="en-US" sz="1500">
                <a:solidFill>
                  <a:srgbClr val="000000"/>
                </a:solidFill>
                <a:latin typeface="宋体" pitchFamily="2" charset="-122"/>
                <a:ea typeface="PMingLiU" pitchFamily="18" charset="-120"/>
                <a:cs typeface="新細明體" pitchFamily="18" charset="-120"/>
              </a:rPr>
              <a:t>存放委外供料材料的仓库，存货仓</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PMingLiU" pitchFamily="18" charset="-120"/>
                <a:ea typeface="PMingLiU" pitchFamily="18" charset="-120"/>
                <a:cs typeface="新細明體" pitchFamily="18" charset="-120"/>
              </a:rPr>
              <a:t>发货方客供料仓（非存货仓）：</a:t>
            </a:r>
            <a:r>
              <a:rPr lang="zh-CN" altLang="en-US" sz="1500">
                <a:solidFill>
                  <a:srgbClr val="000000"/>
                </a:solidFill>
                <a:latin typeface="宋体" pitchFamily="2" charset="-122"/>
                <a:ea typeface="PMingLiU" pitchFamily="18" charset="-120"/>
                <a:cs typeface="新細明體" pitchFamily="18" charset="-120"/>
              </a:rPr>
              <a:t>虚拟仓库，库存同需求方供料仓</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PMingLiU" pitchFamily="18" charset="-120"/>
                <a:ea typeface="PMingLiU" pitchFamily="18" charset="-120"/>
                <a:cs typeface="新細明體" pitchFamily="18" charset="-120"/>
              </a:rPr>
              <a:t>调拨申请单单别：</a:t>
            </a:r>
            <a:r>
              <a:rPr lang="zh-CN" altLang="en-US" sz="1500">
                <a:solidFill>
                  <a:srgbClr val="000000"/>
                </a:solidFill>
                <a:latin typeface="宋体" pitchFamily="2" charset="-122"/>
                <a:ea typeface="PMingLiU" pitchFamily="18" charset="-120"/>
                <a:cs typeface="新細明體" pitchFamily="18" charset="-120"/>
              </a:rPr>
              <a:t>跨工厂委外时，产品从生产方调入委托方的申请单</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PMingLiU" pitchFamily="18" charset="-120"/>
                <a:ea typeface="PMingLiU" pitchFamily="18" charset="-120"/>
                <a:cs typeface="新細明體" pitchFamily="18" charset="-120"/>
              </a:rPr>
              <a:t>需求方调拨单单别：</a:t>
            </a:r>
            <a:r>
              <a:rPr lang="zh-CN" altLang="en-US" sz="1500">
                <a:solidFill>
                  <a:srgbClr val="000000"/>
                </a:solidFill>
                <a:latin typeface="宋体" pitchFamily="2" charset="-122"/>
                <a:ea typeface="PMingLiU" pitchFamily="18" charset="-120"/>
                <a:cs typeface="新細明體" pitchFamily="18" charset="-120"/>
              </a:rPr>
              <a:t>材料调拨时，生成的需求方调拨单的单别</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PMingLiU" pitchFamily="18" charset="-120"/>
                <a:ea typeface="PMingLiU" pitchFamily="18" charset="-120"/>
                <a:cs typeface="新細明體" pitchFamily="18" charset="-120"/>
              </a:rPr>
              <a:t>发货方入库单别：</a:t>
            </a:r>
            <a:r>
              <a:rPr lang="zh-CN" altLang="en-US" sz="1500">
                <a:solidFill>
                  <a:srgbClr val="000000"/>
                </a:solidFill>
                <a:latin typeface="宋体" pitchFamily="2" charset="-122"/>
                <a:ea typeface="PMingLiU" pitchFamily="18" charset="-120"/>
                <a:cs typeface="新細明體" pitchFamily="18" charset="-120"/>
              </a:rPr>
              <a:t>材料调拨时，生成的发货方入库单单别</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50000"/>
              </a:lnSpc>
              <a:spcBef>
                <a:spcPts val="0"/>
              </a:spcBef>
              <a:spcAft>
                <a:spcPts val="0"/>
              </a:spcAft>
              <a:buSzPct val="100000"/>
              <a:buFont typeface="Arial" pitchFamily="34" charset="0"/>
              <a:buChar char="•"/>
            </a:pPr>
            <a:r>
              <a:rPr lang="zh-CN" altLang="en-US" sz="1500" b="1">
                <a:solidFill>
                  <a:srgbClr val="000000"/>
                </a:solidFill>
                <a:latin typeface="PMingLiU" pitchFamily="18" charset="-120"/>
                <a:ea typeface="PMingLiU" pitchFamily="18" charset="-120"/>
                <a:cs typeface="新細明體" pitchFamily="18" charset="-120"/>
              </a:rPr>
              <a:t>发货方出库单别：</a:t>
            </a:r>
            <a:r>
              <a:rPr lang="zh-CN" altLang="en-US" sz="1500">
                <a:solidFill>
                  <a:srgbClr val="000000"/>
                </a:solidFill>
                <a:latin typeface="宋体" pitchFamily="2" charset="-122"/>
                <a:ea typeface="PMingLiU" pitchFamily="18" charset="-120"/>
                <a:cs typeface="新細明體" pitchFamily="18" charset="-120"/>
              </a:rPr>
              <a:t>材料调回时，生成的发货方出库单单别</a:t>
            </a:r>
            <a:endParaRPr lang="zh-CN" altLang="en-US" sz="1500">
              <a:solidFill>
                <a:srgbClr val="000000"/>
              </a:solidFill>
              <a:latin typeface="宋体" pitchFamily="2" charset="-122"/>
              <a:ea typeface="PMingLiU" pitchFamily="18" charset="-120"/>
              <a:cs typeface="新細明體" pitchFamily="18" charset="-120"/>
            </a:endParaRPr>
          </a:p>
          <a:p>
            <a:pPr marL="0" indent="0" algn="l">
              <a:lnSpc>
                <a:spcPct val="100000"/>
              </a:lnSpc>
              <a:spcBef>
                <a:spcPts val="0"/>
              </a:spcBef>
              <a:spcAft>
                <a:spcPts val="0"/>
              </a:spcAft>
              <a:buNone/>
            </a:pPr>
            <a:endParaRPr lang="zh-CN" altLang="en-US" sz="2000">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endParaRPr lang="zh-CN" altLang="en-US" sz="2000" b="1">
              <a:solidFill>
                <a:srgbClr val="006600"/>
              </a:solidFill>
              <a:latin typeface="宋体" pitchFamily="2" charset="-122"/>
              <a:ea typeface="宋体" pitchFamily="2" charset="-122"/>
              <a:cs typeface="新細明體" pitchFamily="18" charset="-120"/>
            </a:endParaRPr>
          </a:p>
          <a:p>
            <a:pPr marL="0" indent="0" algn="l">
              <a:lnSpc>
                <a:spcPct val="100000"/>
              </a:lnSpc>
              <a:spcBef>
                <a:spcPts val="0"/>
              </a:spcBef>
              <a:spcAft>
                <a:spcPts val="0"/>
              </a:spcAft>
              <a:buNone/>
            </a:pPr>
            <a:r>
              <a:rPr lang="zh-CN" altLang="en-US" sz="2000" b="1">
                <a:solidFill>
                  <a:srgbClr val="006600"/>
                </a:solidFill>
                <a:latin typeface="宋体" pitchFamily="2" charset="-122"/>
                <a:ea typeface="宋体" pitchFamily="2" charset="-122"/>
                <a:cs typeface="新細明體" pitchFamily="18" charset="-120"/>
              </a:rPr>
              <a:t>     </a:t>
            </a:r>
            <a:endParaRPr lang="zh-CN" altLang="en-US" sz="1800">
              <a:solidFill>
                <a:schemeClr val="tx1"/>
              </a:solidFill>
              <a:latin typeface="宋体" pitchFamily="2" charset="-122"/>
              <a:ea typeface="宋体" pitchFamily="2" charset="-122"/>
              <a:cs typeface="新細明體" pitchFamily="18" charset="-120"/>
            </a:endParaRPr>
          </a:p>
          <a:p>
            <a:pPr marL="0" indent="0" algn="l">
              <a:lnSpc>
                <a:spcPct val="100000"/>
              </a:lnSpc>
              <a:spcBef>
                <a:spcPct val="50000"/>
              </a:spcBef>
              <a:spcAft>
                <a:spcPts val="0"/>
              </a:spcAft>
              <a:buNone/>
            </a:pPr>
            <a:r>
              <a:rPr lang="zh-CN" altLang="en-US" sz="1800" b="1">
                <a:solidFill>
                  <a:schemeClr val="tx1"/>
                </a:solidFill>
                <a:latin typeface="宋体" pitchFamily="2" charset="-122"/>
                <a:ea typeface="宋体" pitchFamily="2" charset="-122"/>
                <a:cs typeface="新細明體" pitchFamily="18" charset="-120"/>
              </a:rPr>
              <a:t> </a:t>
            </a:r>
            <a:endParaRPr lang="zh-CN" altLang="en-US" sz="2000" b="1">
              <a:solidFill>
                <a:srgbClr val="006600"/>
              </a:solidFill>
              <a:latin typeface="宋体" pitchFamily="2" charset="-122"/>
              <a:ea typeface="宋体" pitchFamily="2" charset="-122"/>
              <a:cs typeface="新細明體" pitchFamily="18" charset="-120"/>
            </a:endParaRPr>
          </a:p>
        </p:txBody>
      </p:sp>
      <p:sp>
        <p:nvSpPr>
          <p:cNvPr id="424" name="矩形"/>
          <p:cNvSpPr>
            <a:spLocks/>
          </p:cNvSpPr>
          <p:nvPr/>
        </p:nvSpPr>
        <p:spPr>
          <a:xfrm rot="0">
            <a:off x="0" y="571500"/>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基础数据准备</a:t>
            </a:r>
            <a:r>
              <a:rPr lang="zh-CN" altLang="en-US" sz="3600" b="1">
                <a:solidFill>
                  <a:schemeClr val="tx1"/>
                </a:solidFill>
                <a:latin typeface="黑体" pitchFamily="2" charset="-122"/>
                <a:ea typeface="黑体" pitchFamily="2" charset="-122"/>
                <a:cs typeface="新細明體" pitchFamily="18" charset="-120"/>
              </a:rPr>
              <a:t>－</a:t>
            </a:r>
            <a:r>
              <a:rPr lang="zh-CN" altLang="en-US" sz="3600" b="1">
                <a:solidFill>
                  <a:schemeClr val="tx1"/>
                </a:solidFill>
                <a:latin typeface="黑体" pitchFamily="2" charset="-122"/>
                <a:ea typeface="黑体" pitchFamily="2" charset="-122"/>
                <a:cs typeface="新細明體" pitchFamily="18" charset="-120"/>
              </a:rPr>
              <a:t>维护供应协同关系</a:t>
            </a:r>
            <a:endParaRPr lang="zh-CN" altLang="en-US" sz="3600" b="1">
              <a:solidFill>
                <a:schemeClr val="tx1"/>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185857676"/>
      </p:ext>
    </p:extLst>
  </p:cSld>
  <p:clrMapOvr>
    <a:masterClrMapping/>
  </p:clrMapOvr>
  <p:transition/>
</p:sld>
</file>

<file path=ppt/slides/slide7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25" name="矩形"/>
          <p:cNvSpPr>
            <a:spLocks/>
          </p:cNvSpPr>
          <p:nvPr/>
        </p:nvSpPr>
        <p:spPr>
          <a:xfrm rot="0">
            <a:off x="8577262" y="6445250"/>
            <a:ext cx="566737" cy="412749"/>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71</a:t>
            </a:r>
            <a:endParaRPr lang="zh-CN" altLang="en-US" sz="1800">
              <a:solidFill>
                <a:schemeClr val="tx1"/>
              </a:solidFill>
              <a:latin typeface="Arial" pitchFamily="34" charset="0"/>
              <a:ea typeface="PMingLiU" pitchFamily="18" charset="-120"/>
              <a:cs typeface="新細明體" pitchFamily="18" charset="-120"/>
            </a:endParaRPr>
          </a:p>
        </p:txBody>
      </p:sp>
      <p:sp>
        <p:nvSpPr>
          <p:cNvPr id="426" name="矩形"/>
          <p:cNvSpPr>
            <a:spLocks/>
          </p:cNvSpPr>
          <p:nvPr/>
        </p:nvSpPr>
        <p:spPr>
          <a:xfrm rot="0">
            <a:off x="360362" y="1050925"/>
            <a:ext cx="8423275"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a:t>
            </a:r>
            <a:r>
              <a:rPr lang="zh-CN" altLang="en-US" sz="1600">
                <a:solidFill>
                  <a:schemeClr val="tx1"/>
                </a:solidFill>
                <a:latin typeface="微软雅黑" pitchFamily="34" charset="-122"/>
                <a:ea typeface="微软雅黑" pitchFamily="34" charset="-122"/>
                <a:cs typeface="新細明體" pitchFamily="18" charset="-120"/>
              </a:rPr>
              <a:t>两个公司或两个工厂间，品号的对应关系</a:t>
            </a:r>
            <a:endParaRPr lang="zh-CN" altLang="en-US" sz="1600">
              <a:solidFill>
                <a:schemeClr val="tx1"/>
              </a:solidFill>
              <a:latin typeface="微软雅黑" pitchFamily="34" charset="-122"/>
              <a:ea typeface="微软雅黑" pitchFamily="34" charset="-122"/>
              <a:cs typeface="新細明體" pitchFamily="18" charset="-120"/>
            </a:endParaRPr>
          </a:p>
        </p:txBody>
      </p:sp>
      <p:sp>
        <p:nvSpPr>
          <p:cNvPr id="427"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基础数据准备</a:t>
            </a:r>
            <a:r>
              <a:rPr lang="zh-CN" altLang="en-US" sz="3600" b="1">
                <a:solidFill>
                  <a:schemeClr val="tx1"/>
                </a:solidFill>
                <a:latin typeface="黑体" pitchFamily="2" charset="-122"/>
                <a:ea typeface="黑体" pitchFamily="2" charset="-122"/>
                <a:cs typeface="新細明體" pitchFamily="18" charset="-120"/>
              </a:rPr>
              <a:t>－</a:t>
            </a:r>
            <a:r>
              <a:rPr lang="zh-CN" altLang="en-US" sz="3600" b="1">
                <a:solidFill>
                  <a:schemeClr val="tx1"/>
                </a:solidFill>
                <a:latin typeface="黑体" pitchFamily="2" charset="-122"/>
                <a:ea typeface="黑体" pitchFamily="2" charset="-122"/>
                <a:cs typeface="新細明體" pitchFamily="18" charset="-120"/>
              </a:rPr>
              <a:t>加工中主产品对应关系</a:t>
            </a:r>
            <a:endParaRPr lang="zh-CN" altLang="en-US" sz="3600" b="1">
              <a:solidFill>
                <a:schemeClr val="tx1"/>
              </a:solidFill>
              <a:latin typeface="黑体" pitchFamily="2" charset="-122"/>
              <a:ea typeface="黑体" pitchFamily="2" charset="-122"/>
              <a:cs typeface="新細明體" pitchFamily="18" charset="-120"/>
            </a:endParaRPr>
          </a:p>
        </p:txBody>
      </p:sp>
      <p:pic>
        <p:nvPicPr>
          <p:cNvPr id="428" name="图片"/>
          <p:cNvPicPr>
            <a:picLocks noChangeAspect="1"/>
          </p:cNvPicPr>
          <p:nvPr/>
        </p:nvPicPr>
        <p:blipFill>
          <a:blip r:embed="rId1" cstate="print"/>
          <a:stretch>
            <a:fillRect/>
          </a:stretch>
        </p:blipFill>
        <p:spPr>
          <a:xfrm rot="0">
            <a:off x="1042987" y="1550987"/>
            <a:ext cx="7058025" cy="5087937"/>
          </a:xfrm>
          <a:prstGeom prst="rect"/>
          <a:noFill/>
          <a:ln w="9525" cmpd="sng" cap="flat">
            <a:noFill/>
            <a:prstDash val="solid"/>
            <a:miter/>
          </a:ln>
        </p:spPr>
      </p:pic>
    </p:spTree>
    <p:extLst>
      <p:ext uri="{BB962C8B-B14F-4D97-AF65-F5344CB8AC3E}">
        <p14:creationId xmlns:p14="http://schemas.microsoft.com/office/powerpoint/2010/main" val="1714206038"/>
      </p:ext>
    </p:extLst>
  </p:cSld>
  <p:clrMapOvr>
    <a:masterClrMapping/>
  </p:clrMapOvr>
  <p:transition/>
</p:sld>
</file>

<file path=ppt/slides/slide7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29" name="矩形"/>
          <p:cNvSpPr>
            <a:spLocks/>
          </p:cNvSpPr>
          <p:nvPr/>
        </p:nvSpPr>
        <p:spPr>
          <a:xfrm rot="0">
            <a:off x="3779837" y="3341687"/>
            <a:ext cx="3649662" cy="2586037"/>
          </a:xfrm>
          <a:prstGeom prst="rect"/>
          <a:noFill/>
          <a:ln w="9525" cmpd="sng" cap="flat">
            <a:noFill/>
            <a:prstDash val="solid"/>
            <a:miter/>
          </a:ln>
        </p:spPr>
        <p:txBody>
          <a:bodyPr vert="horz" wrap="square" lIns="91440" tIns="45720" rIns="91440" bIns="45720" anchor="t" anchorCtr="0">
            <a:prstTxWarp prst="textNoShape"/>
          </a:bodyPr>
          <a:lstStyle/>
          <a:p>
            <a:pPr marL="457200" indent="-457200" algn="l">
              <a:lnSpc>
                <a:spcPct val="150000"/>
              </a:lnSpc>
              <a:spcBef>
                <a:spcPts val="0"/>
              </a:spcBef>
              <a:spcAft>
                <a:spcPts val="0"/>
              </a:spcAft>
              <a:buSzPct val="100000"/>
              <a:buFont typeface="Wingdings" pitchFamily="2" charset="2"/>
              <a:buChar char="Ø"/>
            </a:pPr>
            <a:r>
              <a:rPr lang="zh-CN" altLang="en-US" sz="1800">
                <a:solidFill>
                  <a:schemeClr val="tx1"/>
                </a:solidFill>
                <a:latin typeface="微软雅黑" pitchFamily="34" charset="-122"/>
                <a:ea typeface="微软雅黑" pitchFamily="34" charset="-122"/>
                <a:cs typeface="新細明體" pitchFamily="18" charset="-120"/>
              </a:rPr>
              <a:t>维护</a:t>
            </a:r>
            <a:r>
              <a:rPr lang="zh-CN" altLang="en-US" sz="1800">
                <a:solidFill>
                  <a:schemeClr val="tx1"/>
                </a:solidFill>
                <a:latin typeface="微软雅黑" pitchFamily="34" charset="-122"/>
                <a:ea typeface="微软雅黑" pitchFamily="34" charset="-122"/>
                <a:cs typeface="新細明體" pitchFamily="18" charset="-120"/>
              </a:rPr>
              <a:t>移转单</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Ø"/>
            </a:pPr>
            <a:r>
              <a:rPr lang="zh-CN" altLang="en-US" sz="1800">
                <a:solidFill>
                  <a:schemeClr val="tx1"/>
                </a:solidFill>
                <a:latin typeface="微软雅黑" pitchFamily="34" charset="-122"/>
                <a:ea typeface="微软雅黑" pitchFamily="34" charset="-122"/>
                <a:cs typeface="新細明體" pitchFamily="18" charset="-120"/>
              </a:rPr>
              <a:t>主产品对应关</a:t>
            </a:r>
            <a:r>
              <a:rPr lang="zh-CN" altLang="en-US" sz="1800">
                <a:solidFill>
                  <a:schemeClr val="tx1"/>
                </a:solidFill>
                <a:latin typeface="微软雅黑" pitchFamily="34" charset="-122"/>
                <a:ea typeface="微软雅黑" pitchFamily="34" charset="-122"/>
                <a:cs typeface="新細明體" pitchFamily="18" charset="-120"/>
              </a:rPr>
              <a:t>系</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Ø"/>
            </a:pPr>
            <a:r>
              <a:rPr lang="zh-CN" altLang="en-US" sz="1800">
                <a:solidFill>
                  <a:schemeClr val="tx1"/>
                </a:solidFill>
                <a:latin typeface="微软雅黑" pitchFamily="34" charset="-122"/>
                <a:ea typeface="微软雅黑" pitchFamily="34" charset="-122"/>
                <a:cs typeface="新細明體" pitchFamily="18" charset="-120"/>
              </a:rPr>
              <a:t>工艺委外分配</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Ø"/>
            </a:pPr>
            <a:r>
              <a:rPr lang="zh-CN" altLang="en-US" sz="1800">
                <a:solidFill>
                  <a:schemeClr val="tx1"/>
                </a:solidFill>
                <a:latin typeface="微软雅黑" pitchFamily="34" charset="-122"/>
                <a:ea typeface="微软雅黑" pitchFamily="34" charset="-122"/>
                <a:cs typeface="新細明體" pitchFamily="18" charset="-120"/>
              </a:rPr>
              <a:t>加工中主产品</a:t>
            </a:r>
            <a:r>
              <a:rPr lang="zh-CN" altLang="en-US" sz="1800">
                <a:solidFill>
                  <a:schemeClr val="tx1"/>
                </a:solidFill>
                <a:latin typeface="微软雅黑" pitchFamily="34" charset="-122"/>
                <a:ea typeface="微软雅黑" pitchFamily="34" charset="-122"/>
                <a:cs typeface="新細明體" pitchFamily="18" charset="-120"/>
              </a:rPr>
              <a:t>调拨单</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Ø"/>
            </a:pPr>
            <a:r>
              <a:rPr lang="zh-CN" altLang="en-US" sz="1800">
                <a:solidFill>
                  <a:schemeClr val="tx1"/>
                </a:solidFill>
                <a:latin typeface="微软雅黑" pitchFamily="34" charset="-122"/>
                <a:ea typeface="微软雅黑" pitchFamily="34" charset="-122"/>
                <a:cs typeface="新細明體" pitchFamily="18" charset="-120"/>
              </a:rPr>
              <a:t>内部订单</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u"/>
            </a:pPr>
            <a:endParaRPr lang="zh-CN" altLang="en-US" sz="1800">
              <a:solidFill>
                <a:schemeClr val="tx1"/>
              </a:solidFill>
              <a:latin typeface="微软雅黑" pitchFamily="34" charset="-122"/>
              <a:ea typeface="微软雅黑" pitchFamily="34" charset="-122"/>
              <a:cs typeface="新細明體" pitchFamily="18" charset="-120"/>
            </a:endParaRPr>
          </a:p>
        </p:txBody>
      </p:sp>
      <p:sp>
        <p:nvSpPr>
          <p:cNvPr id="430"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a:solidFill>
                  <a:schemeClr val="tx1"/>
                </a:solidFill>
                <a:latin typeface="Microsoft YaHei" pitchFamily="34" charset="-122"/>
                <a:ea typeface="Microsoft YaHei" pitchFamily="34" charset="-122"/>
                <a:cs typeface="新細明體" pitchFamily="18" charset="-120"/>
              </a:rPr>
              <a:t>主要数据</a:t>
            </a:r>
            <a:r>
              <a:rPr lang="zh-CN" altLang="en-US" sz="3600">
                <a:solidFill>
                  <a:schemeClr val="tx1"/>
                </a:solidFill>
                <a:latin typeface="Microsoft YaHei" pitchFamily="34" charset="-122"/>
                <a:ea typeface="Microsoft YaHei" pitchFamily="34" charset="-122"/>
                <a:cs typeface="新細明體" pitchFamily="18" charset="-120"/>
              </a:rPr>
              <a:t>准备</a:t>
            </a:r>
            <a:r>
              <a:rPr lang="zh-CN" altLang="en-US" sz="3600">
                <a:solidFill>
                  <a:schemeClr val="tx1"/>
                </a:solidFill>
                <a:latin typeface="Microsoft YaHei" pitchFamily="34" charset="-122"/>
                <a:ea typeface="Microsoft YaHei" pitchFamily="34" charset="-122"/>
                <a:cs typeface="新細明體" pitchFamily="18" charset="-120"/>
              </a:rPr>
              <a:t>-</a:t>
            </a:r>
            <a:r>
              <a:rPr lang="zh-CN" altLang="en-US" sz="3600">
                <a:solidFill>
                  <a:schemeClr val="tx1"/>
                </a:solidFill>
                <a:latin typeface="Microsoft YaHei" pitchFamily="34" charset="-122"/>
                <a:ea typeface="Microsoft YaHei" pitchFamily="34" charset="-122"/>
                <a:cs typeface="新細明體" pitchFamily="18" charset="-120"/>
              </a:rPr>
              <a:t>跨公司工艺委外</a:t>
            </a:r>
            <a:endParaRPr lang="zh-CN" altLang="en-US" sz="3600">
              <a:solidFill>
                <a:schemeClr val="tx1"/>
              </a:solidFill>
              <a:latin typeface="Microsoft YaHei" pitchFamily="34" charset="-122"/>
              <a:ea typeface="Microsoft YaHei" pitchFamily="34" charset="-122"/>
              <a:cs typeface="新細明體" pitchFamily="18" charset="-120"/>
            </a:endParaRPr>
          </a:p>
        </p:txBody>
      </p:sp>
      <p:sp>
        <p:nvSpPr>
          <p:cNvPr id="431" name="矩形"/>
          <p:cNvSpPr>
            <a:spLocks/>
          </p:cNvSpPr>
          <p:nvPr/>
        </p:nvSpPr>
        <p:spPr>
          <a:xfrm rot="0">
            <a:off x="900112" y="1314450"/>
            <a:ext cx="8064499" cy="25844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50000"/>
              </a:lnSpc>
              <a:spcBef>
                <a:spcPts val="0"/>
              </a:spcBef>
              <a:spcAft>
                <a:spcPts val="0"/>
              </a:spcAft>
              <a:buNone/>
            </a:pPr>
            <a:r>
              <a:rPr lang="zh-CN" altLang="en-US" sz="1800">
                <a:solidFill>
                  <a:schemeClr val="tx1"/>
                </a:solidFill>
                <a:latin typeface="微软雅黑" pitchFamily="34" charset="-122"/>
                <a:ea typeface="微软雅黑" pitchFamily="34" charset="-122"/>
                <a:cs typeface="新細明體" pitchFamily="18" charset="-120"/>
              </a:rPr>
              <a:t>案例</a:t>
            </a:r>
            <a:r>
              <a:rPr lang="zh-CN" altLang="en-US" sz="1800">
                <a:solidFill>
                  <a:schemeClr val="tx1"/>
                </a:solidFill>
                <a:latin typeface="微软雅黑" pitchFamily="34" charset="-122"/>
                <a:ea typeface="微软雅黑" pitchFamily="34" charset="-122"/>
                <a:cs typeface="新細明體" pitchFamily="18" charset="-120"/>
              </a:rPr>
              <a:t>:</a:t>
            </a:r>
            <a:endParaRPr lang="zh-CN" altLang="en-US" sz="1800">
              <a:solidFill>
                <a:schemeClr val="tx1"/>
              </a:solidFill>
              <a:latin typeface="微软雅黑" pitchFamily="34" charset="-122"/>
              <a:ea typeface="微软雅黑" pitchFamily="34" charset="-122"/>
              <a:cs typeface="新細明體" pitchFamily="18" charset="-120"/>
            </a:endParaRPr>
          </a:p>
          <a:p>
            <a:pPr marL="0" indent="0" algn="l">
              <a:lnSpc>
                <a:spcPct val="150000"/>
              </a:lnSpc>
              <a:spcBef>
                <a:spcPts val="0"/>
              </a:spcBef>
              <a:spcAft>
                <a:spcPts val="0"/>
              </a:spcAft>
              <a:buNone/>
            </a:pPr>
            <a:r>
              <a:rPr lang="zh-CN" altLang="en-US" sz="1800">
                <a:solidFill>
                  <a:schemeClr val="tx1"/>
                </a:solidFill>
                <a:latin typeface="微软雅黑" pitchFamily="34" charset="-122"/>
                <a:ea typeface="微软雅黑" pitchFamily="34" charset="-122"/>
                <a:cs typeface="新細明體" pitchFamily="18" charset="-120"/>
              </a:rPr>
              <a:t> </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**委托</a:t>
            </a:r>
            <a:r>
              <a:rPr lang="zh-CN" altLang="en-US" sz="1800">
                <a:solidFill>
                  <a:schemeClr val="tx1"/>
                </a:solidFill>
                <a:latin typeface="微软雅黑" pitchFamily="34" charset="-122"/>
                <a:ea typeface="微软雅黑" pitchFamily="34" charset="-122"/>
                <a:cs typeface="新細明體" pitchFamily="18" charset="-120"/>
              </a:rPr>
              <a:t>公司</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所属的</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**委托工</a:t>
            </a:r>
            <a:r>
              <a:rPr lang="zh-CN" altLang="en-US" sz="1800">
                <a:solidFill>
                  <a:schemeClr val="tx1"/>
                </a:solidFill>
                <a:latin typeface="微软雅黑" pitchFamily="34" charset="-122"/>
                <a:ea typeface="微软雅黑" pitchFamily="34" charset="-122"/>
                <a:cs typeface="新細明體" pitchFamily="18" charset="-120"/>
              </a:rPr>
              <a:t>厂</a:t>
            </a:r>
            <a:r>
              <a:rPr lang="zh-CN" altLang="en-US" sz="1800">
                <a:solidFill>
                  <a:schemeClr val="tx1"/>
                </a:solidFill>
                <a:latin typeface="微软雅黑" pitchFamily="34" charset="-122"/>
                <a:ea typeface="微软雅黑" pitchFamily="34" charset="-122"/>
                <a:cs typeface="新細明體" pitchFamily="18" charset="-120"/>
              </a:rPr>
              <a:t>]</a:t>
            </a:r>
            <a:endParaRPr lang="zh-CN" altLang="en-US" sz="1800">
              <a:solidFill>
                <a:schemeClr val="tx1"/>
              </a:solidFill>
              <a:latin typeface="微软雅黑" pitchFamily="34" charset="-122"/>
              <a:ea typeface="微软雅黑" pitchFamily="34" charset="-122"/>
              <a:cs typeface="新細明體" pitchFamily="18" charset="-120"/>
            </a:endParaRPr>
          </a:p>
          <a:p>
            <a:pPr marL="0" indent="0" algn="l">
              <a:lnSpc>
                <a:spcPct val="150000"/>
              </a:lnSpc>
              <a:spcBef>
                <a:spcPts val="0"/>
              </a:spcBef>
              <a:spcAft>
                <a:spcPts val="0"/>
              </a:spcAft>
              <a:buNone/>
            </a:pPr>
            <a:r>
              <a:rPr lang="zh-CN" altLang="en-US" sz="1800">
                <a:solidFill>
                  <a:schemeClr val="tx1"/>
                </a:solidFill>
                <a:latin typeface="微软雅黑" pitchFamily="34" charset="-122"/>
                <a:ea typeface="微软雅黑" pitchFamily="34" charset="-122"/>
                <a:cs typeface="新細明體" pitchFamily="18" charset="-120"/>
              </a:rPr>
              <a:t>  委托</a:t>
            </a:r>
            <a:endParaRPr lang="zh-CN" altLang="en-US" sz="1800">
              <a:solidFill>
                <a:schemeClr val="tx1"/>
              </a:solidFill>
              <a:latin typeface="微软雅黑" pitchFamily="34" charset="-122"/>
              <a:ea typeface="微软雅黑" pitchFamily="34" charset="-122"/>
              <a:cs typeface="新細明體" pitchFamily="18" charset="-120"/>
            </a:endParaRPr>
          </a:p>
          <a:p>
            <a:pPr marL="0" indent="0" algn="l">
              <a:lnSpc>
                <a:spcPct val="150000"/>
              </a:lnSpc>
              <a:spcBef>
                <a:spcPts val="0"/>
              </a:spcBef>
              <a:spcAft>
                <a:spcPts val="0"/>
              </a:spcAft>
              <a:buNone/>
            </a:pPr>
            <a:r>
              <a:rPr lang="zh-CN" altLang="en-US" sz="1800">
                <a:solidFill>
                  <a:schemeClr val="tx1"/>
                </a:solidFill>
                <a:latin typeface="微软雅黑" pitchFamily="34" charset="-122"/>
                <a:ea typeface="微软雅黑" pitchFamily="34" charset="-122"/>
                <a:cs typeface="新細明體" pitchFamily="18" charset="-120"/>
              </a:rPr>
              <a:t> </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**公司</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所属的</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**工厂</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，生产产品为</a:t>
            </a:r>
            <a:r>
              <a:rPr lang="zh-CN" altLang="en-US" sz="1800">
                <a:solidFill>
                  <a:schemeClr val="tx1"/>
                </a:solidFill>
                <a:latin typeface="微软雅黑" pitchFamily="34" charset="-122"/>
                <a:ea typeface="微软雅黑" pitchFamily="34" charset="-122"/>
                <a:cs typeface="新細明體" pitchFamily="18" charset="-120"/>
              </a:rPr>
              <a:t>201020002</a:t>
            </a:r>
            <a:r>
              <a:rPr lang="zh-CN" altLang="en-US" sz="1800">
                <a:solidFill>
                  <a:schemeClr val="tx1"/>
                </a:solidFill>
                <a:latin typeface="微软雅黑" pitchFamily="34" charset="-122"/>
                <a:ea typeface="微软雅黑" pitchFamily="34" charset="-122"/>
                <a:cs typeface="新細明體" pitchFamily="18" charset="-120"/>
              </a:rPr>
              <a:t>后</a:t>
            </a:r>
            <a:r>
              <a:rPr lang="zh-CN" altLang="en-US" sz="1800">
                <a:solidFill>
                  <a:schemeClr val="tx1"/>
                </a:solidFill>
                <a:latin typeface="微软雅黑" pitchFamily="34" charset="-122"/>
                <a:ea typeface="微软雅黑" pitchFamily="34" charset="-122"/>
                <a:cs typeface="新細明體" pitchFamily="18" charset="-120"/>
              </a:rPr>
              <a:t>护罩的</a:t>
            </a:r>
            <a:r>
              <a:rPr lang="zh-CN" altLang="en-US" sz="1800">
                <a:solidFill>
                  <a:schemeClr val="tx1"/>
                </a:solidFill>
                <a:latin typeface="微软雅黑" pitchFamily="34" charset="-122"/>
                <a:ea typeface="微软雅黑" pitchFamily="34" charset="-122"/>
                <a:cs typeface="新細明體" pitchFamily="18" charset="-120"/>
              </a:rPr>
              <a:t>0020</a:t>
            </a:r>
            <a:r>
              <a:rPr lang="zh-CN" altLang="en-US" sz="1800">
                <a:solidFill>
                  <a:schemeClr val="tx1"/>
                </a:solidFill>
                <a:latin typeface="微软雅黑" pitchFamily="34" charset="-122"/>
                <a:ea typeface="微软雅黑" pitchFamily="34" charset="-122"/>
                <a:cs typeface="新細明體" pitchFamily="18" charset="-120"/>
              </a:rPr>
              <a:t>道工序</a:t>
            </a:r>
            <a:endParaRPr lang="zh-CN" altLang="en-US" sz="1800" b="1">
              <a:solidFill>
                <a:srgbClr val="FF0000"/>
              </a:solidFill>
              <a:latin typeface="微软雅黑" pitchFamily="34" charset="-122"/>
              <a:ea typeface="微软雅黑" pitchFamily="34" charset="-122"/>
              <a:cs typeface="新細明體" pitchFamily="18" charset="-120"/>
            </a:endParaRPr>
          </a:p>
          <a:p>
            <a:pPr marL="0" indent="0" algn="l">
              <a:lnSpc>
                <a:spcPct val="150000"/>
              </a:lnSpc>
              <a:spcBef>
                <a:spcPts val="0"/>
              </a:spcBef>
              <a:spcAft>
                <a:spcPts val="0"/>
              </a:spcAft>
              <a:buSzPct val="100000"/>
              <a:buFont typeface="Wingdings" pitchFamily="2" charset="2"/>
              <a:buChar char="u"/>
            </a:pPr>
            <a:endParaRPr lang="zh-CN" altLang="en-US" sz="1800">
              <a:solidFill>
                <a:schemeClr val="tx1"/>
              </a:solidFill>
              <a:latin typeface="微软雅黑" pitchFamily="34" charset="-122"/>
              <a:ea typeface="微软雅黑" pitchFamily="34" charset="-122"/>
              <a:cs typeface="新細明體" pitchFamily="18" charset="-120"/>
            </a:endParaRPr>
          </a:p>
          <a:p>
            <a:pPr marL="0" indent="0" algn="l">
              <a:lnSpc>
                <a:spcPct val="150000"/>
              </a:lnSpc>
              <a:spcBef>
                <a:spcPts val="0"/>
              </a:spcBef>
              <a:spcAft>
                <a:spcPts val="0"/>
              </a:spcAft>
              <a:buSzPct val="100000"/>
              <a:buFont typeface="Wingdings" pitchFamily="2" charset="2"/>
              <a:buChar char="u"/>
            </a:pPr>
            <a:endParaRPr lang="zh-CN" altLang="en-US" sz="1800">
              <a:solidFill>
                <a:schemeClr val="tx1"/>
              </a:solidFill>
              <a:latin typeface="微软雅黑" pitchFamily="34" charset="-122"/>
              <a:ea typeface="微软雅黑" pitchFamily="34" charset="-122"/>
              <a:cs typeface="新細明體" pitchFamily="18" charset="-120"/>
            </a:endParaRPr>
          </a:p>
        </p:txBody>
      </p:sp>
      <p:pic>
        <p:nvPicPr>
          <p:cNvPr id="432" name="图片"/>
          <p:cNvPicPr>
            <a:picLocks noChangeAspect="1"/>
          </p:cNvPicPr>
          <p:nvPr/>
        </p:nvPicPr>
        <p:blipFill>
          <a:blip r:embed="rId1" cstate="print"/>
          <a:stretch>
            <a:fillRect/>
          </a:stretch>
        </p:blipFill>
        <p:spPr>
          <a:xfrm rot="0">
            <a:off x="0" y="5238750"/>
            <a:ext cx="2592387" cy="1619249"/>
          </a:xfrm>
          <a:prstGeom prst="rect"/>
          <a:noFill/>
          <a:ln w="9525" cmpd="sng" cap="flat">
            <a:noFill/>
            <a:prstDash val="solid"/>
            <a:miter/>
          </a:ln>
        </p:spPr>
      </p:pic>
      <p:sp>
        <p:nvSpPr>
          <p:cNvPr id="433" name="矩形"/>
          <p:cNvSpPr>
            <a:spLocks/>
          </p:cNvSpPr>
          <p:nvPr/>
        </p:nvSpPr>
        <p:spPr>
          <a:xfrm rot="0">
            <a:off x="2987675" y="5505450"/>
            <a:ext cx="5545137" cy="1338262"/>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50000"/>
              </a:lnSpc>
              <a:spcBef>
                <a:spcPts val="0"/>
              </a:spcBef>
              <a:spcAft>
                <a:spcPts val="0"/>
              </a:spcAft>
              <a:buNone/>
            </a:pPr>
            <a:r>
              <a:rPr lang="zh-CN" altLang="en-US" sz="1800">
                <a:solidFill>
                  <a:srgbClr val="FF0000"/>
                </a:solidFill>
                <a:latin typeface="微软雅黑" pitchFamily="34" charset="-122"/>
                <a:ea typeface="微软雅黑" pitchFamily="34" charset="-122"/>
                <a:cs typeface="新細明體" pitchFamily="18" charset="-120"/>
              </a:rPr>
              <a:t>注</a:t>
            </a:r>
            <a:r>
              <a:rPr lang="zh-CN" altLang="en-US" sz="1800">
                <a:solidFill>
                  <a:srgbClr val="FF0000"/>
                </a:solidFill>
                <a:latin typeface="微软雅黑" pitchFamily="34" charset="-122"/>
                <a:ea typeface="微软雅黑" pitchFamily="34" charset="-122"/>
                <a:cs typeface="新細明體" pitchFamily="18" charset="-120"/>
              </a:rPr>
              <a:t>:</a:t>
            </a:r>
            <a:r>
              <a:rPr lang="zh-CN" altLang="en-US" sz="1800">
                <a:solidFill>
                  <a:srgbClr val="FF0000"/>
                </a:solidFill>
                <a:latin typeface="微软雅黑" pitchFamily="34" charset="-122"/>
                <a:ea typeface="微软雅黑" pitchFamily="34" charset="-122"/>
                <a:cs typeface="新細明體" pitchFamily="18" charset="-120"/>
              </a:rPr>
              <a:t>其他正常的流程，</a:t>
            </a:r>
            <a:r>
              <a:rPr lang="zh-CN" altLang="en-US" sz="1800">
                <a:solidFill>
                  <a:srgbClr val="FF0000"/>
                </a:solidFill>
                <a:latin typeface="微软雅黑" pitchFamily="34" charset="-122"/>
                <a:ea typeface="微软雅黑" pitchFamily="34" charset="-122"/>
                <a:cs typeface="新細明體" pitchFamily="18" charset="-120"/>
              </a:rPr>
              <a:t>例如生产</a:t>
            </a:r>
            <a:r>
              <a:rPr lang="zh-CN" altLang="en-US" sz="1800">
                <a:solidFill>
                  <a:srgbClr val="FF0000"/>
                </a:solidFill>
                <a:latin typeface="微软雅黑" pitchFamily="34" charset="-122"/>
                <a:ea typeface="微软雅黑" pitchFamily="34" charset="-122"/>
                <a:cs typeface="新細明體" pitchFamily="18" charset="-120"/>
              </a:rPr>
              <a:t>方工单的领料、生产入库，生产方工单完成后</a:t>
            </a:r>
            <a:r>
              <a:rPr lang="zh-CN" altLang="en-US" sz="1800">
                <a:solidFill>
                  <a:srgbClr val="FF0000"/>
                </a:solidFill>
                <a:latin typeface="微软雅黑" pitchFamily="34" charset="-122"/>
                <a:ea typeface="微软雅黑" pitchFamily="34" charset="-122"/>
                <a:cs typeface="新細明體" pitchFamily="18" charset="-120"/>
              </a:rPr>
              <a:t>依内部订单做</a:t>
            </a:r>
            <a:r>
              <a:rPr lang="zh-CN" altLang="en-US" sz="1800">
                <a:solidFill>
                  <a:srgbClr val="FF0000"/>
                </a:solidFill>
                <a:latin typeface="微软雅黑" pitchFamily="34" charset="-122"/>
                <a:ea typeface="微软雅黑" pitchFamily="34" charset="-122"/>
                <a:cs typeface="新細明體" pitchFamily="18" charset="-120"/>
              </a:rPr>
              <a:t>相应</a:t>
            </a:r>
            <a:r>
              <a:rPr lang="zh-CN" altLang="en-US" sz="1800">
                <a:solidFill>
                  <a:srgbClr val="FF0000"/>
                </a:solidFill>
                <a:latin typeface="微软雅黑" pitchFamily="34" charset="-122"/>
                <a:ea typeface="微软雅黑" pitchFamily="34" charset="-122"/>
                <a:cs typeface="新細明體" pitchFamily="18" charset="-120"/>
              </a:rPr>
              <a:t>的销售出库、采购入库等</a:t>
            </a:r>
            <a:r>
              <a:rPr lang="zh-CN" altLang="en-US" sz="1800">
                <a:solidFill>
                  <a:srgbClr val="FF0000"/>
                </a:solidFill>
                <a:latin typeface="微软雅黑" pitchFamily="34" charset="-122"/>
                <a:ea typeface="微软雅黑" pitchFamily="34" charset="-122"/>
                <a:cs typeface="新細明體" pitchFamily="18" charset="-120"/>
              </a:rPr>
              <a:t>流程就不赘述了</a:t>
            </a:r>
            <a:endParaRPr lang="zh-CN" altLang="en-US" sz="1800">
              <a:solidFill>
                <a:srgbClr val="FF0000"/>
              </a:solidFill>
              <a:latin typeface="微软雅黑" pitchFamily="34" charset="-122"/>
              <a:ea typeface="微软雅黑" pitchFamily="34" charset="-122"/>
              <a:cs typeface="新細明體" pitchFamily="18" charset="-120"/>
            </a:endParaRPr>
          </a:p>
        </p:txBody>
      </p:sp>
    </p:spTree>
    <p:extLst>
      <p:ext uri="{BB962C8B-B14F-4D97-AF65-F5344CB8AC3E}">
        <p14:creationId xmlns:p14="http://schemas.microsoft.com/office/powerpoint/2010/main" val="375535967"/>
      </p:ext>
    </p:extLst>
  </p:cSld>
  <p:clrMapOvr>
    <a:masterClrMapping/>
  </p:clrMapOvr>
  <p:transition/>
</p:sld>
</file>

<file path=ppt/slides/slide7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434" name="图片"/>
          <p:cNvPicPr>
            <a:picLocks noChangeAspect="1"/>
          </p:cNvPicPr>
          <p:nvPr/>
        </p:nvPicPr>
        <p:blipFill>
          <a:blip r:embed="rId1" cstate="print"/>
          <a:stretch>
            <a:fillRect/>
          </a:stretch>
        </p:blipFill>
        <p:spPr>
          <a:xfrm rot="0">
            <a:off x="0" y="5241925"/>
            <a:ext cx="2597150" cy="1616075"/>
          </a:xfrm>
          <a:prstGeom prst="rect"/>
          <a:noFill/>
          <a:ln w="9525" cmpd="sng" cap="flat">
            <a:noFill/>
            <a:prstDash val="solid"/>
            <a:miter/>
          </a:ln>
        </p:spPr>
      </p:pic>
      <p:sp>
        <p:nvSpPr>
          <p:cNvPr id="435" name="矩形"/>
          <p:cNvSpPr>
            <a:spLocks/>
          </p:cNvSpPr>
          <p:nvPr/>
        </p:nvSpPr>
        <p:spPr>
          <a:xfrm rot="0">
            <a:off x="468312" y="1141412"/>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：工艺委外的起点，生成对应的内部订单和生产方工单</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36" name="矩形"/>
          <p:cNvSpPr>
            <a:spLocks/>
          </p:cNvSpPr>
          <p:nvPr/>
        </p:nvSpPr>
        <p:spPr>
          <a:xfrm rot="0">
            <a:off x="0" y="1547812"/>
            <a:ext cx="3132137" cy="378618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PMingLiU" pitchFamily="18" charset="-120"/>
                <a:cs typeface="新細明體" pitchFamily="18" charset="-120"/>
              </a:rPr>
              <a:t>选择“跨公司委托生产”单据类型</a:t>
            </a:r>
            <a:endParaRPr lang="zh-CN" altLang="en-US" sz="2000">
              <a:solidFill>
                <a:schemeClr val="tx1"/>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PMingLiU" pitchFamily="18" charset="-120"/>
                <a:cs typeface="新細明體" pitchFamily="18" charset="-120"/>
              </a:rPr>
              <a:t>如果单据类型中的“自动生成内部订单、生产方工单”勾选，则协同关系必填</a:t>
            </a:r>
            <a:r>
              <a:rPr lang="zh-CN" altLang="en-US" sz="2000">
                <a:solidFill>
                  <a:schemeClr val="tx1"/>
                </a:solidFill>
                <a:latin typeface="宋体" pitchFamily="2" charset="-122"/>
                <a:ea typeface="PMingLiU" pitchFamily="18" charset="-120"/>
                <a:cs typeface="新細明體" pitchFamily="18" charset="-120"/>
              </a:rPr>
              <a:t>，转移单审核</a:t>
            </a:r>
            <a:r>
              <a:rPr lang="zh-CN" altLang="en-US" sz="2000">
                <a:solidFill>
                  <a:schemeClr val="tx1"/>
                </a:solidFill>
                <a:latin typeface="宋体" pitchFamily="2" charset="-122"/>
                <a:ea typeface="PMingLiU" pitchFamily="18" charset="-120"/>
                <a:cs typeface="新細明體" pitchFamily="18" charset="-120"/>
              </a:rPr>
              <a:t>自动生成生产方工单；</a:t>
            </a:r>
            <a:r>
              <a:rPr lang="zh-CN" altLang="en-US" sz="2000">
                <a:solidFill>
                  <a:schemeClr val="tx1"/>
                </a:solidFill>
                <a:latin typeface="宋体" pitchFamily="2" charset="-122"/>
                <a:ea typeface="PMingLiU" pitchFamily="18" charset="-120"/>
                <a:cs typeface="新細明體" pitchFamily="18" charset="-120"/>
              </a:rPr>
              <a:t>如果单据类型</a:t>
            </a:r>
            <a:r>
              <a:rPr lang="zh-CN" altLang="en-US" sz="2000">
                <a:solidFill>
                  <a:schemeClr val="tx1"/>
                </a:solidFill>
                <a:latin typeface="宋体" pitchFamily="2" charset="-122"/>
                <a:ea typeface="PMingLiU" pitchFamily="18" charset="-120"/>
                <a:cs typeface="新細明體" pitchFamily="18" charset="-120"/>
              </a:rPr>
              <a:t>中“</a:t>
            </a:r>
            <a:r>
              <a:rPr lang="zh-CN" altLang="en-US" sz="2000">
                <a:solidFill>
                  <a:schemeClr val="tx1"/>
                </a:solidFill>
                <a:latin typeface="宋体" pitchFamily="2" charset="-122"/>
                <a:ea typeface="PMingLiU" pitchFamily="18" charset="-120"/>
                <a:cs typeface="新細明體" pitchFamily="18" charset="-120"/>
              </a:rPr>
              <a:t>自动生成内部订单、生产方工单”不勾选，则协同关系不必填，由工单委外分配生成生产方工单。</a:t>
            </a:r>
            <a:endParaRPr lang="zh-CN" altLang="en-US" sz="2000">
              <a:solidFill>
                <a:schemeClr val="tx1"/>
              </a:solidFill>
              <a:latin typeface="宋体" pitchFamily="2" charset="-122"/>
              <a:ea typeface="PMingLiU" pitchFamily="18" charset="-120"/>
              <a:cs typeface="新細明體" pitchFamily="18" charset="-120"/>
            </a:endParaRPr>
          </a:p>
        </p:txBody>
      </p:sp>
      <p:sp>
        <p:nvSpPr>
          <p:cNvPr id="437"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维护工艺转移单</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438" name="图片"/>
          <p:cNvPicPr>
            <a:picLocks noChangeAspect="1"/>
          </p:cNvPicPr>
          <p:nvPr/>
        </p:nvPicPr>
        <p:blipFill>
          <a:blip r:embed="rId2" cstate="print"/>
          <a:stretch>
            <a:fillRect/>
          </a:stretch>
        </p:blipFill>
        <p:spPr>
          <a:xfrm rot="0">
            <a:off x="3162300" y="1608137"/>
            <a:ext cx="5672137" cy="3725862"/>
          </a:xfrm>
          <a:prstGeom prst="rect"/>
          <a:noFill/>
          <a:ln w="9525" cmpd="sng" cap="flat">
            <a:noFill/>
            <a:prstDash val="solid"/>
            <a:miter/>
          </a:ln>
        </p:spPr>
      </p:pic>
    </p:spTree>
    <p:extLst>
      <p:ext uri="{BB962C8B-B14F-4D97-AF65-F5344CB8AC3E}">
        <p14:creationId xmlns:p14="http://schemas.microsoft.com/office/powerpoint/2010/main" val="1677279753"/>
      </p:ext>
    </p:extLst>
  </p:cSld>
  <p:clrMapOvr>
    <a:masterClrMapping/>
  </p:clrMapOvr>
  <p:transition/>
</p:sld>
</file>

<file path=ppt/slides/slide7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439" name="图片"/>
          <p:cNvPicPr>
            <a:picLocks noChangeAspect="1"/>
          </p:cNvPicPr>
          <p:nvPr/>
        </p:nvPicPr>
        <p:blipFill>
          <a:blip r:embed="rId1" cstate="print"/>
          <a:stretch>
            <a:fillRect/>
          </a:stretch>
        </p:blipFill>
        <p:spPr>
          <a:xfrm rot="0">
            <a:off x="0" y="5241925"/>
            <a:ext cx="2597150" cy="1616075"/>
          </a:xfrm>
          <a:prstGeom prst="rect"/>
          <a:noFill/>
          <a:ln w="9525" cmpd="sng" cap="flat">
            <a:noFill/>
            <a:prstDash val="solid"/>
            <a:miter/>
          </a:ln>
        </p:spPr>
      </p:pic>
      <p:sp>
        <p:nvSpPr>
          <p:cNvPr id="440"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a:solidFill>
                  <a:schemeClr val="tx1"/>
                </a:solidFill>
                <a:latin typeface="黑体" pitchFamily="2" charset="-122"/>
                <a:ea typeface="黑体" pitchFamily="2" charset="-122"/>
                <a:cs typeface="新細明體" pitchFamily="18" charset="-120"/>
              </a:rPr>
              <a:t>日常作业操作</a:t>
            </a:r>
            <a:r>
              <a:rPr lang="zh-CN" altLang="en-US" sz="3600">
                <a:solidFill>
                  <a:schemeClr val="tx1"/>
                </a:solidFill>
                <a:latin typeface="黑体" pitchFamily="2" charset="-122"/>
                <a:ea typeface="黑体" pitchFamily="2" charset="-122"/>
                <a:cs typeface="新細明體" pitchFamily="18" charset="-120"/>
              </a:rPr>
              <a:t>－</a:t>
            </a:r>
            <a:r>
              <a:rPr lang="zh-CN" altLang="en-US" sz="3600">
                <a:solidFill>
                  <a:schemeClr val="tx1"/>
                </a:solidFill>
                <a:latin typeface="黑体" pitchFamily="2" charset="-122"/>
                <a:ea typeface="黑体" pitchFamily="2" charset="-122"/>
                <a:cs typeface="新細明體" pitchFamily="18" charset="-120"/>
              </a:rPr>
              <a:t>维护</a:t>
            </a:r>
            <a:r>
              <a:rPr lang="zh-CN" altLang="en-US" sz="3600">
                <a:solidFill>
                  <a:schemeClr val="tx1"/>
                </a:solidFill>
                <a:latin typeface="黑体" pitchFamily="2" charset="-122"/>
                <a:ea typeface="黑体" pitchFamily="2" charset="-122"/>
                <a:cs typeface="新細明體" pitchFamily="18" charset="-120"/>
              </a:rPr>
              <a:t>工艺委</a:t>
            </a:r>
            <a:r>
              <a:rPr lang="zh-CN" altLang="en-US" sz="3600">
                <a:solidFill>
                  <a:schemeClr val="tx1"/>
                </a:solidFill>
                <a:latin typeface="黑体" pitchFamily="2" charset="-122"/>
                <a:ea typeface="黑体" pitchFamily="2" charset="-122"/>
                <a:cs typeface="新細明體" pitchFamily="18" charset="-120"/>
              </a:rPr>
              <a:t>外分配</a:t>
            </a:r>
            <a:endParaRPr lang="zh-CN" altLang="en-US" sz="3600">
              <a:solidFill>
                <a:schemeClr val="tx1"/>
              </a:solidFill>
              <a:latin typeface="黑体" pitchFamily="2" charset="-122"/>
              <a:ea typeface="黑体" pitchFamily="2" charset="-122"/>
              <a:cs typeface="新細明體" pitchFamily="18" charset="-120"/>
            </a:endParaRPr>
          </a:p>
        </p:txBody>
      </p:sp>
      <p:sp>
        <p:nvSpPr>
          <p:cNvPr id="441" name="矩形"/>
          <p:cNvSpPr>
            <a:spLocks/>
          </p:cNvSpPr>
          <p:nvPr/>
        </p:nvSpPr>
        <p:spPr>
          <a:xfrm rot="0">
            <a:off x="468312" y="1270000"/>
            <a:ext cx="8567738" cy="708024"/>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：如果委托</a:t>
            </a:r>
            <a:r>
              <a:rPr lang="zh-CN" altLang="en-US" sz="2000">
                <a:solidFill>
                  <a:schemeClr val="tx1"/>
                </a:solidFill>
                <a:latin typeface="微软雅黑" pitchFamily="34" charset="-122"/>
                <a:ea typeface="微软雅黑" pitchFamily="34" charset="-122"/>
                <a:cs typeface="新細明體" pitchFamily="18" charset="-120"/>
              </a:rPr>
              <a:t>方</a:t>
            </a:r>
            <a:r>
              <a:rPr lang="zh-CN" altLang="en-US" sz="2000">
                <a:solidFill>
                  <a:schemeClr val="tx1"/>
                </a:solidFill>
                <a:latin typeface="微软雅黑" pitchFamily="34" charset="-122"/>
                <a:ea typeface="微软雅黑" pitchFamily="34" charset="-122"/>
                <a:cs typeface="新細明體" pitchFamily="18" charset="-120"/>
              </a:rPr>
              <a:t>转移单</a:t>
            </a:r>
            <a:r>
              <a:rPr lang="zh-CN" altLang="en-US" sz="2000">
                <a:solidFill>
                  <a:schemeClr val="tx1"/>
                </a:solidFill>
                <a:latin typeface="微软雅黑" pitchFamily="34" charset="-122"/>
                <a:ea typeface="微软雅黑" pitchFamily="34" charset="-122"/>
                <a:cs typeface="新細明體" pitchFamily="18" charset="-120"/>
              </a:rPr>
              <a:t>不</a:t>
            </a:r>
            <a:r>
              <a:rPr lang="zh-CN" altLang="en-US" sz="2000">
                <a:solidFill>
                  <a:schemeClr val="tx1"/>
                </a:solidFill>
                <a:latin typeface="微软雅黑" pitchFamily="34" charset="-122"/>
                <a:ea typeface="微软雅黑" pitchFamily="34" charset="-122"/>
                <a:cs typeface="新細明體" pitchFamily="18" charset="-120"/>
              </a:rPr>
              <a:t>自动生成内部订单和生产方工单，则需要</a:t>
            </a:r>
            <a:r>
              <a:rPr lang="zh-CN" altLang="en-US" sz="2000">
                <a:solidFill>
                  <a:schemeClr val="tx1"/>
                </a:solidFill>
                <a:latin typeface="微软雅黑" pitchFamily="34" charset="-122"/>
                <a:ea typeface="微软雅黑" pitchFamily="34" charset="-122"/>
                <a:cs typeface="新細明體" pitchFamily="18" charset="-120"/>
              </a:rPr>
              <a:t>工艺委</a:t>
            </a:r>
            <a:r>
              <a:rPr lang="zh-CN" altLang="en-US" sz="2000">
                <a:solidFill>
                  <a:schemeClr val="tx1"/>
                </a:solidFill>
                <a:latin typeface="微软雅黑" pitchFamily="34" charset="-122"/>
                <a:ea typeface="微软雅黑" pitchFamily="34" charset="-122"/>
                <a:cs typeface="新細明體" pitchFamily="18" charset="-120"/>
              </a:rPr>
              <a:t>外分配，分配给内部供应商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42" name="矩形"/>
          <p:cNvSpPr>
            <a:spLocks/>
          </p:cNvSpPr>
          <p:nvPr/>
        </p:nvSpPr>
        <p:spPr>
          <a:xfrm rot="0">
            <a:off x="98425" y="2078037"/>
            <a:ext cx="3405187" cy="3786188"/>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若分</a:t>
            </a:r>
            <a:r>
              <a:rPr lang="zh-CN" altLang="en-US" sz="2000">
                <a:solidFill>
                  <a:schemeClr val="tx1"/>
                </a:solidFill>
                <a:latin typeface="宋体" pitchFamily="2" charset="-122"/>
                <a:ea typeface="宋体" pitchFamily="2" charset="-122"/>
                <a:cs typeface="新細明體" pitchFamily="18" charset="-120"/>
              </a:rPr>
              <a:t>配给多个供应商，或者规划就是统一由专人在</a:t>
            </a:r>
            <a:r>
              <a:rPr lang="zh-CN" altLang="en-US" sz="2000">
                <a:solidFill>
                  <a:schemeClr val="tx1"/>
                </a:solidFill>
                <a:latin typeface="宋体" pitchFamily="2" charset="-122"/>
                <a:ea typeface="宋体" pitchFamily="2" charset="-122"/>
                <a:cs typeface="新細明體" pitchFamily="18" charset="-120"/>
              </a:rPr>
              <a:t>工艺委</a:t>
            </a:r>
            <a:r>
              <a:rPr lang="zh-CN" altLang="en-US" sz="2000">
                <a:solidFill>
                  <a:schemeClr val="tx1"/>
                </a:solidFill>
                <a:latin typeface="宋体" pitchFamily="2" charset="-122"/>
                <a:ea typeface="宋体" pitchFamily="2" charset="-122"/>
                <a:cs typeface="新細明體" pitchFamily="18" charset="-120"/>
              </a:rPr>
              <a:t>外分配生成，则委托</a:t>
            </a:r>
            <a:r>
              <a:rPr lang="zh-CN" altLang="en-US" sz="2000">
                <a:solidFill>
                  <a:schemeClr val="tx1"/>
                </a:solidFill>
                <a:latin typeface="宋体" pitchFamily="2" charset="-122"/>
                <a:ea typeface="宋体" pitchFamily="2" charset="-122"/>
                <a:cs typeface="新細明體" pitchFamily="18" charset="-120"/>
              </a:rPr>
              <a:t>方转移单应选</a:t>
            </a:r>
            <a:r>
              <a:rPr lang="zh-CN" altLang="en-US" sz="2000">
                <a:solidFill>
                  <a:schemeClr val="tx1"/>
                </a:solidFill>
                <a:latin typeface="宋体" pitchFamily="2" charset="-122"/>
                <a:ea typeface="宋体" pitchFamily="2" charset="-122"/>
                <a:cs typeface="新細明體" pitchFamily="18" charset="-120"/>
              </a:rPr>
              <a:t>择不自动产生内部订单和生产方工单的单据类型</a:t>
            </a:r>
            <a:r>
              <a:rPr lang="zh-CN" altLang="en-US" sz="2000">
                <a:solidFill>
                  <a:schemeClr val="tx1"/>
                </a:solidFill>
                <a:latin typeface="宋体" pitchFamily="2" charset="-122"/>
                <a:ea typeface="宋体" pitchFamily="2" charset="-122"/>
                <a:cs typeface="新細明體" pitchFamily="18" charset="-120"/>
              </a:rPr>
              <a:t>，通过工艺委</a:t>
            </a:r>
            <a:r>
              <a:rPr lang="zh-CN" altLang="en-US" sz="2000">
                <a:solidFill>
                  <a:schemeClr val="tx1"/>
                </a:solidFill>
                <a:latin typeface="宋体" pitchFamily="2" charset="-122"/>
                <a:ea typeface="宋体" pitchFamily="2" charset="-122"/>
                <a:cs typeface="新細明體" pitchFamily="18" charset="-120"/>
              </a:rPr>
              <a:t>外分配选择协同类型</a:t>
            </a:r>
            <a:r>
              <a:rPr lang="zh-CN" altLang="en-US" sz="2000">
                <a:solidFill>
                  <a:schemeClr val="tx1"/>
                </a:solidFill>
                <a:latin typeface="宋体" pitchFamily="2" charset="-122"/>
                <a:ea typeface="宋体" pitchFamily="2" charset="-122"/>
                <a:cs typeface="新細明體" pitchFamily="18" charset="-120"/>
              </a:rPr>
              <a:t>及供应</a:t>
            </a:r>
            <a:r>
              <a:rPr lang="zh-CN" altLang="en-US" sz="2000">
                <a:solidFill>
                  <a:schemeClr val="tx1"/>
                </a:solidFill>
                <a:latin typeface="宋体" pitchFamily="2" charset="-122"/>
                <a:ea typeface="宋体" pitchFamily="2" charset="-122"/>
                <a:cs typeface="新細明體" pitchFamily="18" charset="-120"/>
              </a:rPr>
              <a:t>商，做生单操作</a:t>
            </a:r>
            <a:r>
              <a:rPr lang="zh-CN" altLang="en-US" sz="2000">
                <a:solidFill>
                  <a:schemeClr val="tx1"/>
                </a:solidFill>
                <a:latin typeface="宋体" pitchFamily="2" charset="-122"/>
                <a:ea typeface="宋体" pitchFamily="2" charset="-122"/>
                <a:cs typeface="新細明體" pitchFamily="18" charset="-120"/>
              </a:rPr>
              <a:t>。</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微軟正黑體" pitchFamily="34" charset="-120"/>
                <a:ea typeface="微軟正黑體" pitchFamily="34" charset="-120"/>
                <a:cs typeface="新細明體" pitchFamily="18" charset="-120"/>
              </a:rPr>
              <a:t>若第一道就进行集团内工艺委外</a:t>
            </a:r>
            <a:r>
              <a:rPr lang="zh-CN" altLang="en-US" sz="2000">
                <a:solidFill>
                  <a:schemeClr val="tx1"/>
                </a:solidFill>
                <a:latin typeface="微軟正黑體" pitchFamily="34" charset="-120"/>
                <a:ea typeface="微軟正黑體" pitchFamily="34" charset="-120"/>
                <a:cs typeface="新細明體" pitchFamily="18" charset="-120"/>
              </a:rPr>
              <a:t>，必须由工艺</a:t>
            </a:r>
            <a:r>
              <a:rPr lang="zh-CN" altLang="en-US" sz="2000">
                <a:solidFill>
                  <a:schemeClr val="tx1"/>
                </a:solidFill>
                <a:latin typeface="微軟正黑體" pitchFamily="34" charset="-120"/>
                <a:ea typeface="微軟正黑體" pitchFamily="34" charset="-120"/>
                <a:cs typeface="新細明體" pitchFamily="18" charset="-120"/>
              </a:rPr>
              <a:t>委外分配</a:t>
            </a:r>
            <a:r>
              <a:rPr lang="zh-CN" altLang="en-US" sz="2000">
                <a:solidFill>
                  <a:schemeClr val="tx1"/>
                </a:solidFill>
                <a:latin typeface="微軟正黑體" pitchFamily="34" charset="-120"/>
                <a:ea typeface="微軟正黑體" pitchFamily="34" charset="-120"/>
                <a:cs typeface="新細明體" pitchFamily="18" charset="-120"/>
              </a:rPr>
              <a:t>生成相关单据</a:t>
            </a:r>
            <a:endParaRPr lang="zh-CN" altLang="en-US" sz="2000">
              <a:solidFill>
                <a:schemeClr val="tx1"/>
              </a:solidFill>
              <a:latin typeface="微軟正黑體" pitchFamily="34" charset="-120"/>
              <a:ea typeface="微軟正黑體" pitchFamily="34"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chemeClr val="tx1"/>
              </a:solidFill>
              <a:latin typeface="宋体" pitchFamily="2" charset="-122"/>
              <a:ea typeface="宋体" pitchFamily="2" charset="-122"/>
              <a:cs typeface="新細明體" pitchFamily="18" charset="-120"/>
            </a:endParaRPr>
          </a:p>
        </p:txBody>
      </p:sp>
      <p:pic>
        <p:nvPicPr>
          <p:cNvPr id="443" name="图片"/>
          <p:cNvPicPr>
            <a:picLocks noChangeAspect="1"/>
          </p:cNvPicPr>
          <p:nvPr/>
        </p:nvPicPr>
        <p:blipFill>
          <a:blip r:embed="rId2" cstate="print"/>
          <a:stretch>
            <a:fillRect/>
          </a:stretch>
        </p:blipFill>
        <p:spPr>
          <a:xfrm rot="0">
            <a:off x="3533775" y="2078037"/>
            <a:ext cx="5437187" cy="3943350"/>
          </a:xfrm>
          <a:prstGeom prst="rect"/>
          <a:noFill/>
          <a:ln w="9525" cmpd="sng" cap="flat">
            <a:noFill/>
            <a:prstDash val="solid"/>
            <a:miter/>
          </a:ln>
        </p:spPr>
      </p:pic>
    </p:spTree>
    <p:extLst>
      <p:ext uri="{BB962C8B-B14F-4D97-AF65-F5344CB8AC3E}">
        <p14:creationId xmlns:p14="http://schemas.microsoft.com/office/powerpoint/2010/main" val="1108572141"/>
      </p:ext>
    </p:extLst>
  </p:cSld>
  <p:clrMapOvr>
    <a:masterClrMapping/>
  </p:clrMapOvr>
  <p:transition/>
</p:sld>
</file>

<file path=ppt/slides/slide7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44"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a:solidFill>
                  <a:schemeClr val="tx1"/>
                </a:solidFill>
                <a:latin typeface="黑体" pitchFamily="2" charset="-122"/>
                <a:ea typeface="黑体" pitchFamily="2" charset="-122"/>
                <a:cs typeface="新細明體" pitchFamily="18" charset="-120"/>
              </a:rPr>
              <a:t>日常作业操作</a:t>
            </a:r>
            <a:r>
              <a:rPr lang="zh-CN" altLang="en-US" sz="3600">
                <a:solidFill>
                  <a:schemeClr val="tx1"/>
                </a:solidFill>
                <a:latin typeface="黑体" pitchFamily="2" charset="-122"/>
                <a:ea typeface="黑体" pitchFamily="2" charset="-122"/>
                <a:cs typeface="新細明體" pitchFamily="18" charset="-120"/>
              </a:rPr>
              <a:t>－</a:t>
            </a:r>
            <a:r>
              <a:rPr lang="zh-CN" altLang="en-US" sz="3600">
                <a:solidFill>
                  <a:schemeClr val="tx1"/>
                </a:solidFill>
                <a:latin typeface="黑体" pitchFamily="2" charset="-122"/>
                <a:ea typeface="黑体" pitchFamily="2" charset="-122"/>
                <a:cs typeface="新細明體" pitchFamily="18" charset="-120"/>
              </a:rPr>
              <a:t>维护内部订单</a:t>
            </a:r>
            <a:endParaRPr lang="zh-CN" altLang="en-US" sz="3600">
              <a:solidFill>
                <a:schemeClr val="tx1"/>
              </a:solidFill>
              <a:latin typeface="黑体" pitchFamily="2" charset="-122"/>
              <a:ea typeface="黑体" pitchFamily="2" charset="-122"/>
              <a:cs typeface="新細明體" pitchFamily="18" charset="-120"/>
            </a:endParaRPr>
          </a:p>
        </p:txBody>
      </p:sp>
      <p:sp>
        <p:nvSpPr>
          <p:cNvPr id="445" name="矩形"/>
          <p:cNvSpPr>
            <a:spLocks/>
          </p:cNvSpPr>
          <p:nvPr/>
        </p:nvSpPr>
        <p:spPr>
          <a:xfrm rot="0">
            <a:off x="468312" y="1270000"/>
            <a:ext cx="8567738" cy="708024"/>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a:t>
            </a:r>
            <a:r>
              <a:rPr lang="zh-CN" altLang="en-US" sz="2000">
                <a:solidFill>
                  <a:schemeClr val="tx1"/>
                </a:solidFill>
                <a:latin typeface="微软雅黑" pitchFamily="34" charset="-122"/>
                <a:ea typeface="微软雅黑" pitchFamily="34" charset="-122"/>
                <a:cs typeface="新細明體" pitchFamily="18" charset="-120"/>
              </a:rPr>
              <a:t>作为内部交易相关流程的依据</a:t>
            </a:r>
            <a:r>
              <a:rPr lang="zh-CN" altLang="en-US" sz="2000">
                <a:solidFill>
                  <a:schemeClr val="tx1"/>
                </a:solidFill>
                <a:latin typeface="微软雅黑" pitchFamily="34" charset="-122"/>
                <a:ea typeface="微软雅黑" pitchFamily="34" charset="-122"/>
                <a:cs typeface="新細明體" pitchFamily="18" charset="-120"/>
              </a:rPr>
              <a:t>，由委托</a:t>
            </a:r>
            <a:r>
              <a:rPr lang="zh-CN" altLang="en-US" sz="2000">
                <a:solidFill>
                  <a:schemeClr val="tx1"/>
                </a:solidFill>
                <a:latin typeface="微软雅黑" pitchFamily="34" charset="-122"/>
                <a:ea typeface="微软雅黑" pitchFamily="34" charset="-122"/>
                <a:cs typeface="新細明體" pitchFamily="18" charset="-120"/>
              </a:rPr>
              <a:t>方转移单</a:t>
            </a:r>
            <a:r>
              <a:rPr lang="zh-CN" altLang="en-US" sz="2000">
                <a:solidFill>
                  <a:schemeClr val="tx1"/>
                </a:solidFill>
                <a:latin typeface="微软雅黑" pitchFamily="34" charset="-122"/>
                <a:ea typeface="微软雅黑" pitchFamily="34" charset="-122"/>
                <a:cs typeface="新細明體" pitchFamily="18" charset="-120"/>
              </a:rPr>
              <a:t>审核或者</a:t>
            </a:r>
            <a:r>
              <a:rPr lang="zh-CN" altLang="en-US" sz="2000">
                <a:solidFill>
                  <a:schemeClr val="tx1"/>
                </a:solidFill>
                <a:latin typeface="微软雅黑" pitchFamily="34" charset="-122"/>
                <a:ea typeface="微软雅黑" pitchFamily="34" charset="-122"/>
                <a:cs typeface="新細明體" pitchFamily="18" charset="-120"/>
              </a:rPr>
              <a:t>工艺委</a:t>
            </a:r>
            <a:r>
              <a:rPr lang="zh-CN" altLang="en-US" sz="2000">
                <a:solidFill>
                  <a:schemeClr val="tx1"/>
                </a:solidFill>
                <a:latin typeface="微软雅黑" pitchFamily="34" charset="-122"/>
                <a:ea typeface="微软雅黑" pitchFamily="34" charset="-122"/>
                <a:cs typeface="新細明體" pitchFamily="18" charset="-120"/>
              </a:rPr>
              <a:t>外分配生成。</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46" name="矩形"/>
          <p:cNvSpPr>
            <a:spLocks/>
          </p:cNvSpPr>
          <p:nvPr/>
        </p:nvSpPr>
        <p:spPr>
          <a:xfrm rot="0">
            <a:off x="98425" y="2078037"/>
            <a:ext cx="3405187" cy="31702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作为</a:t>
            </a:r>
            <a:r>
              <a:rPr lang="zh-CN" altLang="en-US" sz="2000">
                <a:solidFill>
                  <a:schemeClr val="tx1"/>
                </a:solidFill>
                <a:latin typeface="宋体" pitchFamily="2" charset="-122"/>
                <a:ea typeface="宋体" pitchFamily="2" charset="-122"/>
                <a:cs typeface="新細明體" pitchFamily="18" charset="-120"/>
              </a:rPr>
              <a:t>生产方工单的需求来源</a:t>
            </a:r>
            <a:r>
              <a:rPr lang="zh-CN" altLang="en-US" sz="2000">
                <a:solidFill>
                  <a:schemeClr val="tx1"/>
                </a:solidFill>
                <a:latin typeface="宋体" pitchFamily="2" charset="-122"/>
                <a:ea typeface="宋体" pitchFamily="2" charset="-122"/>
                <a:cs typeface="新細明體" pitchFamily="18" charset="-120"/>
              </a:rPr>
              <a:t>，锁定</a:t>
            </a:r>
            <a:r>
              <a:rPr lang="zh-CN" altLang="en-US" sz="2000">
                <a:solidFill>
                  <a:schemeClr val="tx1"/>
                </a:solidFill>
                <a:latin typeface="宋体" pitchFamily="2" charset="-122"/>
                <a:ea typeface="宋体" pitchFamily="2" charset="-122"/>
                <a:cs typeface="新細明體" pitchFamily="18" charset="-120"/>
              </a:rPr>
              <a:t>与生产方工单</a:t>
            </a:r>
            <a:r>
              <a:rPr lang="zh-CN" altLang="en-US" sz="2000">
                <a:solidFill>
                  <a:schemeClr val="tx1"/>
                </a:solidFill>
                <a:latin typeface="宋体" pitchFamily="2" charset="-122"/>
                <a:ea typeface="宋体" pitchFamily="2" charset="-122"/>
                <a:cs typeface="新細明體" pitchFamily="18" charset="-120"/>
              </a:rPr>
              <a:t>的</a:t>
            </a:r>
            <a:r>
              <a:rPr lang="zh-CN" altLang="en-US" sz="2000">
                <a:solidFill>
                  <a:schemeClr val="tx1"/>
                </a:solidFill>
                <a:latin typeface="宋体" pitchFamily="2" charset="-122"/>
                <a:ea typeface="宋体" pitchFamily="2" charset="-122"/>
                <a:cs typeface="新細明體" pitchFamily="18" charset="-120"/>
              </a:rPr>
              <a:t>供需</a:t>
            </a:r>
            <a:r>
              <a:rPr lang="zh-CN" altLang="en-US" sz="2000">
                <a:solidFill>
                  <a:schemeClr val="tx1"/>
                </a:solidFill>
                <a:latin typeface="宋体" pitchFamily="2" charset="-122"/>
                <a:ea typeface="宋体" pitchFamily="2" charset="-122"/>
                <a:cs typeface="新細明體" pitchFamily="18" charset="-120"/>
              </a:rPr>
              <a:t>关系，保证</a:t>
            </a:r>
            <a:r>
              <a:rPr lang="zh-CN" altLang="en-US" sz="2000">
                <a:solidFill>
                  <a:schemeClr val="tx1"/>
                </a:solidFill>
                <a:latin typeface="宋体" pitchFamily="2" charset="-122"/>
                <a:ea typeface="宋体" pitchFamily="2" charset="-122"/>
                <a:cs typeface="新細明體" pitchFamily="18" charset="-120"/>
              </a:rPr>
              <a:t>供需</a:t>
            </a:r>
            <a:r>
              <a:rPr lang="zh-CN" altLang="en-US" sz="2000">
                <a:solidFill>
                  <a:schemeClr val="tx1"/>
                </a:solidFill>
                <a:latin typeface="宋体" pitchFamily="2" charset="-122"/>
                <a:ea typeface="宋体" pitchFamily="2" charset="-122"/>
                <a:cs typeface="新細明體" pitchFamily="18" charset="-120"/>
              </a:rPr>
              <a:t>平衡</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特别指出</a:t>
            </a:r>
            <a:r>
              <a:rPr lang="zh-CN" altLang="en-US" sz="2000">
                <a:solidFill>
                  <a:schemeClr val="tx1"/>
                </a:solidFill>
                <a:latin typeface="宋体" pitchFamily="2" charset="-122"/>
                <a:ea typeface="宋体" pitchFamily="2" charset="-122"/>
                <a:cs typeface="新細明體" pitchFamily="18" charset="-120"/>
              </a:rPr>
              <a:t>:</a:t>
            </a:r>
            <a:r>
              <a:rPr lang="zh-CN" altLang="en-US" sz="2000">
                <a:solidFill>
                  <a:schemeClr val="tx1"/>
                </a:solidFill>
                <a:latin typeface="宋体" pitchFamily="2" charset="-122"/>
                <a:ea typeface="宋体" pitchFamily="2" charset="-122"/>
                <a:cs typeface="新細明體" pitchFamily="18" charset="-120"/>
              </a:rPr>
              <a:t>内部订单不作为委托方</a:t>
            </a:r>
            <a:r>
              <a:rPr lang="zh-CN" altLang="en-US" sz="2000">
                <a:solidFill>
                  <a:schemeClr val="tx1"/>
                </a:solidFill>
                <a:latin typeface="宋体" pitchFamily="2" charset="-122"/>
                <a:ea typeface="宋体" pitchFamily="2" charset="-122"/>
                <a:cs typeface="新細明體" pitchFamily="18" charset="-120"/>
              </a:rPr>
              <a:t>的</a:t>
            </a:r>
            <a:r>
              <a:rPr lang="zh-CN" altLang="en-US" sz="2000">
                <a:solidFill>
                  <a:schemeClr val="tx1"/>
                </a:solidFill>
                <a:latin typeface="宋体" pitchFamily="2" charset="-122"/>
                <a:ea typeface="宋体" pitchFamily="2" charset="-122"/>
                <a:cs typeface="新細明體" pitchFamily="18" charset="-120"/>
              </a:rPr>
              <a:t>供给</a:t>
            </a:r>
            <a:r>
              <a:rPr lang="zh-CN" altLang="en-US" sz="2000">
                <a:solidFill>
                  <a:schemeClr val="tx1"/>
                </a:solidFill>
                <a:latin typeface="宋体" pitchFamily="2" charset="-122"/>
                <a:ea typeface="宋体" pitchFamily="2" charset="-122"/>
                <a:cs typeface="新細明體" pitchFamily="18" charset="-120"/>
              </a:rPr>
              <a:t>,</a:t>
            </a:r>
            <a:r>
              <a:rPr lang="zh-CN" altLang="en-US" sz="2000">
                <a:solidFill>
                  <a:schemeClr val="tx1"/>
                </a:solidFill>
                <a:latin typeface="宋体" pitchFamily="2" charset="-122"/>
                <a:ea typeface="宋体" pitchFamily="2" charset="-122"/>
                <a:cs typeface="新細明體" pitchFamily="18" charset="-120"/>
              </a:rPr>
              <a:t>不</a:t>
            </a:r>
            <a:r>
              <a:rPr lang="zh-CN" altLang="en-US" sz="2000">
                <a:solidFill>
                  <a:schemeClr val="tx1"/>
                </a:solidFill>
                <a:latin typeface="宋体" pitchFamily="2" charset="-122"/>
                <a:ea typeface="宋体" pitchFamily="2" charset="-122"/>
                <a:cs typeface="新細明體" pitchFamily="18" charset="-120"/>
              </a:rPr>
              <a:t>纳</a:t>
            </a:r>
            <a:r>
              <a:rPr lang="zh-CN" altLang="en-US" sz="2000">
                <a:solidFill>
                  <a:schemeClr val="tx1"/>
                </a:solidFill>
                <a:latin typeface="宋体" pitchFamily="2" charset="-122"/>
                <a:ea typeface="宋体" pitchFamily="2" charset="-122"/>
                <a:cs typeface="新細明體" pitchFamily="18" charset="-120"/>
              </a:rPr>
              <a:t>入</a:t>
            </a:r>
            <a:r>
              <a:rPr lang="zh-CN" altLang="en-US" sz="2000">
                <a:solidFill>
                  <a:schemeClr val="tx1"/>
                </a:solidFill>
                <a:latin typeface="宋体" pitchFamily="2" charset="-122"/>
                <a:ea typeface="宋体" pitchFamily="2" charset="-122"/>
                <a:cs typeface="新細明體" pitchFamily="18" charset="-120"/>
              </a:rPr>
              <a:t>计划考量</a:t>
            </a:r>
            <a:r>
              <a:rPr lang="zh-CN" altLang="en-US" sz="2000">
                <a:solidFill>
                  <a:schemeClr val="tx1"/>
                </a:solidFill>
                <a:latin typeface="宋体" pitchFamily="2" charset="-122"/>
                <a:ea typeface="宋体" pitchFamily="2" charset="-122"/>
                <a:cs typeface="新細明體" pitchFamily="18" charset="-120"/>
              </a:rPr>
              <a:t>(</a:t>
            </a:r>
            <a:r>
              <a:rPr lang="zh-CN" altLang="en-US" sz="2000">
                <a:solidFill>
                  <a:schemeClr val="tx1"/>
                </a:solidFill>
                <a:latin typeface="宋体" pitchFamily="2" charset="-122"/>
                <a:ea typeface="宋体" pitchFamily="2" charset="-122"/>
                <a:cs typeface="新細明體" pitchFamily="18" charset="-120"/>
              </a:rPr>
              <a:t>因为委托方已有一张工单作为供给</a:t>
            </a:r>
            <a:r>
              <a:rPr lang="zh-CN" altLang="en-US" sz="2000">
                <a:solidFill>
                  <a:schemeClr val="tx1"/>
                </a:solidFill>
                <a:latin typeface="宋体" pitchFamily="2" charset="-122"/>
                <a:ea typeface="宋体" pitchFamily="2" charset="-122"/>
                <a:cs typeface="新細明體" pitchFamily="18" charset="-120"/>
              </a:rPr>
              <a:t>)</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品</a:t>
            </a:r>
            <a:r>
              <a:rPr lang="zh-CN" altLang="en-US" sz="2000">
                <a:solidFill>
                  <a:schemeClr val="tx1"/>
                </a:solidFill>
                <a:latin typeface="宋体" pitchFamily="2" charset="-122"/>
                <a:ea typeface="宋体" pitchFamily="2" charset="-122"/>
                <a:cs typeface="新細明體" pitchFamily="18" charset="-120"/>
              </a:rPr>
              <a:t>号为生产方品号，且系统会显示相应的委托方品号相关信息。</a:t>
            </a:r>
            <a:endParaRPr lang="zh-CN" altLang="en-US" sz="2000">
              <a:solidFill>
                <a:schemeClr val="tx1"/>
              </a:solidFill>
              <a:latin typeface="宋体" pitchFamily="2" charset="-122"/>
              <a:ea typeface="宋体" pitchFamily="2" charset="-122"/>
              <a:cs typeface="新細明體" pitchFamily="18" charset="-120"/>
            </a:endParaRPr>
          </a:p>
        </p:txBody>
      </p:sp>
      <p:pic>
        <p:nvPicPr>
          <p:cNvPr id="447" name="图片"/>
          <p:cNvPicPr>
            <a:picLocks noChangeAspect="1"/>
          </p:cNvPicPr>
          <p:nvPr/>
        </p:nvPicPr>
        <p:blipFill>
          <a:blip r:embed="rId1" cstate="print"/>
          <a:stretch>
            <a:fillRect/>
          </a:stretch>
        </p:blipFill>
        <p:spPr>
          <a:xfrm rot="0">
            <a:off x="0" y="5229225"/>
            <a:ext cx="2613025" cy="1624012"/>
          </a:xfrm>
          <a:prstGeom prst="rect"/>
          <a:noFill/>
          <a:ln w="9525" cmpd="sng" cap="flat">
            <a:noFill/>
            <a:prstDash val="solid"/>
            <a:miter/>
          </a:ln>
        </p:spPr>
      </p:pic>
      <p:pic>
        <p:nvPicPr>
          <p:cNvPr id="448" name="图片"/>
          <p:cNvPicPr>
            <a:picLocks noChangeAspect="1"/>
          </p:cNvPicPr>
          <p:nvPr/>
        </p:nvPicPr>
        <p:blipFill>
          <a:blip r:embed="rId2" cstate="print"/>
          <a:stretch>
            <a:fillRect/>
          </a:stretch>
        </p:blipFill>
        <p:spPr>
          <a:xfrm rot="0">
            <a:off x="3430587" y="2005012"/>
            <a:ext cx="5605463" cy="4486274"/>
          </a:xfrm>
          <a:prstGeom prst="rect"/>
          <a:noFill/>
          <a:ln w="9525" cmpd="sng" cap="flat">
            <a:noFill/>
            <a:prstDash val="solid"/>
            <a:miter/>
          </a:ln>
        </p:spPr>
      </p:pic>
    </p:spTree>
    <p:extLst>
      <p:ext uri="{BB962C8B-B14F-4D97-AF65-F5344CB8AC3E}">
        <p14:creationId xmlns:p14="http://schemas.microsoft.com/office/powerpoint/2010/main" val="2125423378"/>
      </p:ext>
    </p:extLst>
  </p:cSld>
  <p:clrMapOvr>
    <a:masterClrMapping/>
  </p:clrMapOvr>
  <p:transition/>
</p:sld>
</file>

<file path=ppt/slides/slide7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49"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a:solidFill>
                  <a:schemeClr val="tx1"/>
                </a:solidFill>
                <a:latin typeface="黑体" pitchFamily="2" charset="-122"/>
                <a:ea typeface="黑体" pitchFamily="2" charset="-122"/>
                <a:cs typeface="新細明體" pitchFamily="18" charset="-120"/>
              </a:rPr>
              <a:t>日常作业操作</a:t>
            </a:r>
            <a:r>
              <a:rPr lang="zh-CN" altLang="en-US" sz="3600">
                <a:solidFill>
                  <a:schemeClr val="tx1"/>
                </a:solidFill>
                <a:latin typeface="黑体" pitchFamily="2" charset="-122"/>
                <a:ea typeface="黑体" pitchFamily="2" charset="-122"/>
                <a:cs typeface="新細明體" pitchFamily="18" charset="-120"/>
              </a:rPr>
              <a:t>－</a:t>
            </a:r>
            <a:r>
              <a:rPr lang="zh-CN" altLang="en-US" sz="3600">
                <a:solidFill>
                  <a:schemeClr val="tx1"/>
                </a:solidFill>
                <a:latin typeface="黑体" pitchFamily="2" charset="-122"/>
                <a:ea typeface="黑体" pitchFamily="2" charset="-122"/>
                <a:cs typeface="新細明體" pitchFamily="18" charset="-120"/>
              </a:rPr>
              <a:t>维护工单</a:t>
            </a:r>
            <a:endParaRPr lang="zh-CN" altLang="en-US" sz="3600">
              <a:solidFill>
                <a:schemeClr val="tx1"/>
              </a:solidFill>
              <a:latin typeface="黑体" pitchFamily="2" charset="-122"/>
              <a:ea typeface="黑体" pitchFamily="2" charset="-122"/>
              <a:cs typeface="新細明體" pitchFamily="18" charset="-120"/>
            </a:endParaRPr>
          </a:p>
        </p:txBody>
      </p:sp>
      <p:sp>
        <p:nvSpPr>
          <p:cNvPr id="450" name="矩形"/>
          <p:cNvSpPr>
            <a:spLocks/>
          </p:cNvSpPr>
          <p:nvPr/>
        </p:nvSpPr>
        <p:spPr>
          <a:xfrm rot="0">
            <a:off x="468312" y="1270000"/>
            <a:ext cx="8567738"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：生产方工单，</a:t>
            </a:r>
            <a:r>
              <a:rPr lang="zh-CN" altLang="en-US" sz="2000">
                <a:solidFill>
                  <a:schemeClr val="tx1"/>
                </a:solidFill>
                <a:latin typeface="微软雅黑" pitchFamily="34" charset="-122"/>
                <a:ea typeface="微软雅黑" pitchFamily="34" charset="-122"/>
                <a:cs typeface="新細明體" pitchFamily="18" charset="-120"/>
              </a:rPr>
              <a:t>由委托方转移单</a:t>
            </a:r>
            <a:r>
              <a:rPr lang="zh-CN" altLang="en-US" sz="2000">
                <a:solidFill>
                  <a:schemeClr val="tx1"/>
                </a:solidFill>
                <a:latin typeface="微软雅黑" pitchFamily="34" charset="-122"/>
                <a:ea typeface="微软雅黑" pitchFamily="34" charset="-122"/>
                <a:cs typeface="新細明體" pitchFamily="18" charset="-120"/>
              </a:rPr>
              <a:t>审核或</a:t>
            </a:r>
            <a:r>
              <a:rPr lang="zh-CN" altLang="en-US" sz="2000">
                <a:solidFill>
                  <a:schemeClr val="tx1"/>
                </a:solidFill>
                <a:latin typeface="微软雅黑" pitchFamily="34" charset="-122"/>
                <a:ea typeface="微软雅黑" pitchFamily="34" charset="-122"/>
                <a:cs typeface="新細明體" pitchFamily="18" charset="-120"/>
              </a:rPr>
              <a:t>工艺委</a:t>
            </a:r>
            <a:r>
              <a:rPr lang="zh-CN" altLang="en-US" sz="2000">
                <a:solidFill>
                  <a:schemeClr val="tx1"/>
                </a:solidFill>
                <a:latin typeface="微软雅黑" pitchFamily="34" charset="-122"/>
                <a:ea typeface="微软雅黑" pitchFamily="34" charset="-122"/>
                <a:cs typeface="新細明體" pitchFamily="18" charset="-120"/>
              </a:rPr>
              <a:t>外分配生成</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51" name="矩形"/>
          <p:cNvSpPr>
            <a:spLocks/>
          </p:cNvSpPr>
          <p:nvPr/>
        </p:nvSpPr>
        <p:spPr>
          <a:xfrm rot="0">
            <a:off x="71437" y="1770062"/>
            <a:ext cx="3132137" cy="347821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自动生成，不允许修改</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需求信息为委托</a:t>
            </a:r>
            <a:r>
              <a:rPr lang="zh-CN" altLang="en-US" sz="2000">
                <a:solidFill>
                  <a:schemeClr val="tx1"/>
                </a:solidFill>
                <a:latin typeface="宋体" pitchFamily="2" charset="-122"/>
                <a:ea typeface="宋体" pitchFamily="2" charset="-122"/>
                <a:cs typeface="新細明體" pitchFamily="18" charset="-120"/>
              </a:rPr>
              <a:t>方转移单</a:t>
            </a:r>
            <a:r>
              <a:rPr lang="zh-CN" altLang="en-US" sz="2000">
                <a:solidFill>
                  <a:schemeClr val="tx1"/>
                </a:solidFill>
                <a:latin typeface="宋体" pitchFamily="2" charset="-122"/>
                <a:ea typeface="宋体" pitchFamily="2" charset="-122"/>
                <a:cs typeface="新細明體" pitchFamily="18" charset="-120"/>
              </a:rPr>
              <a:t>生成的内部订单</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生产</a:t>
            </a:r>
            <a:r>
              <a:rPr lang="zh-CN" altLang="en-US" sz="2000">
                <a:solidFill>
                  <a:schemeClr val="tx1"/>
                </a:solidFill>
                <a:latin typeface="宋体" pitchFamily="2" charset="-122"/>
                <a:ea typeface="宋体" pitchFamily="2" charset="-122"/>
                <a:cs typeface="新細明體" pitchFamily="18" charset="-120"/>
              </a:rPr>
              <a:t>方工单的</a:t>
            </a:r>
            <a:r>
              <a:rPr lang="zh-CN" altLang="en-US" sz="2000">
                <a:solidFill>
                  <a:schemeClr val="tx1"/>
                </a:solidFill>
                <a:latin typeface="宋体" pitchFamily="2" charset="-122"/>
                <a:ea typeface="宋体" pitchFamily="2" charset="-122"/>
                <a:cs typeface="新細明體" pitchFamily="18" charset="-120"/>
              </a:rPr>
              <a:t>材料为委托方的工单半成品，通过主产品调拨单调拨到生产方</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生产</a:t>
            </a:r>
            <a:r>
              <a:rPr lang="zh-CN" altLang="en-US" sz="2000">
                <a:solidFill>
                  <a:schemeClr val="tx1"/>
                </a:solidFill>
                <a:latin typeface="宋体" pitchFamily="2" charset="-122"/>
                <a:ea typeface="宋体" pitchFamily="2" charset="-122"/>
                <a:cs typeface="新細明體" pitchFamily="18" charset="-120"/>
              </a:rPr>
              <a:t>方品号与委托方品号相同时，根据协同关系，产生重工工单。</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chemeClr val="tx1"/>
              </a:solidFill>
              <a:latin typeface="宋体" pitchFamily="2" charset="-122"/>
              <a:ea typeface="宋体" pitchFamily="2" charset="-122"/>
              <a:cs typeface="新細明體" pitchFamily="18" charset="-120"/>
            </a:endParaRPr>
          </a:p>
        </p:txBody>
      </p:sp>
      <p:pic>
        <p:nvPicPr>
          <p:cNvPr id="452" name="图片"/>
          <p:cNvPicPr>
            <a:picLocks noChangeAspect="1"/>
          </p:cNvPicPr>
          <p:nvPr/>
        </p:nvPicPr>
        <p:blipFill>
          <a:blip r:embed="rId1" cstate="print"/>
          <a:stretch>
            <a:fillRect/>
          </a:stretch>
        </p:blipFill>
        <p:spPr>
          <a:xfrm rot="0">
            <a:off x="-14287" y="5222875"/>
            <a:ext cx="2644775" cy="1655762"/>
          </a:xfrm>
          <a:prstGeom prst="rect"/>
          <a:noFill/>
          <a:ln w="9525" cmpd="sng" cap="flat">
            <a:noFill/>
            <a:prstDash val="solid"/>
            <a:miter/>
          </a:ln>
        </p:spPr>
      </p:pic>
      <p:pic>
        <p:nvPicPr>
          <p:cNvPr id="453" name="图片"/>
          <p:cNvPicPr>
            <a:picLocks noChangeAspect="1"/>
          </p:cNvPicPr>
          <p:nvPr/>
        </p:nvPicPr>
        <p:blipFill>
          <a:blip r:embed="rId2" cstate="print"/>
          <a:stretch>
            <a:fillRect/>
          </a:stretch>
        </p:blipFill>
        <p:spPr>
          <a:xfrm rot="0">
            <a:off x="3116262" y="1770062"/>
            <a:ext cx="5954712" cy="4395787"/>
          </a:xfrm>
          <a:prstGeom prst="rect"/>
          <a:noFill/>
          <a:ln w="9525" cmpd="sng" cap="flat">
            <a:noFill/>
            <a:prstDash val="solid"/>
            <a:miter/>
          </a:ln>
        </p:spPr>
      </p:pic>
    </p:spTree>
    <p:extLst>
      <p:ext uri="{BB962C8B-B14F-4D97-AF65-F5344CB8AC3E}">
        <p14:creationId xmlns:p14="http://schemas.microsoft.com/office/powerpoint/2010/main" val="1178678069"/>
      </p:ext>
    </p:extLst>
  </p:cSld>
  <p:clrMapOvr>
    <a:masterClrMapping/>
  </p:clrMapOvr>
  <p:transition/>
</p:sld>
</file>

<file path=ppt/slides/slide7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54"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a:solidFill>
                  <a:schemeClr val="tx1"/>
                </a:solidFill>
                <a:latin typeface="黑体" pitchFamily="2" charset="-122"/>
                <a:ea typeface="黑体" pitchFamily="2" charset="-122"/>
                <a:cs typeface="新細明體" pitchFamily="18" charset="-120"/>
              </a:rPr>
              <a:t>日常作业操作</a:t>
            </a:r>
            <a:r>
              <a:rPr lang="zh-CN" altLang="en-US" sz="3600">
                <a:solidFill>
                  <a:schemeClr val="tx1"/>
                </a:solidFill>
                <a:latin typeface="黑体" pitchFamily="2" charset="-122"/>
                <a:ea typeface="黑体" pitchFamily="2" charset="-122"/>
                <a:cs typeface="新細明體" pitchFamily="18" charset="-120"/>
              </a:rPr>
              <a:t>－</a:t>
            </a:r>
            <a:r>
              <a:rPr lang="zh-CN" altLang="en-US" sz="3600">
                <a:solidFill>
                  <a:schemeClr val="tx1"/>
                </a:solidFill>
                <a:latin typeface="黑体" pitchFamily="2" charset="-122"/>
                <a:ea typeface="黑体" pitchFamily="2" charset="-122"/>
                <a:cs typeface="新細明體" pitchFamily="18" charset="-120"/>
              </a:rPr>
              <a:t>工艺委外主产品调拨单</a:t>
            </a:r>
            <a:endParaRPr lang="zh-CN" altLang="en-US" sz="3600">
              <a:solidFill>
                <a:schemeClr val="tx1"/>
              </a:solidFill>
              <a:latin typeface="黑体" pitchFamily="2" charset="-122"/>
              <a:ea typeface="黑体" pitchFamily="2" charset="-122"/>
              <a:cs typeface="新細明體" pitchFamily="18" charset="-120"/>
            </a:endParaRPr>
          </a:p>
        </p:txBody>
      </p:sp>
      <p:sp>
        <p:nvSpPr>
          <p:cNvPr id="455" name="矩形"/>
          <p:cNvSpPr>
            <a:spLocks/>
          </p:cNvSpPr>
          <p:nvPr/>
        </p:nvSpPr>
        <p:spPr>
          <a:xfrm rot="0">
            <a:off x="468312" y="1270000"/>
            <a:ext cx="8567738" cy="708024"/>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a:t>
            </a:r>
            <a:r>
              <a:rPr lang="zh-CN" altLang="en-US" sz="2000">
                <a:solidFill>
                  <a:schemeClr val="tx1"/>
                </a:solidFill>
                <a:latin typeface="微软雅黑" pitchFamily="34" charset="-122"/>
                <a:ea typeface="微软雅黑" pitchFamily="34" charset="-122"/>
                <a:cs typeface="新細明體" pitchFamily="18" charset="-120"/>
              </a:rPr>
              <a:t>委托方工艺加工中的主产品通过此单据调拨给生产方</a:t>
            </a:r>
            <a:r>
              <a:rPr lang="zh-CN" altLang="en-US" sz="2000">
                <a:solidFill>
                  <a:schemeClr val="tx1"/>
                </a:solidFill>
                <a:latin typeface="微软雅黑" pitchFamily="34" charset="-122"/>
                <a:ea typeface="微软雅黑" pitchFamily="34" charset="-122"/>
                <a:cs typeface="新細明體" pitchFamily="18" charset="-120"/>
              </a:rPr>
              <a:t>,</a:t>
            </a:r>
            <a:r>
              <a:rPr lang="zh-CN" altLang="en-US" sz="2000">
                <a:solidFill>
                  <a:schemeClr val="tx1"/>
                </a:solidFill>
                <a:latin typeface="微软雅黑" pitchFamily="34" charset="-122"/>
                <a:ea typeface="微软雅黑" pitchFamily="34" charset="-122"/>
                <a:cs typeface="新細明體" pitchFamily="18" charset="-120"/>
              </a:rPr>
              <a:t>供生产方生产时做领用</a:t>
            </a:r>
            <a:r>
              <a:rPr lang="zh-CN" altLang="en-US" sz="2000">
                <a:solidFill>
                  <a:schemeClr val="tx1"/>
                </a:solidFill>
                <a:latin typeface="微软雅黑" pitchFamily="34" charset="-122"/>
                <a:ea typeface="微软雅黑" pitchFamily="34" charset="-122"/>
                <a:cs typeface="新細明體" pitchFamily="18" charset="-120"/>
              </a:rPr>
              <a:t>.</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56" name="矩形"/>
          <p:cNvSpPr>
            <a:spLocks/>
          </p:cNvSpPr>
          <p:nvPr/>
        </p:nvSpPr>
        <p:spPr>
          <a:xfrm rot="0">
            <a:off x="22225" y="2047875"/>
            <a:ext cx="3133725" cy="1323975"/>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单据</a:t>
            </a:r>
            <a:r>
              <a:rPr lang="zh-CN" altLang="en-US" sz="2000">
                <a:solidFill>
                  <a:schemeClr val="tx1"/>
                </a:solidFill>
                <a:latin typeface="宋体" pitchFamily="2" charset="-122"/>
                <a:ea typeface="宋体" pitchFamily="2" charset="-122"/>
                <a:cs typeface="新細明體" pitchFamily="18" charset="-120"/>
              </a:rPr>
              <a:t>审核后会生成生产方的一张一般入库</a:t>
            </a:r>
            <a:r>
              <a:rPr lang="zh-CN" altLang="en-US" sz="2000">
                <a:solidFill>
                  <a:schemeClr val="tx1"/>
                </a:solidFill>
                <a:latin typeface="宋体" pitchFamily="2" charset="-122"/>
                <a:ea typeface="宋体" pitchFamily="2" charset="-122"/>
                <a:cs typeface="新細明體" pitchFamily="18" charset="-120"/>
              </a:rPr>
              <a:t>单</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生产</a:t>
            </a:r>
            <a:r>
              <a:rPr lang="zh-CN" altLang="en-US" sz="2000">
                <a:solidFill>
                  <a:schemeClr val="tx1"/>
                </a:solidFill>
                <a:latin typeface="宋体" pitchFamily="2" charset="-122"/>
                <a:ea typeface="宋体" pitchFamily="2" charset="-122"/>
                <a:cs typeface="新細明體" pitchFamily="18" charset="-120"/>
              </a:rPr>
              <a:t>方后续生产时领用此半成品。</a:t>
            </a:r>
            <a:endParaRPr lang="zh-CN" altLang="en-US" sz="2000">
              <a:solidFill>
                <a:schemeClr val="tx1"/>
              </a:solidFill>
              <a:latin typeface="宋体" pitchFamily="2" charset="-122"/>
              <a:ea typeface="宋体" pitchFamily="2" charset="-122"/>
              <a:cs typeface="新細明體" pitchFamily="18" charset="-120"/>
            </a:endParaRPr>
          </a:p>
        </p:txBody>
      </p:sp>
      <p:pic>
        <p:nvPicPr>
          <p:cNvPr id="457" name="图片"/>
          <p:cNvPicPr>
            <a:picLocks noChangeAspect="1"/>
          </p:cNvPicPr>
          <p:nvPr/>
        </p:nvPicPr>
        <p:blipFill>
          <a:blip r:embed="rId1" cstate="print"/>
          <a:stretch>
            <a:fillRect/>
          </a:stretch>
        </p:blipFill>
        <p:spPr>
          <a:xfrm rot="0">
            <a:off x="0" y="5210175"/>
            <a:ext cx="2630487" cy="1647824"/>
          </a:xfrm>
          <a:prstGeom prst="rect"/>
          <a:noFill/>
          <a:ln w="9525" cmpd="sng" cap="flat">
            <a:noFill/>
            <a:prstDash val="solid"/>
            <a:miter/>
          </a:ln>
        </p:spPr>
      </p:pic>
      <p:pic>
        <p:nvPicPr>
          <p:cNvPr id="458" name="图片"/>
          <p:cNvPicPr>
            <a:picLocks noChangeAspect="1"/>
          </p:cNvPicPr>
          <p:nvPr/>
        </p:nvPicPr>
        <p:blipFill>
          <a:blip r:embed="rId2" cstate="print"/>
          <a:stretch>
            <a:fillRect/>
          </a:stretch>
        </p:blipFill>
        <p:spPr>
          <a:xfrm rot="0">
            <a:off x="3155950" y="2052637"/>
            <a:ext cx="5803900" cy="4184650"/>
          </a:xfrm>
          <a:prstGeom prst="rect"/>
          <a:noFill/>
          <a:ln w="9525" cmpd="sng" cap="flat">
            <a:noFill/>
            <a:prstDash val="solid"/>
            <a:miter/>
          </a:ln>
        </p:spPr>
      </p:pic>
      <p:pic>
        <p:nvPicPr>
          <p:cNvPr id="459" name="图片"/>
          <p:cNvPicPr>
            <a:picLocks noChangeAspect="1"/>
          </p:cNvPicPr>
          <p:nvPr/>
        </p:nvPicPr>
        <p:blipFill>
          <a:blip r:embed="rId3" cstate="print"/>
          <a:stretch>
            <a:fillRect/>
          </a:stretch>
        </p:blipFill>
        <p:spPr>
          <a:xfrm rot="0">
            <a:off x="3505200" y="2781300"/>
            <a:ext cx="5564188" cy="3887787"/>
          </a:xfrm>
          <a:prstGeom prst="rect"/>
          <a:noFill/>
          <a:ln w="9525" cmpd="sng" cap="flat">
            <a:noFill/>
            <a:prstDash val="solid"/>
            <a:miter/>
          </a:ln>
        </p:spPr>
      </p:pic>
    </p:spTree>
    <p:extLst>
      <p:ext uri="{BB962C8B-B14F-4D97-AF65-F5344CB8AC3E}">
        <p14:creationId xmlns:p14="http://schemas.microsoft.com/office/powerpoint/2010/main" val="737624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9"/>
                                        </p:tgtEl>
                                        <p:attrNameLst>
                                          <p:attrName>style.visibility</p:attrName>
                                        </p:attrNameLst>
                                      </p:cBhvr>
                                      <p:to>
                                        <p:strVal val="visible"/>
                                      </p:to>
                                    </p:set>
                                    <p:anim calcmode="lin" valueType="num">
                                      <p:cBhvr additive="base">
                                        <p:cTn id="7" dur="500" fill="hold"/>
                                        <p:tgtEl>
                                          <p:spTgt spid="459"/>
                                        </p:tgtEl>
                                        <p:attrNameLst>
                                          <p:attrName>ppt_x</p:attrName>
                                        </p:attrNameLst>
                                      </p:cBhvr>
                                      <p:tavLst>
                                        <p:tav tm="0">
                                          <p:val>
                                            <p:strVal val="#ppt_x"/>
                                          </p:val>
                                        </p:tav>
                                        <p:tav tm="100000">
                                          <p:val>
                                            <p:strVal val="#ppt_x"/>
                                          </p:val>
                                        </p:tav>
                                      </p:tavLst>
                                    </p:anim>
                                    <p:anim calcmode="lin" valueType="num">
                                      <p:cBhvr additive="base">
                                        <p:cTn id="8" dur="500" fill="hold"/>
                                        <p:tgtEl>
                                          <p:spTgt spid="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60" name="矩形"/>
          <p:cNvSpPr>
            <a:spLocks/>
          </p:cNvSpPr>
          <p:nvPr/>
        </p:nvSpPr>
        <p:spPr>
          <a:xfrm rot="0">
            <a:off x="280987" y="476250"/>
            <a:ext cx="8820151"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黑体" pitchFamily="2" charset="-122"/>
                <a:ea typeface="黑体" pitchFamily="2" charset="-122"/>
                <a:cs typeface="新細明體" pitchFamily="18" charset="-120"/>
              </a:rPr>
              <a:t>集团内委外</a:t>
            </a:r>
            <a:r>
              <a:rPr lang="zh-CN" altLang="en-US" sz="3600" b="1">
                <a:solidFill>
                  <a:schemeClr val="tx1"/>
                </a:solidFill>
                <a:latin typeface="黑体" pitchFamily="2" charset="-122"/>
                <a:ea typeface="黑体" pitchFamily="2" charset="-122"/>
                <a:cs typeface="新細明體" pitchFamily="18" charset="-120"/>
              </a:rPr>
              <a:t>-</a:t>
            </a:r>
            <a:r>
              <a:rPr lang="zh-CN" altLang="en-US" sz="3600" b="1">
                <a:solidFill>
                  <a:schemeClr val="tx1"/>
                </a:solidFill>
                <a:latin typeface="黑体" pitchFamily="2" charset="-122"/>
                <a:ea typeface="黑体" pitchFamily="2" charset="-122"/>
                <a:cs typeface="新細明體" pitchFamily="18" charset="-120"/>
              </a:rPr>
              <a:t>跨工厂工</a:t>
            </a:r>
            <a:r>
              <a:rPr lang="zh-CN" altLang="en-US" sz="3600" b="1">
                <a:solidFill>
                  <a:schemeClr val="tx1"/>
                </a:solidFill>
                <a:latin typeface="黑体" pitchFamily="2" charset="-122"/>
                <a:ea typeface="黑体" pitchFamily="2" charset="-122"/>
                <a:cs typeface="新細明體" pitchFamily="18" charset="-120"/>
              </a:rPr>
              <a:t>艺</a:t>
            </a:r>
            <a:r>
              <a:rPr lang="zh-CN" altLang="en-US" sz="3600" b="1">
                <a:solidFill>
                  <a:schemeClr val="tx1"/>
                </a:solidFill>
                <a:latin typeface="黑体" pitchFamily="2" charset="-122"/>
                <a:ea typeface="黑体" pitchFamily="2" charset="-122"/>
                <a:cs typeface="新細明體" pitchFamily="18" charset="-120"/>
              </a:rPr>
              <a:t>委外流程</a:t>
            </a:r>
            <a:endParaRPr lang="zh-CN" altLang="en-US" sz="3600" b="1">
              <a:solidFill>
                <a:schemeClr val="tx1"/>
              </a:solidFill>
              <a:latin typeface="黑体" pitchFamily="2" charset="-122"/>
              <a:ea typeface="黑体" pitchFamily="2" charset="-122"/>
              <a:cs typeface="新細明體" pitchFamily="18" charset="-120"/>
            </a:endParaRPr>
          </a:p>
        </p:txBody>
      </p:sp>
      <p:pic>
        <p:nvPicPr>
          <p:cNvPr id="461" name="图片"/>
          <p:cNvPicPr>
            <a:picLocks noChangeAspect="1"/>
          </p:cNvPicPr>
          <p:nvPr/>
        </p:nvPicPr>
        <p:blipFill>
          <a:blip r:embed="rId1" cstate="print"/>
          <a:stretch>
            <a:fillRect/>
          </a:stretch>
        </p:blipFill>
        <p:spPr>
          <a:xfrm rot="0">
            <a:off x="684212" y="1268412"/>
            <a:ext cx="7751762" cy="4600575"/>
          </a:xfrm>
          <a:prstGeom prst="rect"/>
          <a:noFill/>
          <a:ln w="9525" cmpd="sng" cap="flat">
            <a:noFill/>
            <a:prstDash val="solid"/>
            <a:miter/>
          </a:ln>
        </p:spPr>
      </p:pic>
    </p:spTree>
    <p:extLst>
      <p:ext uri="{BB962C8B-B14F-4D97-AF65-F5344CB8AC3E}">
        <p14:creationId xmlns:p14="http://schemas.microsoft.com/office/powerpoint/2010/main" val="1855024254"/>
      </p:ext>
    </p:extLst>
  </p:cSld>
  <p:clrMapOvr>
    <a:masterClrMapping/>
  </p:clrMapOvr>
  <p:transition/>
</p:sld>
</file>

<file path=ppt/slides/slide7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62" name="矩形"/>
          <p:cNvSpPr>
            <a:spLocks/>
          </p:cNvSpPr>
          <p:nvPr/>
        </p:nvSpPr>
        <p:spPr>
          <a:xfrm rot="0">
            <a:off x="3779837" y="3341687"/>
            <a:ext cx="3649662" cy="2586037"/>
          </a:xfrm>
          <a:prstGeom prst="rect"/>
          <a:noFill/>
          <a:ln w="9525" cmpd="sng" cap="flat">
            <a:noFill/>
            <a:prstDash val="solid"/>
            <a:miter/>
          </a:ln>
        </p:spPr>
        <p:txBody>
          <a:bodyPr vert="horz" wrap="square" lIns="91440" tIns="45720" rIns="91440" bIns="45720" anchor="t" anchorCtr="0">
            <a:prstTxWarp prst="textNoShape"/>
          </a:bodyPr>
          <a:lstStyle/>
          <a:p>
            <a:pPr marL="457200" indent="-457200" algn="l">
              <a:lnSpc>
                <a:spcPct val="150000"/>
              </a:lnSpc>
              <a:spcBef>
                <a:spcPts val="0"/>
              </a:spcBef>
              <a:spcAft>
                <a:spcPts val="0"/>
              </a:spcAft>
              <a:buSzPct val="100000"/>
              <a:buFont typeface="Wingdings" pitchFamily="2" charset="2"/>
              <a:buChar char="Ø"/>
            </a:pPr>
            <a:r>
              <a:rPr lang="zh-CN" altLang="en-US" sz="1800">
                <a:solidFill>
                  <a:schemeClr val="tx1"/>
                </a:solidFill>
                <a:latin typeface="微软雅黑" pitchFamily="34" charset="-122"/>
                <a:ea typeface="微软雅黑" pitchFamily="34" charset="-122"/>
                <a:cs typeface="新細明體" pitchFamily="18" charset="-120"/>
              </a:rPr>
              <a:t>维护</a:t>
            </a:r>
            <a:r>
              <a:rPr lang="zh-CN" altLang="en-US" sz="1800">
                <a:solidFill>
                  <a:schemeClr val="tx1"/>
                </a:solidFill>
                <a:latin typeface="微软雅黑" pitchFamily="34" charset="-122"/>
                <a:ea typeface="微软雅黑" pitchFamily="34" charset="-122"/>
                <a:cs typeface="新細明體" pitchFamily="18" charset="-120"/>
              </a:rPr>
              <a:t>移转单</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Ø"/>
            </a:pPr>
            <a:r>
              <a:rPr lang="zh-CN" altLang="en-US" sz="1800">
                <a:solidFill>
                  <a:schemeClr val="tx1"/>
                </a:solidFill>
                <a:latin typeface="微软雅黑" pitchFamily="34" charset="-122"/>
                <a:ea typeface="微软雅黑" pitchFamily="34" charset="-122"/>
                <a:cs typeface="新細明體" pitchFamily="18" charset="-120"/>
              </a:rPr>
              <a:t>主产品对应关</a:t>
            </a:r>
            <a:r>
              <a:rPr lang="zh-CN" altLang="en-US" sz="1800">
                <a:solidFill>
                  <a:schemeClr val="tx1"/>
                </a:solidFill>
                <a:latin typeface="微软雅黑" pitchFamily="34" charset="-122"/>
                <a:ea typeface="微软雅黑" pitchFamily="34" charset="-122"/>
                <a:cs typeface="新細明體" pitchFamily="18" charset="-120"/>
              </a:rPr>
              <a:t>系</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Ø"/>
            </a:pPr>
            <a:r>
              <a:rPr lang="zh-CN" altLang="en-US" sz="1800">
                <a:solidFill>
                  <a:schemeClr val="tx1"/>
                </a:solidFill>
                <a:latin typeface="微软雅黑" pitchFamily="34" charset="-122"/>
                <a:ea typeface="微软雅黑" pitchFamily="34" charset="-122"/>
                <a:cs typeface="新細明體" pitchFamily="18" charset="-120"/>
              </a:rPr>
              <a:t>工艺委外分配</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Ø"/>
            </a:pPr>
            <a:r>
              <a:rPr lang="zh-CN" altLang="en-US" sz="1800">
                <a:solidFill>
                  <a:schemeClr val="tx1"/>
                </a:solidFill>
                <a:latin typeface="微软雅黑" pitchFamily="34" charset="-122"/>
                <a:ea typeface="微软雅黑" pitchFamily="34" charset="-122"/>
                <a:cs typeface="新細明體" pitchFamily="18" charset="-120"/>
              </a:rPr>
              <a:t>加工中主产品</a:t>
            </a:r>
            <a:r>
              <a:rPr lang="zh-CN" altLang="en-US" sz="1800">
                <a:solidFill>
                  <a:schemeClr val="tx1"/>
                </a:solidFill>
                <a:latin typeface="微软雅黑" pitchFamily="34" charset="-122"/>
                <a:ea typeface="微软雅黑" pitchFamily="34" charset="-122"/>
                <a:cs typeface="新細明體" pitchFamily="18" charset="-120"/>
              </a:rPr>
              <a:t>调拨单</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Ø"/>
            </a:pPr>
            <a:r>
              <a:rPr lang="zh-CN" altLang="en-US" sz="1800">
                <a:solidFill>
                  <a:schemeClr val="tx1"/>
                </a:solidFill>
                <a:latin typeface="微软雅黑" pitchFamily="34" charset="-122"/>
                <a:ea typeface="微软雅黑" pitchFamily="34" charset="-122"/>
                <a:cs typeface="新細明體" pitchFamily="18" charset="-120"/>
              </a:rPr>
              <a:t>调拨申请单</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u"/>
            </a:pPr>
            <a:endParaRPr lang="zh-CN" altLang="en-US" sz="1800">
              <a:solidFill>
                <a:schemeClr val="tx1"/>
              </a:solidFill>
              <a:latin typeface="微软雅黑" pitchFamily="34" charset="-122"/>
              <a:ea typeface="微软雅黑" pitchFamily="34" charset="-122"/>
              <a:cs typeface="新細明體" pitchFamily="18" charset="-120"/>
            </a:endParaRPr>
          </a:p>
        </p:txBody>
      </p:sp>
      <p:sp>
        <p:nvSpPr>
          <p:cNvPr id="463"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a:solidFill>
                  <a:schemeClr val="tx1"/>
                </a:solidFill>
                <a:latin typeface="Microsoft YaHei" pitchFamily="34" charset="-122"/>
                <a:ea typeface="Microsoft YaHei" pitchFamily="34" charset="-122"/>
                <a:cs typeface="新細明體" pitchFamily="18" charset="-120"/>
              </a:rPr>
              <a:t>主要数据</a:t>
            </a:r>
            <a:r>
              <a:rPr lang="zh-CN" altLang="en-US" sz="3600">
                <a:solidFill>
                  <a:schemeClr val="tx1"/>
                </a:solidFill>
                <a:latin typeface="Microsoft YaHei" pitchFamily="34" charset="-122"/>
                <a:ea typeface="Microsoft YaHei" pitchFamily="34" charset="-122"/>
                <a:cs typeface="新細明體" pitchFamily="18" charset="-120"/>
              </a:rPr>
              <a:t>准备</a:t>
            </a:r>
            <a:r>
              <a:rPr lang="zh-CN" altLang="en-US" sz="3600">
                <a:solidFill>
                  <a:schemeClr val="tx1"/>
                </a:solidFill>
                <a:latin typeface="Microsoft YaHei" pitchFamily="34" charset="-122"/>
                <a:ea typeface="Microsoft YaHei" pitchFamily="34" charset="-122"/>
                <a:cs typeface="新細明體" pitchFamily="18" charset="-120"/>
              </a:rPr>
              <a:t>-</a:t>
            </a:r>
            <a:r>
              <a:rPr lang="zh-CN" altLang="en-US" sz="3600">
                <a:solidFill>
                  <a:schemeClr val="tx1"/>
                </a:solidFill>
                <a:latin typeface="Microsoft YaHei" pitchFamily="34" charset="-122"/>
                <a:ea typeface="Microsoft YaHei" pitchFamily="34" charset="-122"/>
                <a:cs typeface="新細明體" pitchFamily="18" charset="-120"/>
              </a:rPr>
              <a:t>跨工厂工艺委外</a:t>
            </a:r>
            <a:endParaRPr lang="zh-CN" altLang="en-US" sz="3600">
              <a:solidFill>
                <a:schemeClr val="tx1"/>
              </a:solidFill>
              <a:latin typeface="Microsoft YaHei" pitchFamily="34" charset="-122"/>
              <a:ea typeface="Microsoft YaHei" pitchFamily="34" charset="-122"/>
              <a:cs typeface="新細明體" pitchFamily="18" charset="-120"/>
            </a:endParaRPr>
          </a:p>
        </p:txBody>
      </p:sp>
      <p:sp>
        <p:nvSpPr>
          <p:cNvPr id="464" name="矩形"/>
          <p:cNvSpPr>
            <a:spLocks/>
          </p:cNvSpPr>
          <p:nvPr/>
        </p:nvSpPr>
        <p:spPr>
          <a:xfrm rot="0">
            <a:off x="900112" y="1314450"/>
            <a:ext cx="8064499" cy="25844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50000"/>
              </a:lnSpc>
              <a:spcBef>
                <a:spcPts val="0"/>
              </a:spcBef>
              <a:spcAft>
                <a:spcPts val="0"/>
              </a:spcAft>
              <a:buNone/>
            </a:pPr>
            <a:r>
              <a:rPr lang="zh-CN" altLang="en-US" sz="1800">
                <a:solidFill>
                  <a:schemeClr val="tx1"/>
                </a:solidFill>
                <a:latin typeface="微软雅黑" pitchFamily="34" charset="-122"/>
                <a:ea typeface="微软雅黑" pitchFamily="34" charset="-122"/>
                <a:cs typeface="新細明體" pitchFamily="18" charset="-120"/>
              </a:rPr>
              <a:t>案例</a:t>
            </a:r>
            <a:r>
              <a:rPr lang="zh-CN" altLang="en-US" sz="1800">
                <a:solidFill>
                  <a:schemeClr val="tx1"/>
                </a:solidFill>
                <a:latin typeface="微软雅黑" pitchFamily="34" charset="-122"/>
                <a:ea typeface="微软雅黑" pitchFamily="34" charset="-122"/>
                <a:cs typeface="新細明體" pitchFamily="18" charset="-120"/>
              </a:rPr>
              <a:t>:</a:t>
            </a:r>
            <a:endParaRPr lang="zh-CN" altLang="en-US" sz="1800">
              <a:solidFill>
                <a:schemeClr val="tx1"/>
              </a:solidFill>
              <a:latin typeface="微软雅黑" pitchFamily="34" charset="-122"/>
              <a:ea typeface="微软雅黑" pitchFamily="34" charset="-122"/>
              <a:cs typeface="新細明體" pitchFamily="18" charset="-120"/>
            </a:endParaRPr>
          </a:p>
          <a:p>
            <a:pPr marL="0" indent="0" algn="l">
              <a:lnSpc>
                <a:spcPct val="150000"/>
              </a:lnSpc>
              <a:spcBef>
                <a:spcPts val="0"/>
              </a:spcBef>
              <a:spcAft>
                <a:spcPts val="0"/>
              </a:spcAft>
              <a:buNone/>
            </a:pPr>
            <a:r>
              <a:rPr lang="zh-CN" altLang="en-US" sz="1800">
                <a:solidFill>
                  <a:schemeClr val="tx1"/>
                </a:solidFill>
                <a:latin typeface="微软雅黑" pitchFamily="34" charset="-122"/>
                <a:ea typeface="微软雅黑" pitchFamily="34" charset="-122"/>
                <a:cs typeface="新細明體" pitchFamily="18" charset="-120"/>
              </a:rPr>
              <a:t> </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公司</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所属的</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南京</a:t>
            </a:r>
            <a:r>
              <a:rPr lang="zh-CN" altLang="en-US" sz="1800">
                <a:solidFill>
                  <a:schemeClr val="tx1"/>
                </a:solidFill>
                <a:latin typeface="微软雅黑" pitchFamily="34" charset="-122"/>
                <a:ea typeface="微软雅黑" pitchFamily="34" charset="-122"/>
                <a:cs typeface="新細明體" pitchFamily="18" charset="-120"/>
              </a:rPr>
              <a:t>工</a:t>
            </a:r>
            <a:r>
              <a:rPr lang="zh-CN" altLang="en-US" sz="1800">
                <a:solidFill>
                  <a:schemeClr val="tx1"/>
                </a:solidFill>
                <a:latin typeface="微软雅黑" pitchFamily="34" charset="-122"/>
                <a:ea typeface="微软雅黑" pitchFamily="34" charset="-122"/>
                <a:cs typeface="新細明體" pitchFamily="18" charset="-120"/>
              </a:rPr>
              <a:t>厂</a:t>
            </a:r>
            <a:r>
              <a:rPr lang="zh-CN" altLang="en-US" sz="1800">
                <a:solidFill>
                  <a:schemeClr val="tx1"/>
                </a:solidFill>
                <a:latin typeface="微软雅黑" pitchFamily="34" charset="-122"/>
                <a:ea typeface="微软雅黑" pitchFamily="34" charset="-122"/>
                <a:cs typeface="新細明體" pitchFamily="18" charset="-120"/>
              </a:rPr>
              <a:t>]</a:t>
            </a:r>
            <a:endParaRPr lang="zh-CN" altLang="en-US" sz="1800">
              <a:solidFill>
                <a:schemeClr val="tx1"/>
              </a:solidFill>
              <a:latin typeface="微软雅黑" pitchFamily="34" charset="-122"/>
              <a:ea typeface="微软雅黑" pitchFamily="34" charset="-122"/>
              <a:cs typeface="新細明體" pitchFamily="18" charset="-120"/>
            </a:endParaRPr>
          </a:p>
          <a:p>
            <a:pPr marL="0" indent="0" algn="l">
              <a:lnSpc>
                <a:spcPct val="150000"/>
              </a:lnSpc>
              <a:spcBef>
                <a:spcPts val="0"/>
              </a:spcBef>
              <a:spcAft>
                <a:spcPts val="0"/>
              </a:spcAft>
              <a:buNone/>
            </a:pPr>
            <a:r>
              <a:rPr lang="zh-CN" altLang="en-US" sz="1800">
                <a:solidFill>
                  <a:schemeClr val="tx1"/>
                </a:solidFill>
                <a:latin typeface="微软雅黑" pitchFamily="34" charset="-122"/>
                <a:ea typeface="微软雅黑" pitchFamily="34" charset="-122"/>
                <a:cs typeface="新細明體" pitchFamily="18" charset="-120"/>
              </a:rPr>
              <a:t>  委托</a:t>
            </a:r>
            <a:endParaRPr lang="zh-CN" altLang="en-US" sz="1800">
              <a:solidFill>
                <a:schemeClr val="tx1"/>
              </a:solidFill>
              <a:latin typeface="微软雅黑" pitchFamily="34" charset="-122"/>
              <a:ea typeface="微软雅黑" pitchFamily="34" charset="-122"/>
              <a:cs typeface="新細明體" pitchFamily="18" charset="-120"/>
            </a:endParaRPr>
          </a:p>
          <a:p>
            <a:pPr marL="0" indent="0" algn="l">
              <a:lnSpc>
                <a:spcPct val="150000"/>
              </a:lnSpc>
              <a:spcBef>
                <a:spcPts val="0"/>
              </a:spcBef>
              <a:spcAft>
                <a:spcPts val="0"/>
              </a:spcAft>
              <a:buNone/>
            </a:pPr>
            <a:r>
              <a:rPr lang="zh-CN" altLang="en-US" sz="1800">
                <a:solidFill>
                  <a:schemeClr val="tx1"/>
                </a:solidFill>
                <a:latin typeface="微软雅黑" pitchFamily="34" charset="-122"/>
                <a:ea typeface="微软雅黑" pitchFamily="34" charset="-122"/>
                <a:cs typeface="新細明體" pitchFamily="18" charset="-120"/>
              </a:rPr>
              <a:t> </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**公司</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所属的</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**工厂</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，生产产品为</a:t>
            </a:r>
            <a:r>
              <a:rPr lang="zh-CN" altLang="en-US" sz="1800">
                <a:solidFill>
                  <a:schemeClr val="tx1"/>
                </a:solidFill>
                <a:latin typeface="微软雅黑" pitchFamily="34" charset="-122"/>
                <a:ea typeface="微软雅黑" pitchFamily="34" charset="-122"/>
                <a:cs typeface="新細明體" pitchFamily="18" charset="-120"/>
              </a:rPr>
              <a:t>201020002</a:t>
            </a:r>
            <a:r>
              <a:rPr lang="zh-CN" altLang="en-US" sz="1800">
                <a:solidFill>
                  <a:schemeClr val="tx1"/>
                </a:solidFill>
                <a:latin typeface="微软雅黑" pitchFamily="34" charset="-122"/>
                <a:ea typeface="微软雅黑" pitchFamily="34" charset="-122"/>
                <a:cs typeface="新細明體" pitchFamily="18" charset="-120"/>
              </a:rPr>
              <a:t>后</a:t>
            </a:r>
            <a:r>
              <a:rPr lang="zh-CN" altLang="en-US" sz="1800">
                <a:solidFill>
                  <a:schemeClr val="tx1"/>
                </a:solidFill>
                <a:latin typeface="微软雅黑" pitchFamily="34" charset="-122"/>
                <a:ea typeface="微软雅黑" pitchFamily="34" charset="-122"/>
                <a:cs typeface="新細明體" pitchFamily="18" charset="-120"/>
              </a:rPr>
              <a:t>护罩的</a:t>
            </a:r>
            <a:r>
              <a:rPr lang="zh-CN" altLang="en-US" sz="1800">
                <a:solidFill>
                  <a:schemeClr val="tx1"/>
                </a:solidFill>
                <a:latin typeface="微软雅黑" pitchFamily="34" charset="-122"/>
                <a:ea typeface="微软雅黑" pitchFamily="34" charset="-122"/>
                <a:cs typeface="新細明體" pitchFamily="18" charset="-120"/>
              </a:rPr>
              <a:t>0020</a:t>
            </a:r>
            <a:r>
              <a:rPr lang="zh-CN" altLang="en-US" sz="1800">
                <a:solidFill>
                  <a:schemeClr val="tx1"/>
                </a:solidFill>
                <a:latin typeface="微软雅黑" pitchFamily="34" charset="-122"/>
                <a:ea typeface="微软雅黑" pitchFamily="34" charset="-122"/>
                <a:cs typeface="新細明體" pitchFamily="18" charset="-120"/>
              </a:rPr>
              <a:t>道工序</a:t>
            </a:r>
            <a:endParaRPr lang="zh-CN" altLang="en-US" sz="1800" b="1">
              <a:solidFill>
                <a:srgbClr val="FF0000"/>
              </a:solidFill>
              <a:latin typeface="微软雅黑" pitchFamily="34" charset="-122"/>
              <a:ea typeface="微软雅黑" pitchFamily="34" charset="-122"/>
              <a:cs typeface="新細明體" pitchFamily="18" charset="-120"/>
            </a:endParaRPr>
          </a:p>
          <a:p>
            <a:pPr marL="0" indent="0" algn="l">
              <a:lnSpc>
                <a:spcPct val="150000"/>
              </a:lnSpc>
              <a:spcBef>
                <a:spcPts val="0"/>
              </a:spcBef>
              <a:spcAft>
                <a:spcPts val="0"/>
              </a:spcAft>
              <a:buSzPct val="100000"/>
              <a:buFont typeface="Wingdings" pitchFamily="2" charset="2"/>
              <a:buChar char="u"/>
            </a:pPr>
            <a:endParaRPr lang="zh-CN" altLang="en-US" sz="1800">
              <a:solidFill>
                <a:schemeClr val="tx1"/>
              </a:solidFill>
              <a:latin typeface="微软雅黑" pitchFamily="34" charset="-122"/>
              <a:ea typeface="微软雅黑" pitchFamily="34" charset="-122"/>
              <a:cs typeface="新細明體" pitchFamily="18" charset="-120"/>
            </a:endParaRPr>
          </a:p>
          <a:p>
            <a:pPr marL="0" indent="0" algn="l">
              <a:lnSpc>
                <a:spcPct val="150000"/>
              </a:lnSpc>
              <a:spcBef>
                <a:spcPts val="0"/>
              </a:spcBef>
              <a:spcAft>
                <a:spcPts val="0"/>
              </a:spcAft>
              <a:buSzPct val="100000"/>
              <a:buFont typeface="Wingdings" pitchFamily="2" charset="2"/>
              <a:buChar char="u"/>
            </a:pPr>
            <a:endParaRPr lang="zh-CN" altLang="en-US" sz="1800">
              <a:solidFill>
                <a:schemeClr val="tx1"/>
              </a:solidFill>
              <a:latin typeface="微软雅黑" pitchFamily="34" charset="-122"/>
              <a:ea typeface="微软雅黑" pitchFamily="34" charset="-122"/>
              <a:cs typeface="新細明體" pitchFamily="18" charset="-120"/>
            </a:endParaRPr>
          </a:p>
        </p:txBody>
      </p:sp>
      <p:sp>
        <p:nvSpPr>
          <p:cNvPr id="465" name="矩形"/>
          <p:cNvSpPr>
            <a:spLocks/>
          </p:cNvSpPr>
          <p:nvPr/>
        </p:nvSpPr>
        <p:spPr>
          <a:xfrm rot="0">
            <a:off x="2987675" y="5505450"/>
            <a:ext cx="5545137" cy="1338262"/>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50000"/>
              </a:lnSpc>
              <a:spcBef>
                <a:spcPts val="0"/>
              </a:spcBef>
              <a:spcAft>
                <a:spcPts val="0"/>
              </a:spcAft>
              <a:buNone/>
            </a:pPr>
            <a:r>
              <a:rPr lang="zh-CN" altLang="en-US" sz="1800">
                <a:solidFill>
                  <a:srgbClr val="FF0000"/>
                </a:solidFill>
                <a:latin typeface="微软雅黑" pitchFamily="34" charset="-122"/>
                <a:ea typeface="微软雅黑" pitchFamily="34" charset="-122"/>
                <a:cs typeface="新細明體" pitchFamily="18" charset="-120"/>
              </a:rPr>
              <a:t>注</a:t>
            </a:r>
            <a:r>
              <a:rPr lang="zh-CN" altLang="en-US" sz="1800">
                <a:solidFill>
                  <a:srgbClr val="FF0000"/>
                </a:solidFill>
                <a:latin typeface="微软雅黑" pitchFamily="34" charset="-122"/>
                <a:ea typeface="微软雅黑" pitchFamily="34" charset="-122"/>
                <a:cs typeface="新細明體" pitchFamily="18" charset="-120"/>
              </a:rPr>
              <a:t>:</a:t>
            </a:r>
            <a:r>
              <a:rPr lang="zh-CN" altLang="en-US" sz="1800">
                <a:solidFill>
                  <a:srgbClr val="FF0000"/>
                </a:solidFill>
                <a:latin typeface="微软雅黑" pitchFamily="34" charset="-122"/>
                <a:ea typeface="微软雅黑" pitchFamily="34" charset="-122"/>
                <a:cs typeface="新細明體" pitchFamily="18" charset="-120"/>
              </a:rPr>
              <a:t>其他正常的流程，</a:t>
            </a:r>
            <a:r>
              <a:rPr lang="zh-CN" altLang="en-US" sz="1800">
                <a:solidFill>
                  <a:srgbClr val="FF0000"/>
                </a:solidFill>
                <a:latin typeface="微软雅黑" pitchFamily="34" charset="-122"/>
                <a:ea typeface="微软雅黑" pitchFamily="34" charset="-122"/>
                <a:cs typeface="新細明體" pitchFamily="18" charset="-120"/>
              </a:rPr>
              <a:t>例如生产</a:t>
            </a:r>
            <a:r>
              <a:rPr lang="zh-CN" altLang="en-US" sz="1800">
                <a:solidFill>
                  <a:srgbClr val="FF0000"/>
                </a:solidFill>
                <a:latin typeface="微软雅黑" pitchFamily="34" charset="-122"/>
                <a:ea typeface="微软雅黑" pitchFamily="34" charset="-122"/>
                <a:cs typeface="新細明體" pitchFamily="18" charset="-120"/>
              </a:rPr>
              <a:t>方工单的领料、生产入库，生产方工单完成后</a:t>
            </a:r>
            <a:r>
              <a:rPr lang="zh-CN" altLang="en-US" sz="1800">
                <a:solidFill>
                  <a:srgbClr val="FF0000"/>
                </a:solidFill>
                <a:latin typeface="微软雅黑" pitchFamily="34" charset="-122"/>
                <a:ea typeface="微软雅黑" pitchFamily="34" charset="-122"/>
                <a:cs typeface="新細明體" pitchFamily="18" charset="-120"/>
              </a:rPr>
              <a:t>依调拨申请单做</a:t>
            </a:r>
            <a:r>
              <a:rPr lang="zh-CN" altLang="en-US" sz="1800">
                <a:solidFill>
                  <a:srgbClr val="FF0000"/>
                </a:solidFill>
                <a:latin typeface="微软雅黑" pitchFamily="34" charset="-122"/>
                <a:ea typeface="微软雅黑" pitchFamily="34" charset="-122"/>
                <a:cs typeface="新細明體" pitchFamily="18" charset="-120"/>
              </a:rPr>
              <a:t>相应</a:t>
            </a:r>
            <a:r>
              <a:rPr lang="zh-CN" altLang="en-US" sz="1800">
                <a:solidFill>
                  <a:srgbClr val="FF0000"/>
                </a:solidFill>
                <a:latin typeface="微软雅黑" pitchFamily="34" charset="-122"/>
                <a:ea typeface="微软雅黑" pitchFamily="34" charset="-122"/>
                <a:cs typeface="新細明體" pitchFamily="18" charset="-120"/>
              </a:rPr>
              <a:t>的调拨</a:t>
            </a:r>
            <a:r>
              <a:rPr lang="zh-CN" altLang="en-US" sz="1800">
                <a:solidFill>
                  <a:srgbClr val="FF0000"/>
                </a:solidFill>
                <a:latin typeface="微软雅黑" pitchFamily="34" charset="-122"/>
                <a:ea typeface="微软雅黑" pitchFamily="34" charset="-122"/>
                <a:cs typeface="新細明體" pitchFamily="18" charset="-120"/>
              </a:rPr>
              <a:t>/</a:t>
            </a:r>
            <a:r>
              <a:rPr lang="zh-CN" altLang="en-US" sz="1800">
                <a:solidFill>
                  <a:srgbClr val="FF0000"/>
                </a:solidFill>
                <a:latin typeface="微软雅黑" pitchFamily="34" charset="-122"/>
                <a:ea typeface="微软雅黑" pitchFamily="34" charset="-122"/>
                <a:cs typeface="新細明體" pitchFamily="18" charset="-120"/>
              </a:rPr>
              <a:t>调出、调入等</a:t>
            </a:r>
            <a:r>
              <a:rPr lang="zh-CN" altLang="en-US" sz="1800">
                <a:solidFill>
                  <a:srgbClr val="FF0000"/>
                </a:solidFill>
                <a:latin typeface="微软雅黑" pitchFamily="34" charset="-122"/>
                <a:ea typeface="微软雅黑" pitchFamily="34" charset="-122"/>
                <a:cs typeface="新細明體" pitchFamily="18" charset="-120"/>
              </a:rPr>
              <a:t>流程就不赘述了</a:t>
            </a:r>
            <a:endParaRPr lang="zh-CN" altLang="en-US" sz="1800">
              <a:solidFill>
                <a:srgbClr val="FF0000"/>
              </a:solidFill>
              <a:latin typeface="微软雅黑" pitchFamily="34" charset="-122"/>
              <a:ea typeface="微软雅黑" pitchFamily="34" charset="-122"/>
              <a:cs typeface="新細明體" pitchFamily="18" charset="-120"/>
            </a:endParaRPr>
          </a:p>
        </p:txBody>
      </p:sp>
      <p:pic>
        <p:nvPicPr>
          <p:cNvPr id="466" name="图片"/>
          <p:cNvPicPr>
            <a:picLocks noChangeAspect="1"/>
          </p:cNvPicPr>
          <p:nvPr/>
        </p:nvPicPr>
        <p:blipFill>
          <a:blip r:embed="rId1" cstate="print"/>
          <a:stretch>
            <a:fillRect/>
          </a:stretch>
        </p:blipFill>
        <p:spPr>
          <a:xfrm rot="0">
            <a:off x="14287" y="5249862"/>
            <a:ext cx="2582862" cy="1620838"/>
          </a:xfrm>
          <a:prstGeom prst="rect"/>
          <a:noFill/>
          <a:ln w="9525" cmpd="sng" cap="flat">
            <a:noFill/>
            <a:prstDash val="solid"/>
            <a:miter/>
          </a:ln>
        </p:spPr>
      </p:pic>
    </p:spTree>
    <p:extLst>
      <p:ext uri="{BB962C8B-B14F-4D97-AF65-F5344CB8AC3E}">
        <p14:creationId xmlns:p14="http://schemas.microsoft.com/office/powerpoint/2010/main" val="1057264227"/>
      </p:ext>
    </p:extLst>
  </p:cSld>
  <p:clrMapOvr>
    <a:masterClrMapping/>
  </p:clrMapOvr>
  <p:transition/>
</p:sld>
</file>

<file path=ppt/slides/slide8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467" name="图片"/>
          <p:cNvPicPr>
            <a:picLocks noChangeAspect="1"/>
          </p:cNvPicPr>
          <p:nvPr/>
        </p:nvPicPr>
        <p:blipFill>
          <a:blip r:embed="rId1" cstate="print"/>
          <a:stretch>
            <a:fillRect/>
          </a:stretch>
        </p:blipFill>
        <p:spPr>
          <a:xfrm rot="0">
            <a:off x="-6350" y="5249862"/>
            <a:ext cx="2603500" cy="1608137"/>
          </a:xfrm>
          <a:prstGeom prst="rect"/>
          <a:noFill/>
          <a:ln w="9525" cmpd="sng" cap="flat">
            <a:noFill/>
            <a:prstDash val="solid"/>
            <a:miter/>
          </a:ln>
        </p:spPr>
      </p:pic>
      <p:sp>
        <p:nvSpPr>
          <p:cNvPr id="468" name="矩形"/>
          <p:cNvSpPr>
            <a:spLocks/>
          </p:cNvSpPr>
          <p:nvPr/>
        </p:nvSpPr>
        <p:spPr>
          <a:xfrm rot="0">
            <a:off x="468312" y="1141412"/>
            <a:ext cx="8424862"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：工艺委外的起点，生成对应的调拨申请单和生产方工单</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69" name="矩形"/>
          <p:cNvSpPr>
            <a:spLocks/>
          </p:cNvSpPr>
          <p:nvPr/>
        </p:nvSpPr>
        <p:spPr>
          <a:xfrm rot="0">
            <a:off x="0" y="1547812"/>
            <a:ext cx="3132137" cy="409416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PMingLiU" pitchFamily="18" charset="-120"/>
                <a:cs typeface="新細明體" pitchFamily="18" charset="-120"/>
              </a:rPr>
              <a:t>选择</a:t>
            </a:r>
            <a:r>
              <a:rPr lang="zh-CN" altLang="en-US" sz="2000">
                <a:solidFill>
                  <a:schemeClr val="tx1"/>
                </a:solidFill>
                <a:latin typeface="宋体" pitchFamily="2" charset="-122"/>
                <a:ea typeface="PMingLiU" pitchFamily="18" charset="-120"/>
                <a:cs typeface="新細明體" pitchFamily="18" charset="-120"/>
              </a:rPr>
              <a:t>“跨工厂委托生产”</a:t>
            </a:r>
            <a:r>
              <a:rPr lang="zh-CN" altLang="en-US" sz="2000">
                <a:solidFill>
                  <a:schemeClr val="tx1"/>
                </a:solidFill>
                <a:latin typeface="宋体" pitchFamily="2" charset="-122"/>
                <a:ea typeface="PMingLiU" pitchFamily="18" charset="-120"/>
                <a:cs typeface="新細明體" pitchFamily="18" charset="-120"/>
              </a:rPr>
              <a:t>单据类型</a:t>
            </a:r>
            <a:endParaRPr lang="zh-CN" altLang="en-US" sz="2000">
              <a:solidFill>
                <a:schemeClr val="tx1"/>
              </a:solidFill>
              <a:latin typeface="宋体" pitchFamily="2" charset="-122"/>
              <a:ea typeface="PMingLiU" pitchFamily="18"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PMingLiU" pitchFamily="18" charset="-120"/>
                <a:cs typeface="新細明體" pitchFamily="18" charset="-120"/>
              </a:rPr>
              <a:t>如果单据类型中的“自动</a:t>
            </a:r>
            <a:r>
              <a:rPr lang="zh-CN" altLang="en-US" sz="2000">
                <a:solidFill>
                  <a:schemeClr val="tx1"/>
                </a:solidFill>
                <a:latin typeface="宋体" pitchFamily="2" charset="-122"/>
                <a:ea typeface="PMingLiU" pitchFamily="18" charset="-120"/>
                <a:cs typeface="新細明體" pitchFamily="18" charset="-120"/>
              </a:rPr>
              <a:t>生成调拨申请单</a:t>
            </a:r>
            <a:r>
              <a:rPr lang="zh-CN" altLang="en-US" sz="2000">
                <a:solidFill>
                  <a:schemeClr val="tx1"/>
                </a:solidFill>
                <a:latin typeface="宋体" pitchFamily="2" charset="-122"/>
                <a:ea typeface="PMingLiU" pitchFamily="18" charset="-120"/>
                <a:cs typeface="新細明體" pitchFamily="18" charset="-120"/>
              </a:rPr>
              <a:t>、生产方工单”勾选，则协同关系必填</a:t>
            </a:r>
            <a:r>
              <a:rPr lang="zh-CN" altLang="en-US" sz="2000">
                <a:solidFill>
                  <a:schemeClr val="tx1"/>
                </a:solidFill>
                <a:latin typeface="宋体" pitchFamily="2" charset="-122"/>
                <a:ea typeface="PMingLiU" pitchFamily="18" charset="-120"/>
                <a:cs typeface="新細明體" pitchFamily="18" charset="-120"/>
              </a:rPr>
              <a:t>，转移单审核</a:t>
            </a:r>
            <a:r>
              <a:rPr lang="zh-CN" altLang="en-US" sz="2000">
                <a:solidFill>
                  <a:schemeClr val="tx1"/>
                </a:solidFill>
                <a:latin typeface="宋体" pitchFamily="2" charset="-122"/>
                <a:ea typeface="PMingLiU" pitchFamily="18" charset="-120"/>
                <a:cs typeface="新細明體" pitchFamily="18" charset="-120"/>
              </a:rPr>
              <a:t>自动生成生产方工单；</a:t>
            </a:r>
            <a:r>
              <a:rPr lang="zh-CN" altLang="en-US" sz="2000">
                <a:solidFill>
                  <a:schemeClr val="tx1"/>
                </a:solidFill>
                <a:latin typeface="宋体" pitchFamily="2" charset="-122"/>
                <a:ea typeface="PMingLiU" pitchFamily="18" charset="-120"/>
                <a:cs typeface="新細明體" pitchFamily="18" charset="-120"/>
              </a:rPr>
              <a:t>如果单据类型</a:t>
            </a:r>
            <a:r>
              <a:rPr lang="zh-CN" altLang="en-US" sz="2000">
                <a:solidFill>
                  <a:schemeClr val="tx1"/>
                </a:solidFill>
                <a:latin typeface="宋体" pitchFamily="2" charset="-122"/>
                <a:ea typeface="PMingLiU" pitchFamily="18" charset="-120"/>
                <a:cs typeface="新細明體" pitchFamily="18" charset="-120"/>
              </a:rPr>
              <a:t>中“</a:t>
            </a:r>
            <a:r>
              <a:rPr lang="zh-CN" altLang="en-US" sz="2000">
                <a:solidFill>
                  <a:schemeClr val="tx1"/>
                </a:solidFill>
                <a:latin typeface="宋体" pitchFamily="2" charset="-122"/>
                <a:ea typeface="PMingLiU" pitchFamily="18" charset="-120"/>
                <a:cs typeface="新細明體" pitchFamily="18" charset="-120"/>
              </a:rPr>
              <a:t>自动</a:t>
            </a:r>
            <a:r>
              <a:rPr lang="zh-CN" altLang="en-US" sz="2000">
                <a:solidFill>
                  <a:schemeClr val="tx1"/>
                </a:solidFill>
                <a:latin typeface="宋体" pitchFamily="2" charset="-122"/>
                <a:ea typeface="PMingLiU" pitchFamily="18" charset="-120"/>
                <a:cs typeface="新細明體" pitchFamily="18" charset="-120"/>
              </a:rPr>
              <a:t>生成调拨申请单、</a:t>
            </a:r>
            <a:r>
              <a:rPr lang="zh-CN" altLang="en-US" sz="2000">
                <a:solidFill>
                  <a:schemeClr val="tx1"/>
                </a:solidFill>
                <a:latin typeface="宋体" pitchFamily="2" charset="-122"/>
                <a:ea typeface="PMingLiU" pitchFamily="18" charset="-120"/>
                <a:cs typeface="新細明體" pitchFamily="18" charset="-120"/>
              </a:rPr>
              <a:t>生产方工单”不勾选，则协同关系不必填，由工单委外分配生成生产方工单。</a:t>
            </a:r>
            <a:endParaRPr lang="zh-CN" altLang="en-US" sz="2000">
              <a:solidFill>
                <a:schemeClr val="tx1"/>
              </a:solidFill>
              <a:latin typeface="宋体" pitchFamily="2" charset="-122"/>
              <a:ea typeface="PMingLiU" pitchFamily="18" charset="-120"/>
              <a:cs typeface="新細明體" pitchFamily="18" charset="-120"/>
            </a:endParaRPr>
          </a:p>
        </p:txBody>
      </p:sp>
      <p:sp>
        <p:nvSpPr>
          <p:cNvPr id="470" name="矩形"/>
          <p:cNvSpPr>
            <a:spLocks/>
          </p:cNvSpPr>
          <p:nvPr/>
        </p:nvSpPr>
        <p:spPr>
          <a:xfrm rot="0">
            <a:off x="0" y="428625"/>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日常</a:t>
            </a:r>
            <a:r>
              <a:rPr lang="zh-CN" altLang="en-US" sz="3600" b="1">
                <a:solidFill>
                  <a:schemeClr val="tx1"/>
                </a:solidFill>
                <a:latin typeface="Microsoft JhengHei" pitchFamily="34" charset="-120"/>
                <a:ea typeface="Microsoft JhengHei" pitchFamily="34" charset="-120"/>
                <a:cs typeface="新細明體" pitchFamily="18" charset="-120"/>
              </a:rPr>
              <a:t>作业操作</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维护工艺转移单</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471" name="图片"/>
          <p:cNvPicPr>
            <a:picLocks noChangeAspect="1"/>
          </p:cNvPicPr>
          <p:nvPr/>
        </p:nvPicPr>
        <p:blipFill>
          <a:blip r:embed="rId2" cstate="print"/>
          <a:stretch>
            <a:fillRect/>
          </a:stretch>
        </p:blipFill>
        <p:spPr>
          <a:xfrm rot="0">
            <a:off x="3133725" y="1608137"/>
            <a:ext cx="5938838" cy="4033837"/>
          </a:xfrm>
          <a:prstGeom prst="rect"/>
          <a:noFill/>
          <a:ln w="9525" cmpd="sng" cap="flat">
            <a:noFill/>
            <a:prstDash val="solid"/>
            <a:miter/>
          </a:ln>
        </p:spPr>
      </p:pic>
    </p:spTree>
    <p:extLst>
      <p:ext uri="{BB962C8B-B14F-4D97-AF65-F5344CB8AC3E}">
        <p14:creationId xmlns:p14="http://schemas.microsoft.com/office/powerpoint/2010/main" val="1889898299"/>
      </p:ext>
    </p:extLst>
  </p:cSld>
  <p:clrMapOvr>
    <a:masterClrMapping/>
  </p:clrMapOvr>
  <p:transition/>
</p:sld>
</file>

<file path=ppt/slides/slide8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472" name="图片"/>
          <p:cNvPicPr>
            <a:picLocks noChangeAspect="1"/>
          </p:cNvPicPr>
          <p:nvPr/>
        </p:nvPicPr>
        <p:blipFill>
          <a:blip r:embed="rId1" cstate="print"/>
          <a:stretch>
            <a:fillRect/>
          </a:stretch>
        </p:blipFill>
        <p:spPr>
          <a:xfrm rot="0">
            <a:off x="0" y="5259388"/>
            <a:ext cx="2601912" cy="1598612"/>
          </a:xfrm>
          <a:prstGeom prst="rect"/>
          <a:noFill/>
          <a:ln w="9525" cmpd="sng" cap="flat">
            <a:noFill/>
            <a:prstDash val="solid"/>
            <a:miter/>
          </a:ln>
        </p:spPr>
      </p:pic>
      <p:sp>
        <p:nvSpPr>
          <p:cNvPr id="473"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a:solidFill>
                  <a:schemeClr val="tx1"/>
                </a:solidFill>
                <a:latin typeface="黑体" pitchFamily="2" charset="-122"/>
                <a:ea typeface="黑体" pitchFamily="2" charset="-122"/>
                <a:cs typeface="新細明體" pitchFamily="18" charset="-120"/>
              </a:rPr>
              <a:t>日常作业操作</a:t>
            </a:r>
            <a:r>
              <a:rPr lang="zh-CN" altLang="en-US" sz="3600">
                <a:solidFill>
                  <a:schemeClr val="tx1"/>
                </a:solidFill>
                <a:latin typeface="黑体" pitchFamily="2" charset="-122"/>
                <a:ea typeface="黑体" pitchFamily="2" charset="-122"/>
                <a:cs typeface="新細明體" pitchFamily="18" charset="-120"/>
              </a:rPr>
              <a:t>－</a:t>
            </a:r>
            <a:r>
              <a:rPr lang="zh-CN" altLang="en-US" sz="3600">
                <a:solidFill>
                  <a:schemeClr val="tx1"/>
                </a:solidFill>
                <a:latin typeface="黑体" pitchFamily="2" charset="-122"/>
                <a:ea typeface="黑体" pitchFamily="2" charset="-122"/>
                <a:cs typeface="新細明體" pitchFamily="18" charset="-120"/>
              </a:rPr>
              <a:t>维护</a:t>
            </a:r>
            <a:r>
              <a:rPr lang="zh-CN" altLang="en-US" sz="3600">
                <a:solidFill>
                  <a:schemeClr val="tx1"/>
                </a:solidFill>
                <a:latin typeface="黑体" pitchFamily="2" charset="-122"/>
                <a:ea typeface="黑体" pitchFamily="2" charset="-122"/>
                <a:cs typeface="新細明體" pitchFamily="18" charset="-120"/>
              </a:rPr>
              <a:t>工艺委</a:t>
            </a:r>
            <a:r>
              <a:rPr lang="zh-CN" altLang="en-US" sz="3600">
                <a:solidFill>
                  <a:schemeClr val="tx1"/>
                </a:solidFill>
                <a:latin typeface="黑体" pitchFamily="2" charset="-122"/>
                <a:ea typeface="黑体" pitchFamily="2" charset="-122"/>
                <a:cs typeface="新細明體" pitchFamily="18" charset="-120"/>
              </a:rPr>
              <a:t>外分配</a:t>
            </a:r>
            <a:endParaRPr lang="zh-CN" altLang="en-US" sz="3600">
              <a:solidFill>
                <a:schemeClr val="tx1"/>
              </a:solidFill>
              <a:latin typeface="黑体" pitchFamily="2" charset="-122"/>
              <a:ea typeface="黑体" pitchFamily="2" charset="-122"/>
              <a:cs typeface="新細明體" pitchFamily="18" charset="-120"/>
            </a:endParaRPr>
          </a:p>
        </p:txBody>
      </p:sp>
      <p:sp>
        <p:nvSpPr>
          <p:cNvPr id="474" name="矩形"/>
          <p:cNvSpPr>
            <a:spLocks/>
          </p:cNvSpPr>
          <p:nvPr/>
        </p:nvSpPr>
        <p:spPr>
          <a:xfrm rot="0">
            <a:off x="468312" y="1270000"/>
            <a:ext cx="8567738" cy="708024"/>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：如果委托</a:t>
            </a:r>
            <a:r>
              <a:rPr lang="zh-CN" altLang="en-US" sz="2000">
                <a:solidFill>
                  <a:schemeClr val="tx1"/>
                </a:solidFill>
                <a:latin typeface="微软雅黑" pitchFamily="34" charset="-122"/>
                <a:ea typeface="微软雅黑" pitchFamily="34" charset="-122"/>
                <a:cs typeface="新細明體" pitchFamily="18" charset="-120"/>
              </a:rPr>
              <a:t>方</a:t>
            </a:r>
            <a:r>
              <a:rPr lang="zh-CN" altLang="en-US" sz="2000">
                <a:solidFill>
                  <a:schemeClr val="tx1"/>
                </a:solidFill>
                <a:latin typeface="微软雅黑" pitchFamily="34" charset="-122"/>
                <a:ea typeface="微软雅黑" pitchFamily="34" charset="-122"/>
                <a:cs typeface="新細明體" pitchFamily="18" charset="-120"/>
              </a:rPr>
              <a:t>转移单</a:t>
            </a:r>
            <a:r>
              <a:rPr lang="zh-CN" altLang="en-US" sz="2000">
                <a:solidFill>
                  <a:schemeClr val="tx1"/>
                </a:solidFill>
                <a:latin typeface="微软雅黑" pitchFamily="34" charset="-122"/>
                <a:ea typeface="微软雅黑" pitchFamily="34" charset="-122"/>
                <a:cs typeface="新細明體" pitchFamily="18" charset="-120"/>
              </a:rPr>
              <a:t>不</a:t>
            </a:r>
            <a:r>
              <a:rPr lang="zh-CN" altLang="en-US" sz="2000">
                <a:solidFill>
                  <a:schemeClr val="tx1"/>
                </a:solidFill>
                <a:latin typeface="微软雅黑" pitchFamily="34" charset="-122"/>
                <a:ea typeface="微软雅黑" pitchFamily="34" charset="-122"/>
                <a:cs typeface="新細明體" pitchFamily="18" charset="-120"/>
              </a:rPr>
              <a:t>自动</a:t>
            </a:r>
            <a:r>
              <a:rPr lang="zh-CN" altLang="en-US" sz="2000">
                <a:solidFill>
                  <a:schemeClr val="tx1"/>
                </a:solidFill>
                <a:latin typeface="微软雅黑" pitchFamily="34" charset="-122"/>
                <a:ea typeface="微软雅黑" pitchFamily="34" charset="-122"/>
                <a:cs typeface="新細明體" pitchFamily="18" charset="-120"/>
              </a:rPr>
              <a:t>生成调拨申请单</a:t>
            </a:r>
            <a:r>
              <a:rPr lang="zh-CN" altLang="en-US" sz="2000">
                <a:solidFill>
                  <a:schemeClr val="tx1"/>
                </a:solidFill>
                <a:latin typeface="微软雅黑" pitchFamily="34" charset="-122"/>
                <a:ea typeface="微软雅黑" pitchFamily="34" charset="-122"/>
                <a:cs typeface="新細明體" pitchFamily="18" charset="-120"/>
              </a:rPr>
              <a:t>和生产方工单，则需要</a:t>
            </a:r>
            <a:r>
              <a:rPr lang="zh-CN" altLang="en-US" sz="2000">
                <a:solidFill>
                  <a:schemeClr val="tx1"/>
                </a:solidFill>
                <a:latin typeface="微软雅黑" pitchFamily="34" charset="-122"/>
                <a:ea typeface="微软雅黑" pitchFamily="34" charset="-122"/>
                <a:cs typeface="新細明體" pitchFamily="18" charset="-120"/>
              </a:rPr>
              <a:t>工艺委</a:t>
            </a:r>
            <a:r>
              <a:rPr lang="zh-CN" altLang="en-US" sz="2000">
                <a:solidFill>
                  <a:schemeClr val="tx1"/>
                </a:solidFill>
                <a:latin typeface="微软雅黑" pitchFamily="34" charset="-122"/>
                <a:ea typeface="微软雅黑" pitchFamily="34" charset="-122"/>
                <a:cs typeface="新細明體" pitchFamily="18" charset="-120"/>
              </a:rPr>
              <a:t>外分配，分配给内部供应商</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75" name="矩形"/>
          <p:cNvSpPr>
            <a:spLocks/>
          </p:cNvSpPr>
          <p:nvPr/>
        </p:nvSpPr>
        <p:spPr>
          <a:xfrm rot="0">
            <a:off x="98425" y="2078037"/>
            <a:ext cx="3405187" cy="3786188"/>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若分</a:t>
            </a:r>
            <a:r>
              <a:rPr lang="zh-CN" altLang="en-US" sz="2000">
                <a:solidFill>
                  <a:schemeClr val="tx1"/>
                </a:solidFill>
                <a:latin typeface="宋体" pitchFamily="2" charset="-122"/>
                <a:ea typeface="宋体" pitchFamily="2" charset="-122"/>
                <a:cs typeface="新細明體" pitchFamily="18" charset="-120"/>
              </a:rPr>
              <a:t>配给多个供应商，或者规划就是统一由专人在</a:t>
            </a:r>
            <a:r>
              <a:rPr lang="zh-CN" altLang="en-US" sz="2000">
                <a:solidFill>
                  <a:schemeClr val="tx1"/>
                </a:solidFill>
                <a:latin typeface="宋体" pitchFamily="2" charset="-122"/>
                <a:ea typeface="宋体" pitchFamily="2" charset="-122"/>
                <a:cs typeface="新細明體" pitchFamily="18" charset="-120"/>
              </a:rPr>
              <a:t>工艺委</a:t>
            </a:r>
            <a:r>
              <a:rPr lang="zh-CN" altLang="en-US" sz="2000">
                <a:solidFill>
                  <a:schemeClr val="tx1"/>
                </a:solidFill>
                <a:latin typeface="宋体" pitchFamily="2" charset="-122"/>
                <a:ea typeface="宋体" pitchFamily="2" charset="-122"/>
                <a:cs typeface="新細明體" pitchFamily="18" charset="-120"/>
              </a:rPr>
              <a:t>外分配生成，则委托</a:t>
            </a:r>
            <a:r>
              <a:rPr lang="zh-CN" altLang="en-US" sz="2000">
                <a:solidFill>
                  <a:schemeClr val="tx1"/>
                </a:solidFill>
                <a:latin typeface="宋体" pitchFamily="2" charset="-122"/>
                <a:ea typeface="宋体" pitchFamily="2" charset="-122"/>
                <a:cs typeface="新細明體" pitchFamily="18" charset="-120"/>
              </a:rPr>
              <a:t>方转移单应选</a:t>
            </a:r>
            <a:r>
              <a:rPr lang="zh-CN" altLang="en-US" sz="2000">
                <a:solidFill>
                  <a:schemeClr val="tx1"/>
                </a:solidFill>
                <a:latin typeface="宋体" pitchFamily="2" charset="-122"/>
                <a:ea typeface="宋体" pitchFamily="2" charset="-122"/>
                <a:cs typeface="新細明體" pitchFamily="18" charset="-120"/>
              </a:rPr>
              <a:t>择不自动</a:t>
            </a:r>
            <a:r>
              <a:rPr lang="zh-CN" altLang="en-US" sz="2000">
                <a:solidFill>
                  <a:schemeClr val="tx1"/>
                </a:solidFill>
                <a:latin typeface="宋体" pitchFamily="2" charset="-122"/>
                <a:ea typeface="宋体" pitchFamily="2" charset="-122"/>
                <a:cs typeface="新細明體" pitchFamily="18" charset="-120"/>
              </a:rPr>
              <a:t>产生调拨申请单和</a:t>
            </a:r>
            <a:r>
              <a:rPr lang="zh-CN" altLang="en-US" sz="2000">
                <a:solidFill>
                  <a:schemeClr val="tx1"/>
                </a:solidFill>
                <a:latin typeface="宋体" pitchFamily="2" charset="-122"/>
                <a:ea typeface="宋体" pitchFamily="2" charset="-122"/>
                <a:cs typeface="新細明體" pitchFamily="18" charset="-120"/>
              </a:rPr>
              <a:t>生产方工单的单据类型</a:t>
            </a:r>
            <a:r>
              <a:rPr lang="zh-CN" altLang="en-US" sz="2000">
                <a:solidFill>
                  <a:schemeClr val="tx1"/>
                </a:solidFill>
                <a:latin typeface="宋体" pitchFamily="2" charset="-122"/>
                <a:ea typeface="宋体" pitchFamily="2" charset="-122"/>
                <a:cs typeface="新細明體" pitchFamily="18" charset="-120"/>
              </a:rPr>
              <a:t>，通过工艺委</a:t>
            </a:r>
            <a:r>
              <a:rPr lang="zh-CN" altLang="en-US" sz="2000">
                <a:solidFill>
                  <a:schemeClr val="tx1"/>
                </a:solidFill>
                <a:latin typeface="宋体" pitchFamily="2" charset="-122"/>
                <a:ea typeface="宋体" pitchFamily="2" charset="-122"/>
                <a:cs typeface="新細明體" pitchFamily="18" charset="-120"/>
              </a:rPr>
              <a:t>外分配选择协同类型</a:t>
            </a:r>
            <a:r>
              <a:rPr lang="zh-CN" altLang="en-US" sz="2000">
                <a:solidFill>
                  <a:schemeClr val="tx1"/>
                </a:solidFill>
                <a:latin typeface="宋体" pitchFamily="2" charset="-122"/>
                <a:ea typeface="宋体" pitchFamily="2" charset="-122"/>
                <a:cs typeface="新細明體" pitchFamily="18" charset="-120"/>
              </a:rPr>
              <a:t>及供应</a:t>
            </a:r>
            <a:r>
              <a:rPr lang="zh-CN" altLang="en-US" sz="2000">
                <a:solidFill>
                  <a:schemeClr val="tx1"/>
                </a:solidFill>
                <a:latin typeface="宋体" pitchFamily="2" charset="-122"/>
                <a:ea typeface="宋体" pitchFamily="2" charset="-122"/>
                <a:cs typeface="新細明體" pitchFamily="18" charset="-120"/>
              </a:rPr>
              <a:t>商，做生单操作</a:t>
            </a:r>
            <a:r>
              <a:rPr lang="zh-CN" altLang="en-US" sz="2000">
                <a:solidFill>
                  <a:schemeClr val="tx1"/>
                </a:solidFill>
                <a:latin typeface="宋体" pitchFamily="2" charset="-122"/>
                <a:ea typeface="宋体" pitchFamily="2" charset="-122"/>
                <a:cs typeface="新細明體" pitchFamily="18" charset="-120"/>
              </a:rPr>
              <a:t>。</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微軟正黑體" pitchFamily="34" charset="-120"/>
                <a:ea typeface="微軟正黑體" pitchFamily="34" charset="-120"/>
                <a:cs typeface="新細明體" pitchFamily="18" charset="-120"/>
              </a:rPr>
              <a:t>若第一道就进行集团内工艺委外</a:t>
            </a:r>
            <a:r>
              <a:rPr lang="zh-CN" altLang="en-US" sz="2000">
                <a:solidFill>
                  <a:schemeClr val="tx1"/>
                </a:solidFill>
                <a:latin typeface="微軟正黑體" pitchFamily="34" charset="-120"/>
                <a:ea typeface="微軟正黑體" pitchFamily="34" charset="-120"/>
                <a:cs typeface="新細明體" pitchFamily="18" charset="-120"/>
              </a:rPr>
              <a:t>，必须由工艺</a:t>
            </a:r>
            <a:r>
              <a:rPr lang="zh-CN" altLang="en-US" sz="2000">
                <a:solidFill>
                  <a:schemeClr val="tx1"/>
                </a:solidFill>
                <a:latin typeface="微軟正黑體" pitchFamily="34" charset="-120"/>
                <a:ea typeface="微軟正黑體" pitchFamily="34" charset="-120"/>
                <a:cs typeface="新細明體" pitchFamily="18" charset="-120"/>
              </a:rPr>
              <a:t>委外分配</a:t>
            </a:r>
            <a:r>
              <a:rPr lang="zh-CN" altLang="en-US" sz="2000">
                <a:solidFill>
                  <a:schemeClr val="tx1"/>
                </a:solidFill>
                <a:latin typeface="微軟正黑體" pitchFamily="34" charset="-120"/>
                <a:ea typeface="微軟正黑體" pitchFamily="34" charset="-120"/>
                <a:cs typeface="新細明體" pitchFamily="18" charset="-120"/>
              </a:rPr>
              <a:t>生成相关单据</a:t>
            </a:r>
            <a:endParaRPr lang="zh-CN" altLang="en-US" sz="2000">
              <a:solidFill>
                <a:schemeClr val="tx1"/>
              </a:solidFill>
              <a:latin typeface="微軟正黑體" pitchFamily="34" charset="-120"/>
              <a:ea typeface="微軟正黑體" pitchFamily="34" charset="-120"/>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chemeClr val="tx1"/>
              </a:solidFill>
              <a:latin typeface="宋体" pitchFamily="2" charset="-122"/>
              <a:ea typeface="宋体" pitchFamily="2" charset="-122"/>
              <a:cs typeface="新細明體" pitchFamily="18" charset="-120"/>
            </a:endParaRPr>
          </a:p>
        </p:txBody>
      </p:sp>
      <p:pic>
        <p:nvPicPr>
          <p:cNvPr id="476" name="图片"/>
          <p:cNvPicPr>
            <a:picLocks noChangeAspect="1"/>
          </p:cNvPicPr>
          <p:nvPr/>
        </p:nvPicPr>
        <p:blipFill>
          <a:blip r:embed="rId2" cstate="print"/>
          <a:stretch>
            <a:fillRect/>
          </a:stretch>
        </p:blipFill>
        <p:spPr>
          <a:xfrm rot="0">
            <a:off x="3497262" y="2178050"/>
            <a:ext cx="5538788" cy="3784600"/>
          </a:xfrm>
          <a:prstGeom prst="rect"/>
          <a:noFill/>
          <a:ln w="9525" cmpd="sng" cap="flat">
            <a:noFill/>
            <a:prstDash val="solid"/>
            <a:miter/>
          </a:ln>
        </p:spPr>
      </p:pic>
    </p:spTree>
    <p:extLst>
      <p:ext uri="{BB962C8B-B14F-4D97-AF65-F5344CB8AC3E}">
        <p14:creationId xmlns:p14="http://schemas.microsoft.com/office/powerpoint/2010/main" val="1143969866"/>
      </p:ext>
    </p:extLst>
  </p:cSld>
  <p:clrMapOvr>
    <a:masterClrMapping/>
  </p:clrMapOvr>
  <p:transition/>
</p:sld>
</file>

<file path=ppt/slides/slide8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77"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a:solidFill>
                  <a:schemeClr val="tx1"/>
                </a:solidFill>
                <a:latin typeface="黑体" pitchFamily="2" charset="-122"/>
                <a:ea typeface="黑体" pitchFamily="2" charset="-122"/>
                <a:cs typeface="新細明體" pitchFamily="18" charset="-120"/>
              </a:rPr>
              <a:t>日常作业操作</a:t>
            </a:r>
            <a:r>
              <a:rPr lang="zh-CN" altLang="en-US" sz="3600">
                <a:solidFill>
                  <a:schemeClr val="tx1"/>
                </a:solidFill>
                <a:latin typeface="黑体" pitchFamily="2" charset="-122"/>
                <a:ea typeface="黑体" pitchFamily="2" charset="-122"/>
                <a:cs typeface="新細明體" pitchFamily="18" charset="-120"/>
              </a:rPr>
              <a:t>－</a:t>
            </a:r>
            <a:r>
              <a:rPr lang="zh-CN" altLang="en-US" sz="3600">
                <a:solidFill>
                  <a:schemeClr val="tx1"/>
                </a:solidFill>
                <a:latin typeface="黑体" pitchFamily="2" charset="-122"/>
                <a:ea typeface="黑体" pitchFamily="2" charset="-122"/>
                <a:cs typeface="新細明體" pitchFamily="18" charset="-120"/>
              </a:rPr>
              <a:t>维护调拨申请单</a:t>
            </a:r>
            <a:endParaRPr lang="zh-CN" altLang="en-US" sz="3600">
              <a:solidFill>
                <a:schemeClr val="tx1"/>
              </a:solidFill>
              <a:latin typeface="黑体" pitchFamily="2" charset="-122"/>
              <a:ea typeface="黑体" pitchFamily="2" charset="-122"/>
              <a:cs typeface="新細明體" pitchFamily="18" charset="-120"/>
            </a:endParaRPr>
          </a:p>
        </p:txBody>
      </p:sp>
      <p:sp>
        <p:nvSpPr>
          <p:cNvPr id="478" name="矩形"/>
          <p:cNvSpPr>
            <a:spLocks/>
          </p:cNvSpPr>
          <p:nvPr/>
        </p:nvSpPr>
        <p:spPr>
          <a:xfrm rot="0">
            <a:off x="468312" y="1270000"/>
            <a:ext cx="8567738" cy="708024"/>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：作为跨工厂交易</a:t>
            </a:r>
            <a:r>
              <a:rPr lang="zh-CN" altLang="en-US" sz="2000">
                <a:solidFill>
                  <a:schemeClr val="tx1"/>
                </a:solidFill>
                <a:latin typeface="微软雅黑" pitchFamily="34" charset="-122"/>
                <a:ea typeface="微软雅黑" pitchFamily="34" charset="-122"/>
                <a:cs typeface="新細明體" pitchFamily="18" charset="-120"/>
              </a:rPr>
              <a:t>相关流程的依据</a:t>
            </a:r>
            <a:r>
              <a:rPr lang="zh-CN" altLang="en-US" sz="2000">
                <a:solidFill>
                  <a:schemeClr val="tx1"/>
                </a:solidFill>
                <a:latin typeface="微软雅黑" pitchFamily="34" charset="-122"/>
                <a:ea typeface="微软雅黑" pitchFamily="34" charset="-122"/>
                <a:cs typeface="新細明體" pitchFamily="18" charset="-120"/>
              </a:rPr>
              <a:t>，由委托</a:t>
            </a:r>
            <a:r>
              <a:rPr lang="zh-CN" altLang="en-US" sz="2000">
                <a:solidFill>
                  <a:schemeClr val="tx1"/>
                </a:solidFill>
                <a:latin typeface="微软雅黑" pitchFamily="34" charset="-122"/>
                <a:ea typeface="微软雅黑" pitchFamily="34" charset="-122"/>
                <a:cs typeface="新細明體" pitchFamily="18" charset="-120"/>
              </a:rPr>
              <a:t>方转移单</a:t>
            </a:r>
            <a:r>
              <a:rPr lang="zh-CN" altLang="en-US" sz="2000">
                <a:solidFill>
                  <a:schemeClr val="tx1"/>
                </a:solidFill>
                <a:latin typeface="微软雅黑" pitchFamily="34" charset="-122"/>
                <a:ea typeface="微软雅黑" pitchFamily="34" charset="-122"/>
                <a:cs typeface="新細明體" pitchFamily="18" charset="-120"/>
              </a:rPr>
              <a:t>审核或者工单委外分配生成。</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79" name="矩形"/>
          <p:cNvSpPr>
            <a:spLocks/>
          </p:cNvSpPr>
          <p:nvPr/>
        </p:nvSpPr>
        <p:spPr>
          <a:xfrm rot="0">
            <a:off x="98425" y="2078037"/>
            <a:ext cx="3405187" cy="3170237"/>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作为跨工厂交易</a:t>
            </a:r>
            <a:r>
              <a:rPr lang="zh-CN" altLang="en-US" sz="2000">
                <a:solidFill>
                  <a:schemeClr val="tx1"/>
                </a:solidFill>
                <a:latin typeface="宋体" pitchFamily="2" charset="-122"/>
                <a:ea typeface="宋体" pitchFamily="2" charset="-122"/>
                <a:cs typeface="新細明體" pitchFamily="18" charset="-120"/>
              </a:rPr>
              <a:t>相关</a:t>
            </a:r>
            <a:r>
              <a:rPr lang="zh-CN" altLang="en-US" sz="2000">
                <a:solidFill>
                  <a:schemeClr val="tx1"/>
                </a:solidFill>
                <a:latin typeface="宋体" pitchFamily="2" charset="-122"/>
                <a:ea typeface="宋体" pitchFamily="2" charset="-122"/>
                <a:cs typeface="新細明體" pitchFamily="18" charset="-120"/>
              </a:rPr>
              <a:t>流程的依据（调拨单</a:t>
            </a:r>
            <a:r>
              <a:rPr lang="zh-CN" altLang="en-US" sz="2000">
                <a:solidFill>
                  <a:schemeClr val="tx1"/>
                </a:solidFill>
                <a:latin typeface="宋体" pitchFamily="2" charset="-122"/>
                <a:ea typeface="宋体" pitchFamily="2" charset="-122"/>
                <a:cs typeface="新細明體" pitchFamily="18" charset="-120"/>
              </a:rPr>
              <a:t>/</a:t>
            </a:r>
            <a:r>
              <a:rPr lang="zh-CN" altLang="en-US" sz="2000">
                <a:solidFill>
                  <a:schemeClr val="tx1"/>
                </a:solidFill>
                <a:latin typeface="宋体" pitchFamily="2" charset="-122"/>
                <a:ea typeface="宋体" pitchFamily="2" charset="-122"/>
                <a:cs typeface="新細明體" pitchFamily="18" charset="-120"/>
              </a:rPr>
              <a:t>调出、调入单）</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作为生产方工单的需求来源</a:t>
            </a:r>
            <a:r>
              <a:rPr lang="zh-CN" altLang="en-US" sz="2000">
                <a:solidFill>
                  <a:schemeClr val="tx1"/>
                </a:solidFill>
                <a:latin typeface="宋体" pitchFamily="2" charset="-122"/>
                <a:ea typeface="宋体" pitchFamily="2" charset="-122"/>
                <a:cs typeface="新細明體" pitchFamily="18" charset="-120"/>
              </a:rPr>
              <a:t>，锁定</a:t>
            </a:r>
            <a:r>
              <a:rPr lang="zh-CN" altLang="en-US" sz="2000">
                <a:solidFill>
                  <a:schemeClr val="tx1"/>
                </a:solidFill>
                <a:latin typeface="宋体" pitchFamily="2" charset="-122"/>
                <a:ea typeface="宋体" pitchFamily="2" charset="-122"/>
                <a:cs typeface="新細明體" pitchFamily="18" charset="-120"/>
              </a:rPr>
              <a:t>与生产方工单</a:t>
            </a:r>
            <a:r>
              <a:rPr lang="zh-CN" altLang="en-US" sz="2000">
                <a:solidFill>
                  <a:schemeClr val="tx1"/>
                </a:solidFill>
                <a:latin typeface="宋体" pitchFamily="2" charset="-122"/>
                <a:ea typeface="宋体" pitchFamily="2" charset="-122"/>
                <a:cs typeface="新細明體" pitchFamily="18" charset="-120"/>
              </a:rPr>
              <a:t>的</a:t>
            </a:r>
            <a:r>
              <a:rPr lang="zh-CN" altLang="en-US" sz="2000">
                <a:solidFill>
                  <a:schemeClr val="tx1"/>
                </a:solidFill>
                <a:latin typeface="宋体" pitchFamily="2" charset="-122"/>
                <a:ea typeface="宋体" pitchFamily="2" charset="-122"/>
                <a:cs typeface="新細明體" pitchFamily="18" charset="-120"/>
              </a:rPr>
              <a:t>供需</a:t>
            </a:r>
            <a:r>
              <a:rPr lang="zh-CN" altLang="en-US" sz="2000">
                <a:solidFill>
                  <a:schemeClr val="tx1"/>
                </a:solidFill>
                <a:latin typeface="宋体" pitchFamily="2" charset="-122"/>
                <a:ea typeface="宋体" pitchFamily="2" charset="-122"/>
                <a:cs typeface="新細明體" pitchFamily="18" charset="-120"/>
              </a:rPr>
              <a:t>关系，保证</a:t>
            </a:r>
            <a:r>
              <a:rPr lang="zh-CN" altLang="en-US" sz="2000">
                <a:solidFill>
                  <a:schemeClr val="tx1"/>
                </a:solidFill>
                <a:latin typeface="宋体" pitchFamily="2" charset="-122"/>
                <a:ea typeface="宋体" pitchFamily="2" charset="-122"/>
                <a:cs typeface="新細明體" pitchFamily="18" charset="-120"/>
              </a:rPr>
              <a:t>供需</a:t>
            </a:r>
            <a:r>
              <a:rPr lang="zh-CN" altLang="en-US" sz="2000">
                <a:solidFill>
                  <a:schemeClr val="tx1"/>
                </a:solidFill>
                <a:latin typeface="宋体" pitchFamily="2" charset="-122"/>
                <a:ea typeface="宋体" pitchFamily="2" charset="-122"/>
                <a:cs typeface="新細明體" pitchFamily="18" charset="-120"/>
              </a:rPr>
              <a:t>平衡</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特别指出</a:t>
            </a:r>
            <a:r>
              <a:rPr lang="zh-CN" altLang="en-US" sz="2000">
                <a:solidFill>
                  <a:schemeClr val="tx1"/>
                </a:solidFill>
                <a:latin typeface="宋体" pitchFamily="2" charset="-122"/>
                <a:ea typeface="宋体" pitchFamily="2" charset="-122"/>
                <a:cs typeface="新細明體" pitchFamily="18" charset="-120"/>
              </a:rPr>
              <a:t>:</a:t>
            </a:r>
            <a:r>
              <a:rPr lang="zh-CN" altLang="en-US" sz="2000">
                <a:solidFill>
                  <a:schemeClr val="tx1"/>
                </a:solidFill>
                <a:latin typeface="宋体" pitchFamily="2" charset="-122"/>
                <a:ea typeface="宋体" pitchFamily="2" charset="-122"/>
                <a:cs typeface="新細明體" pitchFamily="18" charset="-120"/>
              </a:rPr>
              <a:t>调拨申请单不</a:t>
            </a:r>
            <a:r>
              <a:rPr lang="zh-CN" altLang="en-US" sz="2000">
                <a:solidFill>
                  <a:schemeClr val="tx1"/>
                </a:solidFill>
                <a:latin typeface="宋体" pitchFamily="2" charset="-122"/>
                <a:ea typeface="宋体" pitchFamily="2" charset="-122"/>
                <a:cs typeface="新細明體" pitchFamily="18" charset="-120"/>
              </a:rPr>
              <a:t>作为委托方</a:t>
            </a:r>
            <a:r>
              <a:rPr lang="zh-CN" altLang="en-US" sz="2000">
                <a:solidFill>
                  <a:schemeClr val="tx1"/>
                </a:solidFill>
                <a:latin typeface="宋体" pitchFamily="2" charset="-122"/>
                <a:ea typeface="宋体" pitchFamily="2" charset="-122"/>
                <a:cs typeface="新細明體" pitchFamily="18" charset="-120"/>
              </a:rPr>
              <a:t>的</a:t>
            </a:r>
            <a:r>
              <a:rPr lang="zh-CN" altLang="en-US" sz="2000">
                <a:solidFill>
                  <a:schemeClr val="tx1"/>
                </a:solidFill>
                <a:latin typeface="宋体" pitchFamily="2" charset="-122"/>
                <a:ea typeface="宋体" pitchFamily="2" charset="-122"/>
                <a:cs typeface="新細明體" pitchFamily="18" charset="-120"/>
              </a:rPr>
              <a:t>供给</a:t>
            </a:r>
            <a:r>
              <a:rPr lang="zh-CN" altLang="en-US" sz="2000">
                <a:solidFill>
                  <a:schemeClr val="tx1"/>
                </a:solidFill>
                <a:latin typeface="宋体" pitchFamily="2" charset="-122"/>
                <a:ea typeface="宋体" pitchFamily="2" charset="-122"/>
                <a:cs typeface="新細明體" pitchFamily="18" charset="-120"/>
              </a:rPr>
              <a:t>,</a:t>
            </a:r>
            <a:r>
              <a:rPr lang="zh-CN" altLang="en-US" sz="2000">
                <a:solidFill>
                  <a:schemeClr val="tx1"/>
                </a:solidFill>
                <a:latin typeface="宋体" pitchFamily="2" charset="-122"/>
                <a:ea typeface="宋体" pitchFamily="2" charset="-122"/>
                <a:cs typeface="新細明體" pitchFamily="18" charset="-120"/>
              </a:rPr>
              <a:t>不</a:t>
            </a:r>
            <a:r>
              <a:rPr lang="zh-CN" altLang="en-US" sz="2000">
                <a:solidFill>
                  <a:schemeClr val="tx1"/>
                </a:solidFill>
                <a:latin typeface="宋体" pitchFamily="2" charset="-122"/>
                <a:ea typeface="宋体" pitchFamily="2" charset="-122"/>
                <a:cs typeface="新細明體" pitchFamily="18" charset="-120"/>
              </a:rPr>
              <a:t>纳</a:t>
            </a:r>
            <a:r>
              <a:rPr lang="zh-CN" altLang="en-US" sz="2000">
                <a:solidFill>
                  <a:schemeClr val="tx1"/>
                </a:solidFill>
                <a:latin typeface="宋体" pitchFamily="2" charset="-122"/>
                <a:ea typeface="宋体" pitchFamily="2" charset="-122"/>
                <a:cs typeface="新細明體" pitchFamily="18" charset="-120"/>
              </a:rPr>
              <a:t>入</a:t>
            </a:r>
            <a:r>
              <a:rPr lang="zh-CN" altLang="en-US" sz="2000">
                <a:solidFill>
                  <a:schemeClr val="tx1"/>
                </a:solidFill>
                <a:latin typeface="宋体" pitchFamily="2" charset="-122"/>
                <a:ea typeface="宋体" pitchFamily="2" charset="-122"/>
                <a:cs typeface="新細明體" pitchFamily="18" charset="-120"/>
              </a:rPr>
              <a:t>计划考量</a:t>
            </a:r>
            <a:r>
              <a:rPr lang="zh-CN" altLang="en-US" sz="2000">
                <a:solidFill>
                  <a:schemeClr val="tx1"/>
                </a:solidFill>
                <a:latin typeface="宋体" pitchFamily="2" charset="-122"/>
                <a:ea typeface="宋体" pitchFamily="2" charset="-122"/>
                <a:cs typeface="新細明體" pitchFamily="18" charset="-120"/>
              </a:rPr>
              <a:t>(</a:t>
            </a:r>
            <a:r>
              <a:rPr lang="zh-CN" altLang="en-US" sz="2000">
                <a:solidFill>
                  <a:schemeClr val="tx1"/>
                </a:solidFill>
                <a:latin typeface="宋体" pitchFamily="2" charset="-122"/>
                <a:ea typeface="宋体" pitchFamily="2" charset="-122"/>
                <a:cs typeface="新細明體" pitchFamily="18" charset="-120"/>
              </a:rPr>
              <a:t>因为委托方已有一张工单作为供给</a:t>
            </a:r>
            <a:r>
              <a:rPr lang="zh-CN" altLang="en-US" sz="2000">
                <a:solidFill>
                  <a:schemeClr val="tx1"/>
                </a:solidFill>
                <a:latin typeface="宋体" pitchFamily="2" charset="-122"/>
                <a:ea typeface="宋体" pitchFamily="2" charset="-122"/>
                <a:cs typeface="新細明體" pitchFamily="18" charset="-120"/>
              </a:rPr>
              <a:t>)</a:t>
            </a:r>
            <a:endParaRPr lang="zh-CN" altLang="en-US" sz="2000">
              <a:solidFill>
                <a:schemeClr val="tx1"/>
              </a:solidFill>
              <a:latin typeface="宋体" pitchFamily="2" charset="-122"/>
              <a:ea typeface="宋体" pitchFamily="2" charset="-122"/>
              <a:cs typeface="新細明體" pitchFamily="18" charset="-120"/>
            </a:endParaRPr>
          </a:p>
        </p:txBody>
      </p:sp>
      <p:pic>
        <p:nvPicPr>
          <p:cNvPr id="480" name="图片"/>
          <p:cNvPicPr>
            <a:picLocks noChangeAspect="1"/>
          </p:cNvPicPr>
          <p:nvPr/>
        </p:nvPicPr>
        <p:blipFill>
          <a:blip r:embed="rId1" cstate="print"/>
          <a:stretch>
            <a:fillRect/>
          </a:stretch>
        </p:blipFill>
        <p:spPr>
          <a:xfrm rot="0">
            <a:off x="-6350" y="5249862"/>
            <a:ext cx="2603500" cy="1608137"/>
          </a:xfrm>
          <a:prstGeom prst="rect"/>
          <a:noFill/>
          <a:ln w="9525" cmpd="sng" cap="flat">
            <a:noFill/>
            <a:prstDash val="solid"/>
            <a:miter/>
          </a:ln>
        </p:spPr>
      </p:pic>
      <p:pic>
        <p:nvPicPr>
          <p:cNvPr id="481" name="图片"/>
          <p:cNvPicPr>
            <a:picLocks noChangeAspect="1"/>
          </p:cNvPicPr>
          <p:nvPr/>
        </p:nvPicPr>
        <p:blipFill>
          <a:blip r:embed="rId2" cstate="print"/>
          <a:stretch>
            <a:fillRect/>
          </a:stretch>
        </p:blipFill>
        <p:spPr>
          <a:xfrm rot="0">
            <a:off x="3419475" y="2171700"/>
            <a:ext cx="5591175" cy="3994150"/>
          </a:xfrm>
          <a:prstGeom prst="rect"/>
          <a:noFill/>
          <a:ln w="9525" cmpd="sng" cap="flat">
            <a:noFill/>
            <a:prstDash val="solid"/>
            <a:miter/>
          </a:ln>
        </p:spPr>
      </p:pic>
    </p:spTree>
    <p:extLst>
      <p:ext uri="{BB962C8B-B14F-4D97-AF65-F5344CB8AC3E}">
        <p14:creationId xmlns:p14="http://schemas.microsoft.com/office/powerpoint/2010/main" val="103653131"/>
      </p:ext>
    </p:extLst>
  </p:cSld>
  <p:clrMapOvr>
    <a:masterClrMapping/>
  </p:clrMapOvr>
  <p:transition/>
</p:sld>
</file>

<file path=ppt/slides/slide8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82"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a:solidFill>
                  <a:schemeClr val="tx1"/>
                </a:solidFill>
                <a:latin typeface="黑体" pitchFamily="2" charset="-122"/>
                <a:ea typeface="黑体" pitchFamily="2" charset="-122"/>
                <a:cs typeface="新細明體" pitchFamily="18" charset="-120"/>
              </a:rPr>
              <a:t>日常作业操作</a:t>
            </a:r>
            <a:r>
              <a:rPr lang="zh-CN" altLang="en-US" sz="3600">
                <a:solidFill>
                  <a:schemeClr val="tx1"/>
                </a:solidFill>
                <a:latin typeface="黑体" pitchFamily="2" charset="-122"/>
                <a:ea typeface="黑体" pitchFamily="2" charset="-122"/>
                <a:cs typeface="新細明體" pitchFamily="18" charset="-120"/>
              </a:rPr>
              <a:t>－</a:t>
            </a:r>
            <a:r>
              <a:rPr lang="zh-CN" altLang="en-US" sz="3600">
                <a:solidFill>
                  <a:schemeClr val="tx1"/>
                </a:solidFill>
                <a:latin typeface="黑体" pitchFamily="2" charset="-122"/>
                <a:ea typeface="黑体" pitchFamily="2" charset="-122"/>
                <a:cs typeface="新細明體" pitchFamily="18" charset="-120"/>
              </a:rPr>
              <a:t>维护工单</a:t>
            </a:r>
            <a:endParaRPr lang="zh-CN" altLang="en-US" sz="3600">
              <a:solidFill>
                <a:schemeClr val="tx1"/>
              </a:solidFill>
              <a:latin typeface="黑体" pitchFamily="2" charset="-122"/>
              <a:ea typeface="黑体" pitchFamily="2" charset="-122"/>
              <a:cs typeface="新細明體" pitchFamily="18" charset="-120"/>
            </a:endParaRPr>
          </a:p>
        </p:txBody>
      </p:sp>
      <p:sp>
        <p:nvSpPr>
          <p:cNvPr id="483" name="矩形"/>
          <p:cNvSpPr>
            <a:spLocks/>
          </p:cNvSpPr>
          <p:nvPr/>
        </p:nvSpPr>
        <p:spPr>
          <a:xfrm rot="0">
            <a:off x="468312" y="1270000"/>
            <a:ext cx="8567738" cy="4000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：生产方工单，</a:t>
            </a:r>
            <a:r>
              <a:rPr lang="zh-CN" altLang="en-US" sz="2000">
                <a:solidFill>
                  <a:schemeClr val="tx1"/>
                </a:solidFill>
                <a:latin typeface="微软雅黑" pitchFamily="34" charset="-122"/>
                <a:ea typeface="微软雅黑" pitchFamily="34" charset="-122"/>
                <a:cs typeface="新細明體" pitchFamily="18" charset="-120"/>
              </a:rPr>
              <a:t>由转移单</a:t>
            </a:r>
            <a:r>
              <a:rPr lang="zh-CN" altLang="en-US" sz="2000">
                <a:solidFill>
                  <a:schemeClr val="tx1"/>
                </a:solidFill>
                <a:latin typeface="微软雅黑" pitchFamily="34" charset="-122"/>
                <a:ea typeface="微软雅黑" pitchFamily="34" charset="-122"/>
                <a:cs typeface="新細明體" pitchFamily="18" charset="-120"/>
              </a:rPr>
              <a:t>审核或工单委外分配自动生成。</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84" name="矩形"/>
          <p:cNvSpPr>
            <a:spLocks/>
          </p:cNvSpPr>
          <p:nvPr/>
        </p:nvSpPr>
        <p:spPr>
          <a:xfrm rot="0">
            <a:off x="71437" y="1784350"/>
            <a:ext cx="3132137" cy="2862262"/>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需求信息为委托</a:t>
            </a:r>
            <a:r>
              <a:rPr lang="zh-CN" altLang="en-US" sz="2000">
                <a:solidFill>
                  <a:schemeClr val="tx1"/>
                </a:solidFill>
                <a:latin typeface="宋体" pitchFamily="2" charset="-122"/>
                <a:ea typeface="宋体" pitchFamily="2" charset="-122"/>
                <a:cs typeface="新細明體" pitchFamily="18" charset="-120"/>
              </a:rPr>
              <a:t>方转移单</a:t>
            </a:r>
            <a:r>
              <a:rPr lang="zh-CN" altLang="en-US" sz="2000">
                <a:solidFill>
                  <a:schemeClr val="tx1"/>
                </a:solidFill>
                <a:latin typeface="宋体" pitchFamily="2" charset="-122"/>
                <a:ea typeface="宋体" pitchFamily="2" charset="-122"/>
                <a:cs typeface="新細明體" pitchFamily="18" charset="-120"/>
              </a:rPr>
              <a:t>生成的调拨申请单</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生产</a:t>
            </a:r>
            <a:r>
              <a:rPr lang="zh-CN" altLang="en-US" sz="2000">
                <a:solidFill>
                  <a:schemeClr val="tx1"/>
                </a:solidFill>
                <a:latin typeface="宋体" pitchFamily="2" charset="-122"/>
                <a:ea typeface="宋体" pitchFamily="2" charset="-122"/>
                <a:cs typeface="新細明體" pitchFamily="18" charset="-120"/>
              </a:rPr>
              <a:t>方工单的</a:t>
            </a:r>
            <a:r>
              <a:rPr lang="zh-CN" altLang="en-US" sz="2000">
                <a:solidFill>
                  <a:schemeClr val="tx1"/>
                </a:solidFill>
                <a:latin typeface="宋体" pitchFamily="2" charset="-122"/>
                <a:ea typeface="宋体" pitchFamily="2" charset="-122"/>
                <a:cs typeface="新細明體" pitchFamily="18" charset="-120"/>
              </a:rPr>
              <a:t>材料为委托方工单的半成品</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如果当前品号没有设置主产品对应关系，则根据协同关系中的设置生成重工工单。</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endParaRPr lang="zh-CN" altLang="en-US" sz="2000">
              <a:solidFill>
                <a:schemeClr val="tx1"/>
              </a:solidFill>
              <a:latin typeface="宋体" pitchFamily="2" charset="-122"/>
              <a:ea typeface="宋体" pitchFamily="2" charset="-122"/>
              <a:cs typeface="新細明體" pitchFamily="18" charset="-120"/>
            </a:endParaRPr>
          </a:p>
        </p:txBody>
      </p:sp>
      <p:pic>
        <p:nvPicPr>
          <p:cNvPr id="485" name="图片"/>
          <p:cNvPicPr>
            <a:picLocks noChangeAspect="1"/>
          </p:cNvPicPr>
          <p:nvPr/>
        </p:nvPicPr>
        <p:blipFill>
          <a:blip r:embed="rId1" cstate="print"/>
          <a:stretch>
            <a:fillRect/>
          </a:stretch>
        </p:blipFill>
        <p:spPr>
          <a:xfrm rot="0">
            <a:off x="-6350" y="5249862"/>
            <a:ext cx="2603500" cy="1608137"/>
          </a:xfrm>
          <a:prstGeom prst="rect"/>
          <a:noFill/>
          <a:ln w="9525" cmpd="sng" cap="flat">
            <a:noFill/>
            <a:prstDash val="solid"/>
            <a:miter/>
          </a:ln>
        </p:spPr>
      </p:pic>
      <p:pic>
        <p:nvPicPr>
          <p:cNvPr id="486" name="图片"/>
          <p:cNvPicPr>
            <a:picLocks noChangeAspect="1"/>
          </p:cNvPicPr>
          <p:nvPr/>
        </p:nvPicPr>
        <p:blipFill>
          <a:blip r:embed="rId2" cstate="print"/>
          <a:stretch>
            <a:fillRect/>
          </a:stretch>
        </p:blipFill>
        <p:spPr>
          <a:xfrm rot="0">
            <a:off x="3203575" y="1854200"/>
            <a:ext cx="5840412" cy="4311650"/>
          </a:xfrm>
          <a:prstGeom prst="rect"/>
          <a:noFill/>
          <a:ln w="9525" cmpd="sng" cap="flat">
            <a:noFill/>
            <a:prstDash val="solid"/>
            <a:miter/>
          </a:ln>
        </p:spPr>
      </p:pic>
    </p:spTree>
    <p:extLst>
      <p:ext uri="{BB962C8B-B14F-4D97-AF65-F5344CB8AC3E}">
        <p14:creationId xmlns:p14="http://schemas.microsoft.com/office/powerpoint/2010/main" val="267053865"/>
      </p:ext>
    </p:extLst>
  </p:cSld>
  <p:clrMapOvr>
    <a:masterClrMapping/>
  </p:clrMapOvr>
  <p:transition/>
</p:sld>
</file>

<file path=ppt/slides/slide8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87"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a:solidFill>
                  <a:schemeClr val="tx1"/>
                </a:solidFill>
                <a:latin typeface="黑体" pitchFamily="2" charset="-122"/>
                <a:ea typeface="黑体" pitchFamily="2" charset="-122"/>
                <a:cs typeface="新細明體" pitchFamily="18" charset="-120"/>
              </a:rPr>
              <a:t>日常作业操作</a:t>
            </a:r>
            <a:r>
              <a:rPr lang="zh-CN" altLang="en-US" sz="3600">
                <a:solidFill>
                  <a:schemeClr val="tx1"/>
                </a:solidFill>
                <a:latin typeface="黑体" pitchFamily="2" charset="-122"/>
                <a:ea typeface="黑体" pitchFamily="2" charset="-122"/>
                <a:cs typeface="新細明體" pitchFamily="18" charset="-120"/>
              </a:rPr>
              <a:t>－</a:t>
            </a:r>
            <a:r>
              <a:rPr lang="zh-CN" altLang="en-US" sz="3600">
                <a:solidFill>
                  <a:schemeClr val="tx1"/>
                </a:solidFill>
                <a:latin typeface="黑体" pitchFamily="2" charset="-122"/>
                <a:ea typeface="黑体" pitchFamily="2" charset="-122"/>
                <a:cs typeface="新細明體" pitchFamily="18" charset="-120"/>
              </a:rPr>
              <a:t>工艺委外主产品调拨单</a:t>
            </a:r>
            <a:endParaRPr lang="zh-CN" altLang="en-US" sz="3600">
              <a:solidFill>
                <a:schemeClr val="tx1"/>
              </a:solidFill>
              <a:latin typeface="黑体" pitchFamily="2" charset="-122"/>
              <a:ea typeface="黑体" pitchFamily="2" charset="-122"/>
              <a:cs typeface="新細明體" pitchFamily="18" charset="-120"/>
            </a:endParaRPr>
          </a:p>
        </p:txBody>
      </p:sp>
      <p:sp>
        <p:nvSpPr>
          <p:cNvPr id="488" name="矩形"/>
          <p:cNvSpPr>
            <a:spLocks/>
          </p:cNvSpPr>
          <p:nvPr/>
        </p:nvSpPr>
        <p:spPr>
          <a:xfrm rot="0">
            <a:off x="468312" y="1270000"/>
            <a:ext cx="8567738" cy="708024"/>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
                <a:solidFill>
                  <a:schemeClr val="tx1"/>
                </a:solidFill>
                <a:latin typeface="微软雅黑" pitchFamily="34" charset="-122"/>
                <a:ea typeface="微软雅黑" pitchFamily="34" charset="-122"/>
                <a:cs typeface="新細明體" pitchFamily="18" charset="-120"/>
              </a:rPr>
              <a:t>作业目的</a:t>
            </a:r>
            <a:r>
              <a:rPr lang="zh-CN" altLang="en-US" sz="2000">
                <a:solidFill>
                  <a:schemeClr val="tx1"/>
                </a:solidFill>
                <a:latin typeface="微软雅黑" pitchFamily="34" charset="-122"/>
                <a:ea typeface="微软雅黑" pitchFamily="34" charset="-122"/>
                <a:cs typeface="新細明體" pitchFamily="18" charset="-120"/>
              </a:rPr>
              <a:t>：</a:t>
            </a:r>
            <a:r>
              <a:rPr lang="zh-CN" altLang="en-US" sz="2000">
                <a:solidFill>
                  <a:schemeClr val="tx1"/>
                </a:solidFill>
                <a:latin typeface="微软雅黑" pitchFamily="34" charset="-122"/>
                <a:ea typeface="微软雅黑" pitchFamily="34" charset="-122"/>
                <a:cs typeface="新細明體" pitchFamily="18" charset="-120"/>
              </a:rPr>
              <a:t>委托方工艺加工中的主产品通过此单据调拨给生产方</a:t>
            </a:r>
            <a:r>
              <a:rPr lang="zh-CN" altLang="en-US" sz="2000">
                <a:solidFill>
                  <a:schemeClr val="tx1"/>
                </a:solidFill>
                <a:latin typeface="微软雅黑" pitchFamily="34" charset="-122"/>
                <a:ea typeface="微软雅黑" pitchFamily="34" charset="-122"/>
                <a:cs typeface="新細明體" pitchFamily="18" charset="-120"/>
              </a:rPr>
              <a:t>,</a:t>
            </a:r>
            <a:r>
              <a:rPr lang="zh-CN" altLang="en-US" sz="2000">
                <a:solidFill>
                  <a:schemeClr val="tx1"/>
                </a:solidFill>
                <a:latin typeface="微软雅黑" pitchFamily="34" charset="-122"/>
                <a:ea typeface="微软雅黑" pitchFamily="34" charset="-122"/>
                <a:cs typeface="新細明體" pitchFamily="18" charset="-120"/>
              </a:rPr>
              <a:t>供生产方生产时做领用</a:t>
            </a:r>
            <a:r>
              <a:rPr lang="zh-CN" altLang="en-US" sz="2000">
                <a:solidFill>
                  <a:schemeClr val="tx1"/>
                </a:solidFill>
                <a:latin typeface="微软雅黑" pitchFamily="34" charset="-122"/>
                <a:ea typeface="微软雅黑" pitchFamily="34" charset="-122"/>
                <a:cs typeface="新細明體" pitchFamily="18" charset="-120"/>
              </a:rPr>
              <a:t>.</a:t>
            </a:r>
            <a:endParaRPr lang="zh-CN" altLang="en-US" sz="2000">
              <a:solidFill>
                <a:schemeClr val="tx1"/>
              </a:solidFill>
              <a:latin typeface="微软雅黑" pitchFamily="34" charset="-122"/>
              <a:ea typeface="微软雅黑" pitchFamily="34" charset="-122"/>
              <a:cs typeface="新細明體" pitchFamily="18" charset="-120"/>
            </a:endParaRPr>
          </a:p>
        </p:txBody>
      </p:sp>
      <p:sp>
        <p:nvSpPr>
          <p:cNvPr id="489" name="矩形"/>
          <p:cNvSpPr>
            <a:spLocks/>
          </p:cNvSpPr>
          <p:nvPr/>
        </p:nvSpPr>
        <p:spPr>
          <a:xfrm rot="0">
            <a:off x="22225" y="2047875"/>
            <a:ext cx="3133725" cy="1323975"/>
          </a:xfrm>
          <a:prstGeom prst="rect"/>
          <a:noFill/>
          <a:ln w="9525" cmpd="sng" cap="flat">
            <a:noFill/>
            <a:prstDash val="solid"/>
            <a:miter/>
          </a:ln>
        </p:spPr>
        <p:txBody>
          <a:bodyPr vert="horz" wrap="square" lIns="91440" tIns="45720" rIns="91440" bIns="45720" anchor="t" anchorCtr="0">
            <a:prstTxWarp prst="textNoShape"/>
          </a:bodyPr>
          <a:lstStyle/>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单据</a:t>
            </a:r>
            <a:r>
              <a:rPr lang="zh-CN" altLang="en-US" sz="2000">
                <a:solidFill>
                  <a:schemeClr val="tx1"/>
                </a:solidFill>
                <a:latin typeface="宋体" pitchFamily="2" charset="-122"/>
                <a:ea typeface="宋体" pitchFamily="2" charset="-122"/>
                <a:cs typeface="新細明體" pitchFamily="18" charset="-120"/>
              </a:rPr>
              <a:t>审核后会生成生产方的一张一般入库</a:t>
            </a:r>
            <a:r>
              <a:rPr lang="zh-CN" altLang="en-US" sz="2000">
                <a:solidFill>
                  <a:schemeClr val="tx1"/>
                </a:solidFill>
                <a:latin typeface="宋体" pitchFamily="2" charset="-122"/>
                <a:ea typeface="宋体" pitchFamily="2" charset="-122"/>
                <a:cs typeface="新細明體" pitchFamily="18" charset="-120"/>
              </a:rPr>
              <a:t>单</a:t>
            </a:r>
            <a:endParaRPr lang="zh-CN" altLang="en-US" sz="2000">
              <a:solidFill>
                <a:schemeClr val="tx1"/>
              </a:solidFill>
              <a:latin typeface="宋体" pitchFamily="2" charset="-122"/>
              <a:ea typeface="宋体" pitchFamily="2" charset="-122"/>
              <a:cs typeface="新細明體" pitchFamily="18" charset="-120"/>
            </a:endParaRPr>
          </a:p>
          <a:p>
            <a:pPr lvl="1" marL="358775" indent="-285750" algn="l">
              <a:lnSpc>
                <a:spcPct val="100000"/>
              </a:lnSpc>
              <a:spcBef>
                <a:spcPts val="0"/>
              </a:spcBef>
              <a:spcAft>
                <a:spcPts val="0"/>
              </a:spcAft>
              <a:buSzPct val="100000"/>
              <a:buFont typeface="Wingdings" pitchFamily="2" charset="2"/>
              <a:buChar char="n"/>
            </a:pPr>
            <a:r>
              <a:rPr lang="zh-CN" altLang="en-US" sz="2000">
                <a:solidFill>
                  <a:schemeClr val="tx1"/>
                </a:solidFill>
                <a:latin typeface="宋体" pitchFamily="2" charset="-122"/>
                <a:ea typeface="宋体" pitchFamily="2" charset="-122"/>
                <a:cs typeface="新細明體" pitchFamily="18" charset="-120"/>
              </a:rPr>
              <a:t>生产</a:t>
            </a:r>
            <a:r>
              <a:rPr lang="zh-CN" altLang="en-US" sz="2000">
                <a:solidFill>
                  <a:schemeClr val="tx1"/>
                </a:solidFill>
                <a:latin typeface="宋体" pitchFamily="2" charset="-122"/>
                <a:ea typeface="宋体" pitchFamily="2" charset="-122"/>
                <a:cs typeface="新細明體" pitchFamily="18" charset="-120"/>
              </a:rPr>
              <a:t>方后续生产时领用此半成品。</a:t>
            </a:r>
            <a:endParaRPr lang="zh-CN" altLang="en-US" sz="2000">
              <a:solidFill>
                <a:schemeClr val="tx1"/>
              </a:solidFill>
              <a:latin typeface="宋体" pitchFamily="2" charset="-122"/>
              <a:ea typeface="宋体" pitchFamily="2" charset="-122"/>
              <a:cs typeface="新細明體" pitchFamily="18" charset="-120"/>
            </a:endParaRPr>
          </a:p>
        </p:txBody>
      </p:sp>
      <p:pic>
        <p:nvPicPr>
          <p:cNvPr id="490" name="图片"/>
          <p:cNvPicPr>
            <a:picLocks noChangeAspect="1"/>
          </p:cNvPicPr>
          <p:nvPr/>
        </p:nvPicPr>
        <p:blipFill>
          <a:blip r:embed="rId1" cstate="print"/>
          <a:stretch>
            <a:fillRect/>
          </a:stretch>
        </p:blipFill>
        <p:spPr>
          <a:xfrm rot="0">
            <a:off x="0" y="5210175"/>
            <a:ext cx="2630487" cy="1647824"/>
          </a:xfrm>
          <a:prstGeom prst="rect"/>
          <a:noFill/>
          <a:ln w="9525" cmpd="sng" cap="flat">
            <a:noFill/>
            <a:prstDash val="solid"/>
            <a:miter/>
          </a:ln>
        </p:spPr>
      </p:pic>
      <p:pic>
        <p:nvPicPr>
          <p:cNvPr id="491" name="图片"/>
          <p:cNvPicPr>
            <a:picLocks noChangeAspect="1"/>
          </p:cNvPicPr>
          <p:nvPr/>
        </p:nvPicPr>
        <p:blipFill>
          <a:blip r:embed="rId2" cstate="print"/>
          <a:stretch>
            <a:fillRect/>
          </a:stretch>
        </p:blipFill>
        <p:spPr>
          <a:xfrm rot="0">
            <a:off x="3155950" y="2049462"/>
            <a:ext cx="5810250" cy="4187825"/>
          </a:xfrm>
          <a:prstGeom prst="rect"/>
          <a:noFill/>
          <a:ln w="9525" cmpd="sng" cap="flat">
            <a:noFill/>
            <a:prstDash val="solid"/>
            <a:miter/>
          </a:ln>
        </p:spPr>
      </p:pic>
      <p:pic>
        <p:nvPicPr>
          <p:cNvPr id="492" name="图片"/>
          <p:cNvPicPr>
            <a:picLocks noChangeAspect="1"/>
          </p:cNvPicPr>
          <p:nvPr/>
        </p:nvPicPr>
        <p:blipFill>
          <a:blip r:embed="rId3" cstate="print"/>
          <a:stretch>
            <a:fillRect/>
          </a:stretch>
        </p:blipFill>
        <p:spPr>
          <a:xfrm rot="0">
            <a:off x="3590925" y="2924175"/>
            <a:ext cx="5392737" cy="3768724"/>
          </a:xfrm>
          <a:prstGeom prst="rect"/>
          <a:noFill/>
          <a:ln w="9525" cmpd="sng" cap="flat">
            <a:noFill/>
            <a:prstDash val="solid"/>
            <a:miter/>
          </a:ln>
        </p:spPr>
      </p:pic>
    </p:spTree>
    <p:extLst>
      <p:ext uri="{BB962C8B-B14F-4D97-AF65-F5344CB8AC3E}">
        <p14:creationId xmlns:p14="http://schemas.microsoft.com/office/powerpoint/2010/main" val="12726052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2"/>
                                        </p:tgtEl>
                                        <p:attrNameLst>
                                          <p:attrName>style.visibility</p:attrName>
                                        </p:attrNameLst>
                                      </p:cBhvr>
                                      <p:to>
                                        <p:strVal val="visible"/>
                                      </p:to>
                                    </p:set>
                                    <p:anim calcmode="lin" valueType="num">
                                      <p:cBhvr additive="base">
                                        <p:cTn id="7" dur="500" fill="hold"/>
                                        <p:tgtEl>
                                          <p:spTgt spid="492"/>
                                        </p:tgtEl>
                                        <p:attrNameLst>
                                          <p:attrName>ppt_x</p:attrName>
                                        </p:attrNameLst>
                                      </p:cBhvr>
                                      <p:tavLst>
                                        <p:tav tm="0">
                                          <p:val>
                                            <p:strVal val="#ppt_x"/>
                                          </p:val>
                                        </p:tav>
                                        <p:tav tm="100000">
                                          <p:val>
                                            <p:strVal val="#ppt_x"/>
                                          </p:val>
                                        </p:tav>
                                      </p:tavLst>
                                    </p:anim>
                                    <p:anim calcmode="lin" valueType="num">
                                      <p:cBhvr additive="base">
                                        <p:cTn id="8" dur="500" fill="hold"/>
                                        <p:tgtEl>
                                          <p:spTgt spid="4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93" name="矩形"/>
          <p:cNvSpPr>
            <a:spLocks/>
          </p:cNvSpPr>
          <p:nvPr/>
        </p:nvSpPr>
        <p:spPr>
          <a:xfrm rot="0">
            <a:off x="1908175" y="665162"/>
            <a:ext cx="7235824"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3600">
                <a:solidFill>
                  <a:schemeClr val="bg1"/>
                </a:solidFill>
                <a:latin typeface="Microsoft JhengHei" pitchFamily="34" charset="-120"/>
                <a:ea typeface="Microsoft JhengHei" pitchFamily="34" charset="-120"/>
                <a:cs typeface="新細明體" pitchFamily="18" charset="-120"/>
              </a:rPr>
              <a:t>内容大纲</a:t>
            </a:r>
            <a:endParaRPr lang="zh-CN" altLang="en-US" sz="3600">
              <a:solidFill>
                <a:schemeClr val="bg1"/>
              </a:solidFill>
              <a:latin typeface="Microsoft JhengHei" pitchFamily="34" charset="-120"/>
              <a:ea typeface="Microsoft JhengHei" pitchFamily="34" charset="-120"/>
              <a:cs typeface="新細明體" pitchFamily="18" charset="-120"/>
            </a:endParaRPr>
          </a:p>
        </p:txBody>
      </p:sp>
      <p:sp>
        <p:nvSpPr>
          <p:cNvPr id="494" name="矩形"/>
          <p:cNvSpPr>
            <a:spLocks/>
          </p:cNvSpPr>
          <p:nvPr/>
        </p:nvSpPr>
        <p:spPr>
          <a:xfrm rot="0">
            <a:off x="539750" y="1773237"/>
            <a:ext cx="8135937" cy="4751387"/>
          </a:xfrm>
          <a:prstGeom prst="rect"/>
          <a:noFill/>
          <a:ln w="25400" cmpd="sng" cap="flat">
            <a:solidFill>
              <a:srgbClr val="CE3428"/>
            </a:solidFill>
            <a:prstDash val="sysDot"/>
            <a:miter/>
          </a:ln>
        </p:spPr>
      </p:sp>
      <p:pic>
        <p:nvPicPr>
          <p:cNvPr id="495" name="图片" descr="數字價值_P.png"/>
          <p:cNvPicPr>
            <a:picLocks noChangeAspect="1"/>
          </p:cNvPicPr>
          <p:nvPr/>
        </p:nvPicPr>
        <p:blipFill>
          <a:blip r:embed="rId1" cstate="print"/>
          <a:stretch>
            <a:fillRect/>
          </a:stretch>
        </p:blipFill>
        <p:spPr>
          <a:xfrm rot="0">
            <a:off x="4787900" y="4652962"/>
            <a:ext cx="3268662" cy="720725"/>
          </a:xfrm>
          <a:prstGeom prst="rect"/>
          <a:noFill/>
          <a:ln w="9525" cmpd="sng" cap="flat">
            <a:noFill/>
            <a:prstDash val="solid"/>
            <a:miter/>
          </a:ln>
        </p:spPr>
      </p:pic>
      <p:sp>
        <p:nvSpPr>
          <p:cNvPr id="496" name="矩形"/>
          <p:cNvSpPr>
            <a:spLocks/>
          </p:cNvSpPr>
          <p:nvPr/>
        </p:nvSpPr>
        <p:spPr>
          <a:xfrm rot="0">
            <a:off x="1071562" y="1928812"/>
            <a:ext cx="6215062" cy="3108325"/>
          </a:xfrm>
          <a:prstGeom prst="rect"/>
          <a:noFill/>
          <a:ln w="9525" cmpd="sng" cap="flat">
            <a:noFill/>
            <a:prstDash val="solid"/>
            <a:miter/>
          </a:ln>
        </p:spPr>
        <p:txBody>
          <a:bodyPr vert="horz" wrap="square" lIns="91440" tIns="45720" rIns="91440" bIns="45720" anchor="t" anchorCtr="0">
            <a:prstTxWarp prst="textNoShape"/>
          </a:bodyPr>
          <a:lstStyle/>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系统概述</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系统主</a:t>
            </a:r>
            <a:r>
              <a:rPr lang="zh-CN" altLang="en-US" sz="2800">
                <a:solidFill>
                  <a:srgbClr val="0D0D0D"/>
                </a:solidFill>
                <a:latin typeface="黑体" pitchFamily="2" charset="-122"/>
                <a:ea typeface="黑体" pitchFamily="2" charset="-122"/>
                <a:cs typeface="新細明體" pitchFamily="18" charset="-120"/>
              </a:rPr>
              <a:t>作业</a:t>
            </a:r>
            <a:r>
              <a:rPr lang="zh-CN" altLang="en-US" sz="2800">
                <a:solidFill>
                  <a:srgbClr val="0D0D0D"/>
                </a:solidFill>
                <a:latin typeface="黑体" pitchFamily="2" charset="-122"/>
                <a:ea typeface="黑体" pitchFamily="2" charset="-122"/>
                <a:cs typeface="新細明體" pitchFamily="18" charset="-120"/>
              </a:rPr>
              <a:t>流程说明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基础资料准备</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日常单据录入</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538ED5"/>
                </a:solidFill>
                <a:latin typeface="黑体" pitchFamily="2" charset="-122"/>
                <a:ea typeface="黑体" pitchFamily="2" charset="-122"/>
                <a:cs typeface="新細明體" pitchFamily="18" charset="-120"/>
              </a:rPr>
              <a:t>管理报表应用说明</a:t>
            </a:r>
            <a:endParaRPr lang="zh-CN" altLang="en-US" sz="2800">
              <a:solidFill>
                <a:srgbClr val="538ED5"/>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期初开账资料准备说明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实例操作讲解</a:t>
            </a:r>
            <a:endParaRPr lang="zh-CN" altLang="en-US" sz="2800">
              <a:solidFill>
                <a:srgbClr val="0D0D0D"/>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600236770"/>
      </p:ext>
    </p:extLst>
  </p:cSld>
  <p:clrMapOvr>
    <a:masterClrMapping/>
  </p:clrMapOvr>
  <p:transition/>
</p:sld>
</file>

<file path=ppt/slides/slide8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97"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管理报表</a:t>
            </a:r>
            <a:r>
              <a:rPr lang="zh-CN" altLang="en-US" sz="3600" b="1">
                <a:solidFill>
                  <a:schemeClr val="tx1"/>
                </a:solidFill>
                <a:latin typeface="Microsoft JhengHei" pitchFamily="34" charset="-120"/>
                <a:ea typeface="Microsoft JhengHei" pitchFamily="34" charset="-120"/>
                <a:cs typeface="新細明體" pitchFamily="18" charset="-120"/>
              </a:rPr>
              <a:t>明细</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498" name="矩形"/>
          <p:cNvSpPr>
            <a:spLocks/>
          </p:cNvSpPr>
          <p:nvPr/>
        </p:nvSpPr>
        <p:spPr>
          <a:xfrm rot="0">
            <a:off x="515937" y="1484312"/>
            <a:ext cx="8135937" cy="5040312"/>
          </a:xfrm>
          <a:prstGeom prst="rect"/>
          <a:noFill/>
          <a:ln w="25400" cmpd="sng" cap="flat">
            <a:solidFill>
              <a:srgbClr val="CE3428"/>
            </a:solidFill>
            <a:prstDash val="sysDot"/>
            <a:miter/>
          </a:ln>
        </p:spPr>
      </p:sp>
      <p:sp>
        <p:nvSpPr>
          <p:cNvPr id="499" name="矩形"/>
          <p:cNvSpPr>
            <a:spLocks/>
          </p:cNvSpPr>
          <p:nvPr/>
        </p:nvSpPr>
        <p:spPr>
          <a:xfrm rot="0">
            <a:off x="642937" y="1643062"/>
            <a:ext cx="7000875" cy="1477962"/>
          </a:xfrm>
          <a:prstGeom prst="rect"/>
          <a:noFill/>
          <a:ln w="9525" cmpd="sng" cap="flat">
            <a:noFill/>
            <a:prstDash val="solid"/>
            <a:miter/>
          </a:ln>
        </p:spPr>
        <p:txBody>
          <a:bodyPr vert="horz" wrap="square" lIns="91440" tIns="45720" rIns="91440" bIns="45720" anchor="t" anchorCtr="0">
            <a:prstTxWarp prst="textNoShape"/>
          </a:bodyPr>
          <a:lstStyle/>
          <a:p>
            <a:pPr marL="457200" indent="-457200" algn="l">
              <a:lnSpc>
                <a:spcPct val="150000"/>
              </a:lnSpc>
              <a:spcBef>
                <a:spcPts val="0"/>
              </a:spcBef>
              <a:spcAft>
                <a:spcPts val="0"/>
              </a:spcAft>
              <a:buSzPct val="100000"/>
              <a:buFont typeface="Wingdings" pitchFamily="2" charset="2"/>
              <a:buChar char="n"/>
            </a:pPr>
            <a:r>
              <a:rPr lang="zh-CN" altLang="en-US" sz="2000">
                <a:solidFill>
                  <a:schemeClr val="tx1"/>
                </a:solidFill>
                <a:latin typeface="微软雅黑" pitchFamily="34" charset="-122"/>
                <a:ea typeface="微软雅黑" pitchFamily="34" charset="-122"/>
                <a:cs typeface="新細明體" pitchFamily="18" charset="-120"/>
              </a:rPr>
              <a:t>工单工艺生产状况表</a:t>
            </a:r>
            <a:endParaRPr lang="zh-CN" altLang="en-US" sz="20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n"/>
            </a:pPr>
            <a:r>
              <a:rPr lang="zh-CN" altLang="en-US" sz="2000">
                <a:solidFill>
                  <a:schemeClr val="tx1"/>
                </a:solidFill>
                <a:latin typeface="微软雅黑" pitchFamily="34" charset="-122"/>
                <a:ea typeface="微软雅黑" pitchFamily="34" charset="-122"/>
                <a:cs typeface="新細明體" pitchFamily="18" charset="-120"/>
              </a:rPr>
              <a:t>工作中心在制品明细查询</a:t>
            </a:r>
            <a:endParaRPr lang="zh-CN" altLang="en-US" sz="20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n"/>
            </a:pPr>
            <a:r>
              <a:rPr lang="zh-CN" altLang="en-US" sz="2000">
                <a:solidFill>
                  <a:schemeClr val="tx1"/>
                </a:solidFill>
                <a:latin typeface="微软雅黑" pitchFamily="34" charset="-122"/>
                <a:ea typeface="微软雅黑" pitchFamily="34" charset="-122"/>
                <a:cs typeface="新細明體" pitchFamily="18" charset="-120"/>
              </a:rPr>
              <a:t>工单工艺数量检核表</a:t>
            </a:r>
            <a:endParaRPr lang="zh-CN" altLang="en-US" sz="2000">
              <a:solidFill>
                <a:schemeClr val="tx1"/>
              </a:solidFill>
              <a:latin typeface="微软雅黑" pitchFamily="34" charset="-122"/>
              <a:ea typeface="微软雅黑" pitchFamily="34" charset="-122"/>
              <a:cs typeface="新細明體" pitchFamily="18" charset="-120"/>
            </a:endParaRPr>
          </a:p>
        </p:txBody>
      </p:sp>
    </p:spTree>
    <p:extLst>
      <p:ext uri="{BB962C8B-B14F-4D97-AF65-F5344CB8AC3E}">
        <p14:creationId xmlns:p14="http://schemas.microsoft.com/office/powerpoint/2010/main" val="303851584"/>
      </p:ext>
    </p:extLst>
  </p:cSld>
  <p:clrMapOvr>
    <a:masterClrMapping/>
  </p:clrMapOvr>
  <p:transition/>
</p:sld>
</file>

<file path=ppt/slides/slide8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00"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管理报表</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工单工艺生产状况表</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501" name="矩形"/>
          <p:cNvSpPr>
            <a:spLocks/>
          </p:cNvSpPr>
          <p:nvPr/>
        </p:nvSpPr>
        <p:spPr>
          <a:xfrm rot="0">
            <a:off x="515937" y="1484312"/>
            <a:ext cx="8135937" cy="5040312"/>
          </a:xfrm>
          <a:prstGeom prst="rect"/>
          <a:noFill/>
          <a:ln w="25400" cmpd="sng" cap="flat">
            <a:solidFill>
              <a:srgbClr val="CE3428"/>
            </a:solidFill>
            <a:prstDash val="sysDot"/>
            <a:miter/>
          </a:ln>
        </p:spPr>
      </p:sp>
      <p:sp>
        <p:nvSpPr>
          <p:cNvPr id="502" name="矩形"/>
          <p:cNvSpPr>
            <a:spLocks/>
          </p:cNvSpPr>
          <p:nvPr/>
        </p:nvSpPr>
        <p:spPr>
          <a:xfrm rot="0">
            <a:off x="611187" y="1844675"/>
            <a:ext cx="2016125" cy="3170237"/>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0">
                <a:solidFill>
                  <a:srgbClr val="A5A5A5"/>
                </a:solidFill>
                <a:latin typeface="微软雅黑" pitchFamily="34" charset="-122"/>
                <a:ea typeface="微软雅黑" pitchFamily="34" charset="-122"/>
                <a:cs typeface="新細明體" pitchFamily="18" charset="-120"/>
              </a:rPr>
              <a:t>？</a:t>
            </a:r>
            <a:endParaRPr lang="zh-CN" altLang="en-US" sz="20000">
              <a:solidFill>
                <a:srgbClr val="A5A5A5"/>
              </a:solidFill>
              <a:latin typeface="微软雅黑" pitchFamily="34" charset="-122"/>
              <a:ea typeface="微软雅黑" pitchFamily="34" charset="-122"/>
              <a:cs typeface="新細明體" pitchFamily="18" charset="-120"/>
            </a:endParaRPr>
          </a:p>
        </p:txBody>
      </p:sp>
      <p:sp>
        <p:nvSpPr>
          <p:cNvPr id="503" name="矩形"/>
          <p:cNvSpPr>
            <a:spLocks/>
          </p:cNvSpPr>
          <p:nvPr/>
        </p:nvSpPr>
        <p:spPr>
          <a:xfrm rot="0">
            <a:off x="3203575" y="2708275"/>
            <a:ext cx="5545137" cy="1938337"/>
          </a:xfrm>
          <a:prstGeom prst="rect"/>
          <a:noFill/>
          <a:ln w="9525" cmpd="sng" cap="flat">
            <a:noFill/>
            <a:prstDash val="solid"/>
            <a:miter/>
          </a:ln>
        </p:spPr>
        <p:txBody>
          <a:bodyPr vert="horz" wrap="square" lIns="91440" tIns="45720" rIns="91440" bIns="45720" anchor="t" anchorCtr="0">
            <a:prstTxWarp prst="textNoShape"/>
          </a:bodyPr>
          <a:lstStyle/>
          <a:p>
            <a:pPr marL="457200" indent="-457200" algn="l">
              <a:lnSpc>
                <a:spcPct val="150000"/>
              </a:lnSpc>
              <a:spcBef>
                <a:spcPts val="0"/>
              </a:spcBef>
              <a:spcAft>
                <a:spcPts val="0"/>
              </a:spcAft>
              <a:buSzPct val="100000"/>
              <a:buFont typeface="Wingdings" pitchFamily="2" charset="2"/>
              <a:buChar char="n"/>
            </a:pPr>
            <a:r>
              <a:rPr lang="zh-CN" altLang="en-US" sz="2000">
                <a:solidFill>
                  <a:schemeClr val="tx1"/>
                </a:solidFill>
                <a:latin typeface="微软雅黑" pitchFamily="34" charset="-122"/>
                <a:ea typeface="微软雅黑" pitchFamily="34" charset="-122"/>
                <a:cs typeface="新細明體" pitchFamily="18" charset="-120"/>
              </a:rPr>
              <a:t>客户询问订单的生产进度如何？还有多少道工序没做完？完成了多少？</a:t>
            </a:r>
            <a:endParaRPr lang="zh-CN" altLang="en-US" sz="20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n"/>
            </a:pPr>
            <a:r>
              <a:rPr lang="zh-CN" altLang="en-US" sz="2000">
                <a:solidFill>
                  <a:schemeClr val="tx1"/>
                </a:solidFill>
                <a:latin typeface="微软雅黑" pitchFamily="34" charset="-122"/>
                <a:ea typeface="微软雅黑" pitchFamily="34" charset="-122"/>
                <a:cs typeface="新細明體" pitchFamily="18" charset="-120"/>
              </a:rPr>
              <a:t>哪一道工序的合格率比较高？</a:t>
            </a:r>
            <a:endParaRPr lang="zh-CN" altLang="en-US" sz="20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n"/>
            </a:pPr>
            <a:r>
              <a:rPr lang="zh-CN" altLang="en-US" sz="2000">
                <a:solidFill>
                  <a:schemeClr val="tx1"/>
                </a:solidFill>
                <a:latin typeface="微软雅黑" pitchFamily="34" charset="-122"/>
                <a:ea typeface="微软雅黑" pitchFamily="34" charset="-122"/>
                <a:cs typeface="新細明體" pitchFamily="18" charset="-120"/>
              </a:rPr>
              <a:t>哪一道工序的是产能瓶颈？</a:t>
            </a:r>
            <a:endParaRPr lang="zh-CN" altLang="en-US" sz="2000">
              <a:solidFill>
                <a:schemeClr val="tx1"/>
              </a:solidFill>
              <a:latin typeface="微软雅黑" pitchFamily="34" charset="-122"/>
              <a:ea typeface="微软雅黑" pitchFamily="34" charset="-122"/>
              <a:cs typeface="新細明體" pitchFamily="18" charset="-120"/>
            </a:endParaRPr>
          </a:p>
        </p:txBody>
      </p:sp>
    </p:spTree>
    <p:extLst>
      <p:ext uri="{BB962C8B-B14F-4D97-AF65-F5344CB8AC3E}">
        <p14:creationId xmlns:p14="http://schemas.microsoft.com/office/powerpoint/2010/main" val="20438234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3"/>
                                        </p:tgtEl>
                                        <p:attrNameLst>
                                          <p:attrName>style.visibility</p:attrName>
                                        </p:attrNameLst>
                                      </p:cBhvr>
                                      <p:to>
                                        <p:strVal val="visible"/>
                                      </p:to>
                                    </p:set>
                                    <p:animEffect transition="in" filter="dissolve">
                                      <p:cBhvr>
                                        <p:cTn id="7" dur="500"/>
                                        <p:tgtEl>
                                          <p:spTgt spid="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 grpId="0"/>
    </p:bldLst>
  </p:timing>
</p:sld>
</file>

<file path=ppt/slides/slide8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04"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工单工艺生产状况表</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505" name="图片"/>
          <p:cNvPicPr>
            <a:picLocks noChangeAspect="1"/>
          </p:cNvPicPr>
          <p:nvPr/>
        </p:nvPicPr>
        <p:blipFill>
          <a:blip r:embed="rId1" cstate="print"/>
          <a:stretch>
            <a:fillRect/>
          </a:stretch>
        </p:blipFill>
        <p:spPr>
          <a:xfrm rot="0">
            <a:off x="214312" y="1700212"/>
            <a:ext cx="8715375" cy="4514850"/>
          </a:xfrm>
          <a:prstGeom prst="rect"/>
          <a:noFill/>
          <a:ln w="9525" cmpd="sng" cap="flat">
            <a:noFill/>
            <a:prstDash val="solid"/>
            <a:miter/>
          </a:ln>
        </p:spPr>
      </p:pic>
    </p:spTree>
    <p:extLst>
      <p:ext uri="{BB962C8B-B14F-4D97-AF65-F5344CB8AC3E}">
        <p14:creationId xmlns:p14="http://schemas.microsoft.com/office/powerpoint/2010/main" val="1805738576"/>
      </p:ext>
    </p:extLst>
  </p:cSld>
  <p:clrMapOvr>
    <a:masterClrMapping/>
  </p:clrMapOvr>
  <p:transition/>
</p:sld>
</file>

<file path=ppt/slides/slide8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06"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工单工艺生产状况表</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507" name="图片"/>
          <p:cNvPicPr>
            <a:picLocks noChangeAspect="1"/>
          </p:cNvPicPr>
          <p:nvPr/>
        </p:nvPicPr>
        <p:blipFill>
          <a:blip r:embed="rId1" cstate="print"/>
          <a:stretch>
            <a:fillRect/>
          </a:stretch>
        </p:blipFill>
        <p:spPr>
          <a:xfrm rot="0">
            <a:off x="755650" y="1557337"/>
            <a:ext cx="7923212" cy="4248150"/>
          </a:xfrm>
          <a:prstGeom prst="rect"/>
          <a:noFill/>
          <a:ln w="9525" cmpd="sng" cap="flat">
            <a:noFill/>
            <a:prstDash val="solid"/>
            <a:miter/>
          </a:ln>
        </p:spPr>
      </p:pic>
      <p:pic>
        <p:nvPicPr>
          <p:cNvPr id="508" name="图片"/>
          <p:cNvPicPr>
            <a:picLocks noChangeAspect="1"/>
          </p:cNvPicPr>
          <p:nvPr/>
        </p:nvPicPr>
        <p:blipFill>
          <a:blip r:embed="rId2" cstate="print"/>
          <a:stretch>
            <a:fillRect/>
          </a:stretch>
        </p:blipFill>
        <p:spPr>
          <a:xfrm rot="0">
            <a:off x="900112" y="2781300"/>
            <a:ext cx="7967662" cy="3671887"/>
          </a:xfrm>
          <a:prstGeom prst="rect"/>
          <a:noFill/>
          <a:ln w="9525" cmpd="sng" cap="flat">
            <a:noFill/>
            <a:prstDash val="solid"/>
            <a:miter/>
          </a:ln>
        </p:spPr>
      </p:pic>
      <p:pic>
        <p:nvPicPr>
          <p:cNvPr id="509" name="图片"/>
          <p:cNvPicPr>
            <a:picLocks noChangeAspect="1"/>
          </p:cNvPicPr>
          <p:nvPr/>
        </p:nvPicPr>
        <p:blipFill>
          <a:blip r:embed="rId3" cstate="print"/>
          <a:stretch>
            <a:fillRect/>
          </a:stretch>
        </p:blipFill>
        <p:spPr>
          <a:xfrm rot="0">
            <a:off x="1066800" y="3365499"/>
            <a:ext cx="7945437" cy="3665537"/>
          </a:xfrm>
          <a:prstGeom prst="rect"/>
          <a:noFill/>
          <a:ln w="9525" cmpd="sng" cap="flat">
            <a:noFill/>
            <a:prstDash val="solid"/>
            <a:miter/>
          </a:ln>
        </p:spPr>
      </p:pic>
    </p:spTree>
    <p:extLst>
      <p:ext uri="{BB962C8B-B14F-4D97-AF65-F5344CB8AC3E}">
        <p14:creationId xmlns:p14="http://schemas.microsoft.com/office/powerpoint/2010/main" val="16624692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8"/>
                                        </p:tgtEl>
                                        <p:attrNameLst>
                                          <p:attrName>style.visibility</p:attrName>
                                        </p:attrNameLst>
                                      </p:cBhvr>
                                      <p:to>
                                        <p:strVal val="visible"/>
                                      </p:to>
                                    </p:set>
                                    <p:anim calcmode="lin" valueType="num">
                                      <p:cBhvr additive="base">
                                        <p:cTn id="7" dur="500" fill="hold"/>
                                        <p:tgtEl>
                                          <p:spTgt spid="508"/>
                                        </p:tgtEl>
                                        <p:attrNameLst>
                                          <p:attrName>ppt_x</p:attrName>
                                        </p:attrNameLst>
                                      </p:cBhvr>
                                      <p:tavLst>
                                        <p:tav tm="0">
                                          <p:val>
                                            <p:strVal val="#ppt_x"/>
                                          </p:val>
                                        </p:tav>
                                        <p:tav tm="100000">
                                          <p:val>
                                            <p:strVal val="#ppt_x"/>
                                          </p:val>
                                        </p:tav>
                                      </p:tavLst>
                                    </p:anim>
                                    <p:anim calcmode="lin" valueType="num">
                                      <p:cBhvr additive="base">
                                        <p:cTn id="8" dur="500" fill="hold"/>
                                        <p:tgtEl>
                                          <p:spTgt spid="50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9"/>
                                        </p:tgtEl>
                                        <p:attrNameLst>
                                          <p:attrName>style.visibility</p:attrName>
                                        </p:attrNameLst>
                                      </p:cBhvr>
                                      <p:to>
                                        <p:strVal val="visible"/>
                                      </p:to>
                                    </p:set>
                                    <p:anim calcmode="lin" valueType="num">
                                      <p:cBhvr additive="base">
                                        <p:cTn id="13" dur="500" fill="hold"/>
                                        <p:tgtEl>
                                          <p:spTgt spid="509"/>
                                        </p:tgtEl>
                                        <p:attrNameLst>
                                          <p:attrName>ppt_x</p:attrName>
                                        </p:attrNameLst>
                                      </p:cBhvr>
                                      <p:tavLst>
                                        <p:tav tm="0">
                                          <p:val>
                                            <p:strVal val="#ppt_x"/>
                                          </p:val>
                                        </p:tav>
                                        <p:tav tm="100000">
                                          <p:val>
                                            <p:strVal val="#ppt_x"/>
                                          </p:val>
                                        </p:tav>
                                      </p:tavLst>
                                    </p:anim>
                                    <p:anim calcmode="lin" valueType="num">
                                      <p:cBhvr additive="base">
                                        <p:cTn id="14" dur="500" fill="hold"/>
                                        <p:tgtEl>
                                          <p:spTgt spid="5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10"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管理报表</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工作中心在制品明细查询</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511" name="矩形"/>
          <p:cNvSpPr>
            <a:spLocks/>
          </p:cNvSpPr>
          <p:nvPr/>
        </p:nvSpPr>
        <p:spPr>
          <a:xfrm rot="0">
            <a:off x="515937" y="1484312"/>
            <a:ext cx="8135937" cy="5040312"/>
          </a:xfrm>
          <a:prstGeom prst="rect"/>
          <a:noFill/>
          <a:ln w="25400" cmpd="sng" cap="flat">
            <a:solidFill>
              <a:srgbClr val="CE3428"/>
            </a:solidFill>
            <a:prstDash val="sysDot"/>
            <a:miter/>
          </a:ln>
        </p:spPr>
      </p:sp>
      <p:sp>
        <p:nvSpPr>
          <p:cNvPr id="512" name="矩形"/>
          <p:cNvSpPr>
            <a:spLocks/>
          </p:cNvSpPr>
          <p:nvPr/>
        </p:nvSpPr>
        <p:spPr>
          <a:xfrm rot="0">
            <a:off x="611187" y="1844675"/>
            <a:ext cx="2016125" cy="3170237"/>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0">
                <a:solidFill>
                  <a:srgbClr val="A5A5A5"/>
                </a:solidFill>
                <a:latin typeface="微软雅黑" pitchFamily="34" charset="-122"/>
                <a:ea typeface="微软雅黑" pitchFamily="34" charset="-122"/>
                <a:cs typeface="新細明體" pitchFamily="18" charset="-120"/>
              </a:rPr>
              <a:t>？</a:t>
            </a:r>
            <a:endParaRPr lang="zh-CN" altLang="en-US" sz="20000">
              <a:solidFill>
                <a:srgbClr val="A5A5A5"/>
              </a:solidFill>
              <a:latin typeface="微软雅黑" pitchFamily="34" charset="-122"/>
              <a:ea typeface="微软雅黑" pitchFamily="34" charset="-122"/>
              <a:cs typeface="新細明體" pitchFamily="18" charset="-120"/>
            </a:endParaRPr>
          </a:p>
        </p:txBody>
      </p:sp>
      <p:sp>
        <p:nvSpPr>
          <p:cNvPr id="513" name="矩形"/>
          <p:cNvSpPr>
            <a:spLocks/>
          </p:cNvSpPr>
          <p:nvPr/>
        </p:nvSpPr>
        <p:spPr>
          <a:xfrm rot="0">
            <a:off x="3203575" y="2708275"/>
            <a:ext cx="5545137" cy="1477962"/>
          </a:xfrm>
          <a:prstGeom prst="rect"/>
          <a:noFill/>
          <a:ln w="9525" cmpd="sng" cap="flat">
            <a:noFill/>
            <a:prstDash val="solid"/>
            <a:miter/>
          </a:ln>
        </p:spPr>
        <p:txBody>
          <a:bodyPr vert="horz" wrap="square" lIns="91440" tIns="45720" rIns="91440" bIns="45720" anchor="t" anchorCtr="0">
            <a:prstTxWarp prst="textNoShape"/>
          </a:bodyPr>
          <a:lstStyle/>
          <a:p>
            <a:pPr marL="457200" indent="-457200" algn="l">
              <a:lnSpc>
                <a:spcPct val="150000"/>
              </a:lnSpc>
              <a:spcBef>
                <a:spcPts val="0"/>
              </a:spcBef>
              <a:spcAft>
                <a:spcPts val="0"/>
              </a:spcAft>
              <a:buSzPct val="100000"/>
              <a:buFont typeface="Wingdings" pitchFamily="2" charset="2"/>
              <a:buChar char="n"/>
            </a:pPr>
            <a:r>
              <a:rPr lang="zh-CN" altLang="en-US" sz="2000">
                <a:solidFill>
                  <a:schemeClr val="tx1"/>
                </a:solidFill>
                <a:latin typeface="微软雅黑" pitchFamily="34" charset="-122"/>
                <a:ea typeface="微软雅黑" pitchFamily="34" charset="-122"/>
                <a:cs typeface="新細明體" pitchFamily="18" charset="-120"/>
              </a:rPr>
              <a:t>产线目前的生产任务有哪些工单？各自的产品以及加工工艺是什么？</a:t>
            </a:r>
            <a:endParaRPr lang="zh-CN" altLang="en-US" sz="20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n"/>
            </a:pPr>
            <a:r>
              <a:rPr lang="zh-CN" altLang="en-US" sz="2000">
                <a:solidFill>
                  <a:schemeClr val="tx1"/>
                </a:solidFill>
                <a:latin typeface="微软雅黑" pitchFamily="34" charset="-122"/>
                <a:ea typeface="微软雅黑" pitchFamily="34" charset="-122"/>
                <a:cs typeface="新細明體" pitchFamily="18" charset="-120"/>
              </a:rPr>
              <a:t>在制数量有多少？</a:t>
            </a:r>
            <a:endParaRPr lang="zh-CN" altLang="en-US" sz="2000">
              <a:solidFill>
                <a:schemeClr val="tx1"/>
              </a:solidFill>
              <a:latin typeface="微软雅黑" pitchFamily="34" charset="-122"/>
              <a:ea typeface="微软雅黑" pitchFamily="34" charset="-122"/>
              <a:cs typeface="新細明體" pitchFamily="18" charset="-120"/>
            </a:endParaRPr>
          </a:p>
        </p:txBody>
      </p:sp>
    </p:spTree>
    <p:extLst>
      <p:ext uri="{BB962C8B-B14F-4D97-AF65-F5344CB8AC3E}">
        <p14:creationId xmlns:p14="http://schemas.microsoft.com/office/powerpoint/2010/main" val="15117562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3"/>
                                        </p:tgtEl>
                                        <p:attrNameLst>
                                          <p:attrName>style.visibility</p:attrName>
                                        </p:attrNameLst>
                                      </p:cBhvr>
                                      <p:to>
                                        <p:strVal val="visible"/>
                                      </p:to>
                                    </p:set>
                                    <p:animEffect transition="in" filter="dissolve">
                                      <p:cBhvr>
                                        <p:cTn id="7" dur="500"/>
                                        <p:tgtEl>
                                          <p:spTgt spid="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 grpId="0"/>
    </p:bldLst>
  </p:timing>
</p:sld>
</file>

<file path=ppt/slides/slide9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14"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工作中心在制品明细查询</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515" name="图片"/>
          <p:cNvPicPr>
            <a:picLocks noChangeAspect="1"/>
          </p:cNvPicPr>
          <p:nvPr/>
        </p:nvPicPr>
        <p:blipFill>
          <a:blip r:embed="rId1" cstate="print"/>
          <a:stretch>
            <a:fillRect/>
          </a:stretch>
        </p:blipFill>
        <p:spPr>
          <a:xfrm rot="0">
            <a:off x="611187" y="1700212"/>
            <a:ext cx="8124825" cy="3457574"/>
          </a:xfrm>
          <a:prstGeom prst="rect"/>
          <a:noFill/>
          <a:ln w="9525" cmpd="sng" cap="flat">
            <a:noFill/>
            <a:prstDash val="solid"/>
            <a:miter/>
          </a:ln>
        </p:spPr>
      </p:pic>
    </p:spTree>
    <p:extLst>
      <p:ext uri="{BB962C8B-B14F-4D97-AF65-F5344CB8AC3E}">
        <p14:creationId xmlns:p14="http://schemas.microsoft.com/office/powerpoint/2010/main" val="584683112"/>
      </p:ext>
    </p:extLst>
  </p:cSld>
  <p:clrMapOvr>
    <a:masterClrMapping/>
  </p:clrMapOvr>
  <p:transition/>
</p:sld>
</file>

<file path=ppt/slides/slide9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16"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工作中心在制品明细查询</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517" name="图片"/>
          <p:cNvPicPr>
            <a:picLocks noChangeAspect="1"/>
          </p:cNvPicPr>
          <p:nvPr/>
        </p:nvPicPr>
        <p:blipFill>
          <a:blip r:embed="rId1" cstate="print"/>
          <a:stretch>
            <a:fillRect/>
          </a:stretch>
        </p:blipFill>
        <p:spPr>
          <a:xfrm rot="0">
            <a:off x="684212" y="1484312"/>
            <a:ext cx="8189913" cy="4392612"/>
          </a:xfrm>
          <a:prstGeom prst="rect"/>
          <a:noFill/>
          <a:ln w="9525" cmpd="sng" cap="flat">
            <a:noFill/>
            <a:prstDash val="solid"/>
            <a:miter/>
          </a:ln>
        </p:spPr>
      </p:pic>
    </p:spTree>
    <p:extLst>
      <p:ext uri="{BB962C8B-B14F-4D97-AF65-F5344CB8AC3E}">
        <p14:creationId xmlns:p14="http://schemas.microsoft.com/office/powerpoint/2010/main" val="1019760749"/>
      </p:ext>
    </p:extLst>
  </p:cSld>
  <p:clrMapOvr>
    <a:masterClrMapping/>
  </p:clrMapOvr>
  <p:transition/>
</p:sld>
</file>

<file path=ppt/slides/slide9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18"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管理报表</a:t>
            </a:r>
            <a:r>
              <a:rPr lang="zh-CN" altLang="en-US" sz="3600" b="1">
                <a:solidFill>
                  <a:schemeClr val="tx1"/>
                </a:solidFill>
                <a:latin typeface="Microsoft JhengHei" pitchFamily="34" charset="-120"/>
                <a:ea typeface="Microsoft JhengHei" pitchFamily="34" charset="-120"/>
                <a:cs typeface="新細明體" pitchFamily="18" charset="-120"/>
              </a:rPr>
              <a:t>－</a:t>
            </a:r>
            <a:r>
              <a:rPr lang="zh-CN" altLang="en-US" sz="3600" b="1">
                <a:solidFill>
                  <a:schemeClr val="tx1"/>
                </a:solidFill>
                <a:latin typeface="Microsoft JhengHei" pitchFamily="34" charset="-120"/>
                <a:ea typeface="Microsoft JhengHei" pitchFamily="34" charset="-120"/>
                <a:cs typeface="新細明體" pitchFamily="18" charset="-120"/>
              </a:rPr>
              <a:t>工单工艺数量检核表</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519" name="矩形"/>
          <p:cNvSpPr>
            <a:spLocks/>
          </p:cNvSpPr>
          <p:nvPr/>
        </p:nvSpPr>
        <p:spPr>
          <a:xfrm rot="0">
            <a:off x="515937" y="1484312"/>
            <a:ext cx="8135937" cy="5040312"/>
          </a:xfrm>
          <a:prstGeom prst="rect"/>
          <a:noFill/>
          <a:ln w="25400" cmpd="sng" cap="flat">
            <a:solidFill>
              <a:srgbClr val="CE3428"/>
            </a:solidFill>
            <a:prstDash val="sysDot"/>
            <a:miter/>
          </a:ln>
        </p:spPr>
      </p:sp>
      <p:sp>
        <p:nvSpPr>
          <p:cNvPr id="520" name="矩形"/>
          <p:cNvSpPr>
            <a:spLocks/>
          </p:cNvSpPr>
          <p:nvPr/>
        </p:nvSpPr>
        <p:spPr>
          <a:xfrm rot="0">
            <a:off x="611187" y="1844675"/>
            <a:ext cx="2016125" cy="3170237"/>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20000">
                <a:solidFill>
                  <a:srgbClr val="A5A5A5"/>
                </a:solidFill>
                <a:latin typeface="微软雅黑" pitchFamily="34" charset="-122"/>
                <a:ea typeface="微软雅黑" pitchFamily="34" charset="-122"/>
                <a:cs typeface="新細明體" pitchFamily="18" charset="-120"/>
              </a:rPr>
              <a:t>？</a:t>
            </a:r>
            <a:endParaRPr lang="zh-CN" altLang="en-US" sz="20000">
              <a:solidFill>
                <a:srgbClr val="A5A5A5"/>
              </a:solidFill>
              <a:latin typeface="微软雅黑" pitchFamily="34" charset="-122"/>
              <a:ea typeface="微软雅黑" pitchFamily="34" charset="-122"/>
              <a:cs typeface="新細明體" pitchFamily="18" charset="-120"/>
            </a:endParaRPr>
          </a:p>
        </p:txBody>
      </p:sp>
      <p:sp>
        <p:nvSpPr>
          <p:cNvPr id="521" name="矩形"/>
          <p:cNvSpPr>
            <a:spLocks/>
          </p:cNvSpPr>
          <p:nvPr/>
        </p:nvSpPr>
        <p:spPr>
          <a:xfrm rot="0">
            <a:off x="3203575" y="2708275"/>
            <a:ext cx="5545137" cy="1016000"/>
          </a:xfrm>
          <a:prstGeom prst="rect"/>
          <a:noFill/>
          <a:ln w="9525" cmpd="sng" cap="flat">
            <a:noFill/>
            <a:prstDash val="solid"/>
            <a:miter/>
          </a:ln>
        </p:spPr>
        <p:txBody>
          <a:bodyPr vert="horz" wrap="square" lIns="91440" tIns="45720" rIns="91440" bIns="45720" anchor="t" anchorCtr="0">
            <a:prstTxWarp prst="textNoShape"/>
          </a:bodyPr>
          <a:lstStyle/>
          <a:p>
            <a:pPr marL="457200" indent="-457200" algn="l">
              <a:lnSpc>
                <a:spcPct val="150000"/>
              </a:lnSpc>
              <a:spcBef>
                <a:spcPts val="0"/>
              </a:spcBef>
              <a:spcAft>
                <a:spcPts val="0"/>
              </a:spcAft>
              <a:buSzPct val="100000"/>
              <a:buFont typeface="Wingdings" pitchFamily="2" charset="2"/>
              <a:buChar char="n"/>
            </a:pPr>
            <a:r>
              <a:rPr lang="zh-CN" altLang="en-US" sz="2000">
                <a:solidFill>
                  <a:schemeClr val="tx1"/>
                </a:solidFill>
                <a:latin typeface="微软雅黑" pitchFamily="34" charset="-122"/>
                <a:ea typeface="微软雅黑" pitchFamily="34" charset="-122"/>
                <a:cs typeface="新細明體" pitchFamily="18" charset="-120"/>
              </a:rPr>
              <a:t>查看工单工艺的工作生产各状态详细数量</a:t>
            </a:r>
            <a:endParaRPr lang="zh-CN" altLang="en-US" sz="20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n"/>
            </a:pPr>
            <a:endParaRPr lang="zh-CN" altLang="en-US" sz="2000">
              <a:solidFill>
                <a:schemeClr val="tx1"/>
              </a:solidFill>
              <a:latin typeface="微软雅黑" pitchFamily="34" charset="-122"/>
              <a:ea typeface="微软雅黑" pitchFamily="34" charset="-122"/>
              <a:cs typeface="新細明體" pitchFamily="18" charset="-120"/>
            </a:endParaRPr>
          </a:p>
        </p:txBody>
      </p:sp>
    </p:spTree>
    <p:extLst>
      <p:ext uri="{BB962C8B-B14F-4D97-AF65-F5344CB8AC3E}">
        <p14:creationId xmlns:p14="http://schemas.microsoft.com/office/powerpoint/2010/main" val="13375895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21"/>
                                        </p:tgtEl>
                                        <p:attrNameLst>
                                          <p:attrName>style.visibility</p:attrName>
                                        </p:attrNameLst>
                                      </p:cBhvr>
                                      <p:to>
                                        <p:strVal val="visible"/>
                                      </p:to>
                                    </p:set>
                                    <p:animEffect transition="in" filter="dissolve">
                                      <p:cBhvr>
                                        <p:cTn id="7" dur="500"/>
                                        <p:tgtEl>
                                          <p:spTgt spid="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 grpId="0"/>
    </p:bldLst>
  </p:timing>
</p:sld>
</file>

<file path=ppt/slides/slide9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22"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工单工艺数量检核表</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523" name="图片"/>
          <p:cNvPicPr>
            <a:picLocks noChangeAspect="1"/>
          </p:cNvPicPr>
          <p:nvPr/>
        </p:nvPicPr>
        <p:blipFill>
          <a:blip r:embed="rId1" cstate="print"/>
          <a:stretch>
            <a:fillRect/>
          </a:stretch>
        </p:blipFill>
        <p:spPr>
          <a:xfrm rot="0">
            <a:off x="809625" y="1844675"/>
            <a:ext cx="7524750" cy="4000500"/>
          </a:xfrm>
          <a:prstGeom prst="rect"/>
          <a:noFill/>
          <a:ln w="9525" cmpd="sng" cap="flat">
            <a:noFill/>
            <a:prstDash val="solid"/>
            <a:miter/>
          </a:ln>
        </p:spPr>
      </p:pic>
    </p:spTree>
    <p:extLst>
      <p:ext uri="{BB962C8B-B14F-4D97-AF65-F5344CB8AC3E}">
        <p14:creationId xmlns:p14="http://schemas.microsoft.com/office/powerpoint/2010/main" val="159676297"/>
      </p:ext>
    </p:extLst>
  </p:cSld>
  <p:clrMapOvr>
    <a:masterClrMapping/>
  </p:clrMapOvr>
  <p:transition/>
</p:sld>
</file>

<file path=ppt/slides/slide9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24"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工单工艺数量检核表</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pic>
        <p:nvPicPr>
          <p:cNvPr id="525" name="图片"/>
          <p:cNvPicPr>
            <a:picLocks noChangeAspect="1"/>
          </p:cNvPicPr>
          <p:nvPr/>
        </p:nvPicPr>
        <p:blipFill>
          <a:blip r:embed="rId1" cstate="print"/>
          <a:stretch>
            <a:fillRect/>
          </a:stretch>
        </p:blipFill>
        <p:spPr>
          <a:xfrm rot="0">
            <a:off x="827087" y="1700212"/>
            <a:ext cx="7904162" cy="4249737"/>
          </a:xfrm>
          <a:prstGeom prst="rect"/>
          <a:noFill/>
          <a:ln w="9525" cmpd="sng" cap="flat">
            <a:noFill/>
            <a:prstDash val="solid"/>
            <a:miter/>
          </a:ln>
        </p:spPr>
      </p:pic>
    </p:spTree>
    <p:extLst>
      <p:ext uri="{BB962C8B-B14F-4D97-AF65-F5344CB8AC3E}">
        <p14:creationId xmlns:p14="http://schemas.microsoft.com/office/powerpoint/2010/main" val="827588876"/>
      </p:ext>
    </p:extLst>
  </p:cSld>
  <p:clrMapOvr>
    <a:masterClrMapping/>
  </p:clrMapOvr>
  <p:transition/>
</p:sld>
</file>

<file path=ppt/slides/slide9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26" name="矩形"/>
          <p:cNvSpPr>
            <a:spLocks/>
          </p:cNvSpPr>
          <p:nvPr/>
        </p:nvSpPr>
        <p:spPr>
          <a:xfrm rot="0">
            <a:off x="1908175" y="665162"/>
            <a:ext cx="7235824"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3600">
                <a:solidFill>
                  <a:schemeClr val="bg1"/>
                </a:solidFill>
                <a:latin typeface="Microsoft JhengHei" pitchFamily="34" charset="-120"/>
                <a:ea typeface="Microsoft JhengHei" pitchFamily="34" charset="-120"/>
                <a:cs typeface="新細明體" pitchFamily="18" charset="-120"/>
              </a:rPr>
              <a:t>内容大纲</a:t>
            </a:r>
            <a:endParaRPr lang="zh-CN" altLang="en-US" sz="3600">
              <a:solidFill>
                <a:schemeClr val="bg1"/>
              </a:solidFill>
              <a:latin typeface="Microsoft JhengHei" pitchFamily="34" charset="-120"/>
              <a:ea typeface="Microsoft JhengHei" pitchFamily="34" charset="-120"/>
              <a:cs typeface="新細明體" pitchFamily="18" charset="-120"/>
            </a:endParaRPr>
          </a:p>
        </p:txBody>
      </p:sp>
      <p:sp>
        <p:nvSpPr>
          <p:cNvPr id="527" name="矩形"/>
          <p:cNvSpPr>
            <a:spLocks/>
          </p:cNvSpPr>
          <p:nvPr/>
        </p:nvSpPr>
        <p:spPr>
          <a:xfrm rot="0">
            <a:off x="539750" y="1773237"/>
            <a:ext cx="8135937" cy="4751387"/>
          </a:xfrm>
          <a:prstGeom prst="rect"/>
          <a:noFill/>
          <a:ln w="25400" cmpd="sng" cap="flat">
            <a:solidFill>
              <a:srgbClr val="CE3428"/>
            </a:solidFill>
            <a:prstDash val="sysDot"/>
            <a:miter/>
          </a:ln>
        </p:spPr>
      </p:sp>
      <p:pic>
        <p:nvPicPr>
          <p:cNvPr id="528" name="图片" descr="數字價值_P.png"/>
          <p:cNvPicPr>
            <a:picLocks noChangeAspect="1"/>
          </p:cNvPicPr>
          <p:nvPr/>
        </p:nvPicPr>
        <p:blipFill>
          <a:blip r:embed="rId1" cstate="print"/>
          <a:stretch>
            <a:fillRect/>
          </a:stretch>
        </p:blipFill>
        <p:spPr>
          <a:xfrm rot="0">
            <a:off x="4787900" y="4652962"/>
            <a:ext cx="3268662" cy="720725"/>
          </a:xfrm>
          <a:prstGeom prst="rect"/>
          <a:noFill/>
          <a:ln w="9525" cmpd="sng" cap="flat">
            <a:noFill/>
            <a:prstDash val="solid"/>
            <a:miter/>
          </a:ln>
        </p:spPr>
      </p:pic>
      <p:sp>
        <p:nvSpPr>
          <p:cNvPr id="529" name="矩形"/>
          <p:cNvSpPr>
            <a:spLocks/>
          </p:cNvSpPr>
          <p:nvPr/>
        </p:nvSpPr>
        <p:spPr>
          <a:xfrm rot="0">
            <a:off x="1071562" y="1928812"/>
            <a:ext cx="6215062" cy="3108325"/>
          </a:xfrm>
          <a:prstGeom prst="rect"/>
          <a:noFill/>
          <a:ln w="9525" cmpd="sng" cap="flat">
            <a:noFill/>
            <a:prstDash val="solid"/>
            <a:miter/>
          </a:ln>
        </p:spPr>
        <p:txBody>
          <a:bodyPr vert="horz" wrap="square" lIns="91440" tIns="45720" rIns="91440" bIns="45720" anchor="t" anchorCtr="0">
            <a:prstTxWarp prst="textNoShape"/>
          </a:bodyPr>
          <a:lstStyle/>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系统概述</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系统主</a:t>
            </a:r>
            <a:r>
              <a:rPr lang="zh-CN" altLang="en-US" sz="2800">
                <a:solidFill>
                  <a:srgbClr val="0D0D0D"/>
                </a:solidFill>
                <a:latin typeface="黑体" pitchFamily="2" charset="-122"/>
                <a:ea typeface="黑体" pitchFamily="2" charset="-122"/>
                <a:cs typeface="新細明體" pitchFamily="18" charset="-120"/>
              </a:rPr>
              <a:t>作业</a:t>
            </a:r>
            <a:r>
              <a:rPr lang="zh-CN" altLang="en-US" sz="2800">
                <a:solidFill>
                  <a:srgbClr val="0D0D0D"/>
                </a:solidFill>
                <a:latin typeface="黑体" pitchFamily="2" charset="-122"/>
                <a:ea typeface="黑体" pitchFamily="2" charset="-122"/>
                <a:cs typeface="新細明體" pitchFamily="18" charset="-120"/>
              </a:rPr>
              <a:t>流程说明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基础资料准备</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日常单据录入</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管理报表应用说明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538ED5"/>
                </a:solidFill>
                <a:latin typeface="黑体" pitchFamily="2" charset="-122"/>
                <a:ea typeface="黑体" pitchFamily="2" charset="-122"/>
                <a:cs typeface="新細明體" pitchFamily="18" charset="-120"/>
              </a:rPr>
              <a:t>期初开账资料准备说明</a:t>
            </a:r>
            <a:endParaRPr lang="zh-CN" altLang="en-US" sz="2800">
              <a:solidFill>
                <a:srgbClr val="538ED5"/>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实例操作讲解</a:t>
            </a:r>
            <a:endParaRPr lang="zh-CN" altLang="en-US" sz="2800">
              <a:solidFill>
                <a:srgbClr val="0D0D0D"/>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45300851"/>
      </p:ext>
    </p:extLst>
  </p:cSld>
  <p:clrMapOvr>
    <a:masterClrMapping/>
  </p:clrMapOvr>
  <p:transition/>
</p:sld>
</file>

<file path=ppt/slides/slide9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30" name="矩形"/>
          <p:cNvSpPr>
            <a:spLocks/>
          </p:cNvSpPr>
          <p:nvPr/>
        </p:nvSpPr>
        <p:spPr>
          <a:xfrm rot="0">
            <a:off x="0" y="715962"/>
            <a:ext cx="9144000"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ctr">
              <a:lnSpc>
                <a:spcPct val="100000"/>
              </a:lnSpc>
              <a:spcBef>
                <a:spcPts val="0"/>
              </a:spcBef>
              <a:spcAft>
                <a:spcPts val="0"/>
              </a:spcAft>
              <a:buNone/>
            </a:pPr>
            <a:r>
              <a:rPr lang="zh-CN" altLang="en-US" sz="3600" b="1">
                <a:solidFill>
                  <a:schemeClr val="tx1"/>
                </a:solidFill>
                <a:latin typeface="Microsoft JhengHei" pitchFamily="34" charset="-120"/>
                <a:ea typeface="Microsoft JhengHei" pitchFamily="34" charset="-120"/>
                <a:cs typeface="新細明體" pitchFamily="18" charset="-120"/>
              </a:rPr>
              <a:t>期初开帐资料准备</a:t>
            </a:r>
            <a:r>
              <a:rPr lang="zh-CN" altLang="en-US" sz="3600" b="1">
                <a:solidFill>
                  <a:schemeClr val="tx1"/>
                </a:solidFill>
                <a:latin typeface="Microsoft JhengHei" pitchFamily="34" charset="-120"/>
                <a:ea typeface="Microsoft JhengHei" pitchFamily="34" charset="-120"/>
                <a:cs typeface="新細明體" pitchFamily="18" charset="-120"/>
              </a:rPr>
              <a:t>说明</a:t>
            </a:r>
            <a:endParaRPr lang="zh-CN" altLang="en-US" sz="3600" b="1">
              <a:solidFill>
                <a:schemeClr val="tx1"/>
              </a:solidFill>
              <a:latin typeface="Microsoft JhengHei" pitchFamily="34" charset="-120"/>
              <a:ea typeface="Microsoft JhengHei" pitchFamily="34" charset="-120"/>
              <a:cs typeface="新細明體" pitchFamily="18" charset="-120"/>
            </a:endParaRPr>
          </a:p>
        </p:txBody>
      </p:sp>
      <p:sp>
        <p:nvSpPr>
          <p:cNvPr id="531" name="矩形"/>
          <p:cNvSpPr>
            <a:spLocks/>
          </p:cNvSpPr>
          <p:nvPr/>
        </p:nvSpPr>
        <p:spPr>
          <a:xfrm rot="0">
            <a:off x="515937" y="1484312"/>
            <a:ext cx="8135937" cy="5040312"/>
          </a:xfrm>
          <a:prstGeom prst="rect"/>
          <a:noFill/>
          <a:ln w="25400" cmpd="sng" cap="flat">
            <a:solidFill>
              <a:srgbClr val="CE3428"/>
            </a:solidFill>
            <a:prstDash val="sysDot"/>
            <a:miter/>
          </a:ln>
        </p:spPr>
      </p:sp>
      <p:sp>
        <p:nvSpPr>
          <p:cNvPr id="532" name="矩形"/>
          <p:cNvSpPr>
            <a:spLocks/>
          </p:cNvSpPr>
          <p:nvPr/>
        </p:nvSpPr>
        <p:spPr>
          <a:xfrm rot="0">
            <a:off x="571500" y="1643062"/>
            <a:ext cx="8429625" cy="1704975"/>
          </a:xfrm>
          <a:prstGeom prst="rect"/>
          <a:noFill/>
          <a:ln w="9525" cmpd="sng" cap="flat">
            <a:noFill/>
            <a:prstDash val="solid"/>
            <a:miter/>
          </a:ln>
        </p:spPr>
        <p:txBody>
          <a:bodyPr vert="horz" wrap="square" lIns="91440" tIns="45720" rIns="91440" bIns="45720" anchor="t" anchorCtr="0">
            <a:prstTxWarp prst="textNoShape"/>
          </a:bodyPr>
          <a:lstStyle/>
          <a:p>
            <a:pPr marL="457200" indent="-457200" algn="l">
              <a:lnSpc>
                <a:spcPct val="150000"/>
              </a:lnSpc>
              <a:spcBef>
                <a:spcPts val="0"/>
              </a:spcBef>
              <a:spcAft>
                <a:spcPts val="0"/>
              </a:spcAft>
              <a:buSzPct val="100000"/>
              <a:buFont typeface="Wingdings" pitchFamily="2" charset="2"/>
              <a:buChar char="n"/>
            </a:pPr>
            <a:r>
              <a:rPr lang="zh-CN" altLang="en-US" sz="1800">
                <a:solidFill>
                  <a:schemeClr val="tx1"/>
                </a:solidFill>
                <a:latin typeface="微软雅黑" pitchFamily="34" charset="-122"/>
                <a:ea typeface="微软雅黑" pitchFamily="34" charset="-122"/>
                <a:cs typeface="新細明體" pitchFamily="18" charset="-120"/>
              </a:rPr>
              <a:t>企业工艺信息准备</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录入工艺、录入子工艺</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n"/>
            </a:pPr>
            <a:r>
              <a:rPr lang="zh-CN" altLang="en-US" sz="1800">
                <a:solidFill>
                  <a:schemeClr val="tx1"/>
                </a:solidFill>
                <a:latin typeface="微软雅黑" pitchFamily="34" charset="-122"/>
                <a:ea typeface="微软雅黑" pitchFamily="34" charset="-122"/>
                <a:cs typeface="新細明體" pitchFamily="18" charset="-120"/>
              </a:rPr>
              <a:t>研发生产工艺路线信息准备</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录入产品工艺路线</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n"/>
            </a:pPr>
            <a:r>
              <a:rPr lang="zh-CN" altLang="en-US" sz="1800">
                <a:solidFill>
                  <a:schemeClr val="tx1"/>
                </a:solidFill>
                <a:latin typeface="微软雅黑" pitchFamily="34" charset="-122"/>
                <a:ea typeface="微软雅黑" pitchFamily="34" charset="-122"/>
                <a:cs typeface="新細明體" pitchFamily="18" charset="-120"/>
              </a:rPr>
              <a:t>未完工单工艺信息准备</a:t>
            </a:r>
            <a:r>
              <a:rPr lang="zh-CN" altLang="en-US" sz="1800">
                <a:solidFill>
                  <a:schemeClr val="tx1"/>
                </a:solidFill>
                <a:latin typeface="微软雅黑" pitchFamily="34" charset="-122"/>
                <a:ea typeface="微软雅黑" pitchFamily="34" charset="-122"/>
                <a:cs typeface="新細明體" pitchFamily="18" charset="-120"/>
              </a:rPr>
              <a:t>—</a:t>
            </a:r>
            <a:r>
              <a:rPr lang="zh-CN" altLang="en-US" sz="1800">
                <a:solidFill>
                  <a:schemeClr val="tx1"/>
                </a:solidFill>
                <a:latin typeface="微软雅黑" pitchFamily="34" charset="-122"/>
                <a:ea typeface="微软雅黑" pitchFamily="34" charset="-122"/>
                <a:cs typeface="新細明體" pitchFamily="18" charset="-120"/>
              </a:rPr>
              <a:t>未完工单开帐后产生工单工艺</a:t>
            </a:r>
            <a:endParaRPr lang="zh-CN" altLang="en-US" sz="1800">
              <a:solidFill>
                <a:schemeClr val="tx1"/>
              </a:solidFill>
              <a:latin typeface="微软雅黑" pitchFamily="34" charset="-122"/>
              <a:ea typeface="微软雅黑" pitchFamily="34" charset="-122"/>
              <a:cs typeface="新細明體" pitchFamily="18" charset="-120"/>
            </a:endParaRPr>
          </a:p>
          <a:p>
            <a:pPr marL="457200" indent="-457200" algn="l">
              <a:lnSpc>
                <a:spcPct val="150000"/>
              </a:lnSpc>
              <a:spcBef>
                <a:spcPts val="0"/>
              </a:spcBef>
              <a:spcAft>
                <a:spcPts val="0"/>
              </a:spcAft>
              <a:buSzPct val="100000"/>
              <a:buFont typeface="Wingdings" pitchFamily="2" charset="2"/>
              <a:buChar char="n"/>
            </a:pPr>
            <a:endParaRPr lang="zh-CN" altLang="en-US" sz="1800">
              <a:solidFill>
                <a:schemeClr val="tx1"/>
              </a:solidFill>
              <a:latin typeface="微软雅黑" pitchFamily="34" charset="-122"/>
              <a:ea typeface="微软雅黑" pitchFamily="34" charset="-122"/>
              <a:cs typeface="新細明體" pitchFamily="18" charset="-120"/>
            </a:endParaRPr>
          </a:p>
        </p:txBody>
      </p:sp>
    </p:spTree>
    <p:extLst>
      <p:ext uri="{BB962C8B-B14F-4D97-AF65-F5344CB8AC3E}">
        <p14:creationId xmlns:p14="http://schemas.microsoft.com/office/powerpoint/2010/main" val="864185773"/>
      </p:ext>
    </p:extLst>
  </p:cSld>
  <p:clrMapOvr>
    <a:masterClrMapping/>
  </p:clrMapOvr>
  <p:transition/>
</p:sld>
</file>

<file path=ppt/slides/slide9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33" name="矩形"/>
          <p:cNvSpPr>
            <a:spLocks/>
          </p:cNvSpPr>
          <p:nvPr/>
        </p:nvSpPr>
        <p:spPr>
          <a:xfrm rot="0">
            <a:off x="1908175" y="665162"/>
            <a:ext cx="7235824" cy="646112"/>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3600">
                <a:solidFill>
                  <a:schemeClr val="bg1"/>
                </a:solidFill>
                <a:latin typeface="Microsoft JhengHei" pitchFamily="34" charset="-120"/>
                <a:ea typeface="Microsoft JhengHei" pitchFamily="34" charset="-120"/>
                <a:cs typeface="新細明體" pitchFamily="18" charset="-120"/>
              </a:rPr>
              <a:t>内容大纲</a:t>
            </a:r>
            <a:endParaRPr lang="zh-CN" altLang="en-US" sz="3600">
              <a:solidFill>
                <a:schemeClr val="bg1"/>
              </a:solidFill>
              <a:latin typeface="Microsoft JhengHei" pitchFamily="34" charset="-120"/>
              <a:ea typeface="Microsoft JhengHei" pitchFamily="34" charset="-120"/>
              <a:cs typeface="新細明體" pitchFamily="18" charset="-120"/>
            </a:endParaRPr>
          </a:p>
        </p:txBody>
      </p:sp>
      <p:sp>
        <p:nvSpPr>
          <p:cNvPr id="534" name="矩形"/>
          <p:cNvSpPr>
            <a:spLocks/>
          </p:cNvSpPr>
          <p:nvPr/>
        </p:nvSpPr>
        <p:spPr>
          <a:xfrm rot="0">
            <a:off x="539750" y="1773237"/>
            <a:ext cx="8135937" cy="4751387"/>
          </a:xfrm>
          <a:prstGeom prst="rect"/>
          <a:noFill/>
          <a:ln w="25400" cmpd="sng" cap="flat">
            <a:solidFill>
              <a:srgbClr val="CE3428"/>
            </a:solidFill>
            <a:prstDash val="sysDot"/>
            <a:miter/>
          </a:ln>
        </p:spPr>
      </p:sp>
      <p:pic>
        <p:nvPicPr>
          <p:cNvPr id="535" name="图片" descr="數字價值_P.png"/>
          <p:cNvPicPr>
            <a:picLocks noChangeAspect="1"/>
          </p:cNvPicPr>
          <p:nvPr/>
        </p:nvPicPr>
        <p:blipFill>
          <a:blip r:embed="rId1" cstate="print"/>
          <a:stretch>
            <a:fillRect/>
          </a:stretch>
        </p:blipFill>
        <p:spPr>
          <a:xfrm rot="0">
            <a:off x="4787900" y="4652962"/>
            <a:ext cx="3268662" cy="720725"/>
          </a:xfrm>
          <a:prstGeom prst="rect"/>
          <a:noFill/>
          <a:ln w="9525" cmpd="sng" cap="flat">
            <a:noFill/>
            <a:prstDash val="solid"/>
            <a:miter/>
          </a:ln>
        </p:spPr>
      </p:pic>
      <p:sp>
        <p:nvSpPr>
          <p:cNvPr id="536" name="矩形"/>
          <p:cNvSpPr>
            <a:spLocks/>
          </p:cNvSpPr>
          <p:nvPr/>
        </p:nvSpPr>
        <p:spPr>
          <a:xfrm rot="0">
            <a:off x="1071562" y="1928812"/>
            <a:ext cx="6215062" cy="3108325"/>
          </a:xfrm>
          <a:prstGeom prst="rect"/>
          <a:noFill/>
          <a:ln w="9525" cmpd="sng" cap="flat">
            <a:noFill/>
            <a:prstDash val="solid"/>
            <a:miter/>
          </a:ln>
        </p:spPr>
        <p:txBody>
          <a:bodyPr vert="horz" wrap="square" lIns="91440" tIns="45720" rIns="91440" bIns="45720" anchor="t" anchorCtr="0">
            <a:prstTxWarp prst="textNoShape"/>
          </a:bodyPr>
          <a:lstStyle/>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系统概述</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系统主</a:t>
            </a:r>
            <a:r>
              <a:rPr lang="zh-CN" altLang="en-US" sz="2800">
                <a:solidFill>
                  <a:srgbClr val="0D0D0D"/>
                </a:solidFill>
                <a:latin typeface="黑体" pitchFamily="2" charset="-122"/>
                <a:ea typeface="黑体" pitchFamily="2" charset="-122"/>
                <a:cs typeface="新細明體" pitchFamily="18" charset="-120"/>
              </a:rPr>
              <a:t>作业</a:t>
            </a:r>
            <a:r>
              <a:rPr lang="zh-CN" altLang="en-US" sz="2800">
                <a:solidFill>
                  <a:srgbClr val="0D0D0D"/>
                </a:solidFill>
                <a:latin typeface="黑体" pitchFamily="2" charset="-122"/>
                <a:ea typeface="黑体" pitchFamily="2" charset="-122"/>
                <a:cs typeface="新細明體" pitchFamily="18" charset="-120"/>
              </a:rPr>
              <a:t>流程说明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基础资料准备</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日常单据录入</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管理报表应用说明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0D0D0D"/>
                </a:solidFill>
                <a:latin typeface="黑体" pitchFamily="2" charset="-122"/>
                <a:ea typeface="黑体" pitchFamily="2" charset="-122"/>
                <a:cs typeface="新細明體" pitchFamily="18" charset="-120"/>
              </a:rPr>
              <a:t>期初开账资料准备说明</a:t>
            </a:r>
            <a:endParaRPr lang="zh-CN" altLang="en-US" sz="2800">
              <a:solidFill>
                <a:srgbClr val="0D0D0D"/>
              </a:solidFill>
              <a:latin typeface="黑体" pitchFamily="2" charset="-122"/>
              <a:ea typeface="黑体" pitchFamily="2" charset="-122"/>
              <a:cs typeface="新細明體" pitchFamily="18" charset="-120"/>
            </a:endParaRPr>
          </a:p>
          <a:p>
            <a:pPr lvl="1" marL="457200" indent="0" algn="l">
              <a:lnSpc>
                <a:spcPct val="100000"/>
              </a:lnSpc>
              <a:spcBef>
                <a:spcPts val="0"/>
              </a:spcBef>
              <a:spcAft>
                <a:spcPts val="0"/>
              </a:spcAft>
              <a:buSzPct val="100000"/>
              <a:buFont typeface="Wingdings" pitchFamily="2" charset="2"/>
              <a:buChar char="n"/>
            </a:pPr>
            <a:r>
              <a:rPr lang="zh-CN" altLang="en-US" sz="2800">
                <a:solidFill>
                  <a:srgbClr val="538ED5"/>
                </a:solidFill>
                <a:latin typeface="黑体" pitchFamily="2" charset="-122"/>
                <a:ea typeface="黑体" pitchFamily="2" charset="-122"/>
                <a:cs typeface="新細明體" pitchFamily="18" charset="-120"/>
              </a:rPr>
              <a:t>实例操作讲解</a:t>
            </a:r>
            <a:endParaRPr lang="zh-CN" altLang="en-US" sz="2800">
              <a:solidFill>
                <a:srgbClr val="538ED5"/>
              </a:solidFill>
              <a:latin typeface="黑体" pitchFamily="2" charset="-122"/>
              <a:ea typeface="黑体" pitchFamily="2" charset="-122"/>
              <a:cs typeface="新細明體" pitchFamily="18" charset="-120"/>
            </a:endParaRPr>
          </a:p>
        </p:txBody>
      </p:sp>
    </p:spTree>
    <p:extLst>
      <p:ext uri="{BB962C8B-B14F-4D97-AF65-F5344CB8AC3E}">
        <p14:creationId xmlns:p14="http://schemas.microsoft.com/office/powerpoint/2010/main" val="1496402894"/>
      </p:ext>
    </p:extLst>
  </p:cSld>
  <p:clrMapOvr>
    <a:masterClrMapping/>
  </p:clrMapOvr>
  <p:transition/>
</p:sld>
</file>

<file path=ppt/slides/slide9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537" name="图片" descr="钟表"/>
          <p:cNvPicPr>
            <a:picLocks noChangeAspect="1"/>
          </p:cNvPicPr>
          <p:nvPr/>
        </p:nvPicPr>
        <p:blipFill>
          <a:blip r:embed="rId1" cstate="print"/>
          <a:stretch>
            <a:fillRect/>
          </a:stretch>
        </p:blipFill>
        <p:spPr>
          <a:xfrm rot="0">
            <a:off x="2770187" y="1268412"/>
            <a:ext cx="3241675" cy="3168650"/>
          </a:xfrm>
          <a:prstGeom prst="rect"/>
          <a:noFill/>
          <a:ln w="9525" cmpd="sng" cap="flat">
            <a:noFill/>
            <a:prstDash val="solid"/>
            <a:miter/>
          </a:ln>
        </p:spPr>
      </p:pic>
      <p:sp>
        <p:nvSpPr>
          <p:cNvPr id="538" name="矩形"/>
          <p:cNvSpPr>
            <a:spLocks/>
          </p:cNvSpPr>
          <p:nvPr/>
        </p:nvSpPr>
        <p:spPr>
          <a:xfrm rot="0">
            <a:off x="3519487" y="4611687"/>
            <a:ext cx="1916112" cy="923925"/>
          </a:xfrm>
          <a:prstGeom prst="rect"/>
          <a:noFill/>
          <a:ln w="254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5400">
                <a:solidFill>
                  <a:srgbClr val="CC00CC"/>
                </a:solidFill>
                <a:latin typeface="宋体" pitchFamily="2" charset="-122"/>
                <a:ea typeface="宋体" pitchFamily="2" charset="-122"/>
                <a:cs typeface="新細明體" pitchFamily="18" charset="-120"/>
              </a:rPr>
              <a:t>谢谢</a:t>
            </a:r>
            <a:r>
              <a:rPr lang="zh-CN" altLang="en-US" sz="5400">
                <a:solidFill>
                  <a:srgbClr val="CC00CC"/>
                </a:solidFill>
                <a:latin typeface="宋体" pitchFamily="2" charset="-122"/>
                <a:ea typeface="宋体" pitchFamily="2" charset="-122"/>
                <a:cs typeface="新細明體" pitchFamily="18" charset="-120"/>
              </a:rPr>
              <a:t>!</a:t>
            </a:r>
            <a:endParaRPr lang="zh-CN" altLang="en-US" sz="5400">
              <a:solidFill>
                <a:srgbClr val="CC00CC"/>
              </a:solidFill>
              <a:latin typeface="宋体" pitchFamily="2" charset="-122"/>
              <a:ea typeface="宋体" pitchFamily="2" charset="-122"/>
              <a:cs typeface="新細明體" pitchFamily="18" charset="-120"/>
            </a:endParaRPr>
          </a:p>
        </p:txBody>
      </p:sp>
      <p:sp>
        <p:nvSpPr>
          <p:cNvPr id="539" name="矩形"/>
          <p:cNvSpPr>
            <a:spLocks/>
          </p:cNvSpPr>
          <p:nvPr/>
        </p:nvSpPr>
        <p:spPr>
          <a:xfrm rot="0">
            <a:off x="8550276" y="6383337"/>
            <a:ext cx="719137" cy="476250"/>
          </a:xfrm>
          <a:prstGeom prst="rect"/>
          <a:noFill/>
          <a:ln w="9525"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zh-CN" altLang="en-US" sz="1800">
                <a:solidFill>
                  <a:schemeClr val="tx1"/>
                </a:solidFill>
                <a:latin typeface="Arial" pitchFamily="34" charset="0"/>
                <a:ea typeface="PMingLiU" pitchFamily="18" charset="-120"/>
                <a:cs typeface="新細明體" pitchFamily="18" charset="-120"/>
              </a:rPr>
              <a:t>99</a:t>
            </a:r>
            <a:endParaRPr lang="zh-CN" altLang="en-US" sz="1800">
              <a:solidFill>
                <a:schemeClr val="tx1"/>
              </a:solidFill>
              <a:latin typeface="Arial" pitchFamily="34" charset="0"/>
              <a:ea typeface="PMingLiU" pitchFamily="18" charset="-120"/>
              <a:cs typeface="新細明體" pitchFamily="18" charset="-120"/>
            </a:endParaRPr>
          </a:p>
        </p:txBody>
      </p:sp>
    </p:spTree>
    <p:extLst>
      <p:ext uri="{BB962C8B-B14F-4D97-AF65-F5344CB8AC3E}">
        <p14:creationId xmlns:p14="http://schemas.microsoft.com/office/powerpoint/2010/main" val="1627489653"/>
      </p:ext>
    </p:extLst>
  </p:cSld>
  <p:clrMapOvr>
    <a:masterClrMapping/>
  </p:clrMapOvr>
  <p:transition/>
</p:sld>
</file>

<file path=ppt/theme/theme1.xml><?xml version="1.0" encoding="utf-8"?>
<a:theme xmlns:a="http://schemas.openxmlformats.org/drawingml/2006/main" name="Office 佈景主題">
  <a:themeElements>
    <a:clrScheme name="Office 佈景主題">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DAEDEF"/>
      </a:accent5>
      <a:accent6>
        <a:srgbClr val="2D2D8A"/>
      </a:accent6>
      <a:hlink>
        <a:srgbClr val="0000FF"/>
      </a:hlink>
      <a:folHlink>
        <a:srgbClr val="800080"/>
      </a:folHlink>
    </a:clrScheme>
    <a:fontScheme name="Office 佈景主題">
      <a:majorFont>
        <a:latin typeface=""/>
        <a:ea typeface=""/>
        <a:cs typeface=""/>
      </a:majorFont>
      <a:minorFont>
        <a:latin typeface=""/>
        <a:ea typeface=""/>
        <a:cs typeface=""/>
      </a:minorFont>
    </a:fontScheme>
    <a:fmtScheme name="Office 佈景主題">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Office 佈景主題">
  <a:themeElements>
    <a:clrScheme name="Office 佈景主題">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DAEDEF"/>
      </a:accent5>
      <a:accent6>
        <a:srgbClr val="2D2D8A"/>
      </a:accent6>
      <a:hlink>
        <a:srgbClr val="0000FF"/>
      </a:hlink>
      <a:folHlink>
        <a:srgbClr val="800080"/>
      </a:folHlink>
    </a:clrScheme>
    <a:fontScheme name="Office 佈景主題">
      <a:majorFont>
        <a:latin typeface=""/>
        <a:ea typeface=""/>
        <a:cs typeface=""/>
      </a:majorFont>
      <a:minorFont>
        <a:latin typeface=""/>
        <a:ea typeface=""/>
        <a:cs typeface=""/>
      </a:minorFont>
    </a:fontScheme>
    <a:fmtScheme name="Office 佈景主題">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3.xml><?xml version="1.0" encoding="utf-8"?>
<a:theme xmlns:a="http://schemas.openxmlformats.org/drawingml/2006/main" name="Office 佈景主題">
  <a:themeElements>
    <a:clrScheme name="Office 佈景主題">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DAEDEF"/>
      </a:accent5>
      <a:accent6>
        <a:srgbClr val="2D2D8A"/>
      </a:accent6>
      <a:hlink>
        <a:srgbClr val="0000FF"/>
      </a:hlink>
      <a:folHlink>
        <a:srgbClr val="800080"/>
      </a:folHlink>
    </a:clrScheme>
    <a:fontScheme name="Office 佈景主題">
      <a:majorFont>
        <a:latin typeface=""/>
        <a:ea typeface=""/>
        <a:cs typeface=""/>
      </a:majorFont>
      <a:minorFont>
        <a:latin typeface=""/>
        <a:ea typeface=""/>
        <a:cs typeface=""/>
      </a:minorFont>
    </a:fontScheme>
    <a:fmtScheme name="Office 佈景主題">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4.xml><?xml version="1.0" encoding="utf-8"?>
<a:theme xmlns:a="http://schemas.openxmlformats.org/drawingml/2006/main" name="Office 佈景主題">
  <a:themeElements>
    <a:clrScheme name="Office 佈景主題">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DAEDEF"/>
      </a:accent5>
      <a:accent6>
        <a:srgbClr val="2D2D8A"/>
      </a:accent6>
      <a:hlink>
        <a:srgbClr val="0000FF"/>
      </a:hlink>
      <a:folHlink>
        <a:srgbClr val="800080"/>
      </a:folHlink>
    </a:clrScheme>
    <a:fontScheme name="Office 佈景主題">
      <a:majorFont>
        <a:latin typeface=""/>
        <a:ea typeface=""/>
        <a:cs typeface=""/>
      </a:majorFont>
      <a:minorFont>
        <a:latin typeface=""/>
        <a:ea typeface=""/>
        <a:cs typeface=""/>
      </a:minorFont>
    </a:fontScheme>
    <a:fmtScheme name="Office 佈景主題">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5.xml><?xml version="1.0" encoding="utf-8"?>
<a:theme xmlns:a="http://schemas.openxmlformats.org/drawingml/2006/main" name="Office 佈景主題">
  <a:themeElements>
    <a:clrScheme name="Office 佈景主題">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DAEDEF"/>
      </a:accent5>
      <a:accent6>
        <a:srgbClr val="2D2D8A"/>
      </a:accent6>
      <a:hlink>
        <a:srgbClr val="0000FF"/>
      </a:hlink>
      <a:folHlink>
        <a:srgbClr val="800080"/>
      </a:folHlink>
    </a:clrScheme>
    <a:fontScheme name="Office 佈景主題">
      <a:majorFont>
        <a:latin typeface=""/>
        <a:ea typeface=""/>
        <a:cs typeface=""/>
      </a:majorFont>
      <a:minorFont>
        <a:latin typeface=""/>
        <a:ea typeface=""/>
        <a:cs typeface=""/>
      </a:minorFont>
    </a:fontScheme>
    <a:fmtScheme name="Office 佈景主題">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6.xml><?xml version="1.0" encoding="utf-8"?>
<a:theme xmlns:a="http://schemas.openxmlformats.org/drawingml/2006/main" name="notesMaster1">
  <a:themeElements>
    <a:clrScheme name="notesMaster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DAEDEF"/>
      </a:accent5>
      <a:accent6>
        <a:srgbClr val="2D2D8A"/>
      </a:accent6>
      <a:hlink>
        <a:srgbClr val="0000FF"/>
      </a:hlink>
      <a:folHlink>
        <a:srgbClr val="800080"/>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7.xml><?xml version="1.0" encoding="utf-8"?>
<a:theme xmlns:a="http://schemas.openxmlformats.org/drawingml/2006/main" name="handoutMaster1">
  <a:themeElements>
    <a:clrScheme name="handoutMaster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DAEDEF"/>
      </a:accent5>
      <a:accent6>
        <a:srgbClr val="2D2D8A"/>
      </a:accent6>
      <a:hlink>
        <a:srgbClr val="0000FF"/>
      </a:hlink>
      <a:folHlink>
        <a:srgbClr val="800080"/>
      </a:folHlink>
    </a:clrScheme>
    <a:fontScheme name="handoutMaster1">
      <a:majorFont>
        <a:latin typeface=""/>
        <a:ea typeface=""/>
        <a:cs typeface=""/>
      </a:majorFont>
      <a:minorFont>
        <a:latin typeface=""/>
        <a:ea typeface=""/>
        <a:cs typeface=""/>
      </a:minorFont>
    </a:fontScheme>
    <a:fmtScheme name="handout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24878</TotalTime>
  <Application>Yozo_Office</Application>
</Properties>
</file>

<file path=docProps/core.xml><?xml version="1.0" encoding="utf-8"?>
<cp:coreProperties xmlns:cp="http://schemas.openxmlformats.org/package/2006/metadata/core-properties" xmlns:dc="http://purl.org/dc/elements/1.1/" xmlns:dcterms="http://purl.org/dc/terms/" xmlns:xsi="http://www.w3.org/2001/XMLSchema-instance">
  <dc:title>投影片 1</dc:title>
  <dc:creator>eve</dc:creator>
  <cp:lastModifiedBy>admini</cp:lastModifiedBy>
  <cp:revision>1324</cp:revision>
  <dcterms:created xsi:type="dcterms:W3CDTF">2011-03-01T07:14:01Z</dcterms:creat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ContentTypeId">
    <vt:lpwstr>0x0101008B695DD94EA34549A28F1B26416B64AC</vt:lpwstr>
  </property>
</Properties>
</file>